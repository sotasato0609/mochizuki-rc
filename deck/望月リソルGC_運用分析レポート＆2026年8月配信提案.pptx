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お問い合わせ件数</c:v>
                </c:pt>
              </c:strCache>
            </c:strRef>
          </c:tx>
          <c:spPr>
            <a:solidFill>
              <a:srgbClr val="3D6B58"/>
            </a:solidFill>
          </c:spPr>
          <c:dPt>
            <c:idx val="7"/>
            <c:spPr>
              <a:solidFill>
                <a:srgbClr val="A8895C"/>
              </a:solidFill>
            </c:spPr>
          </c:dPt>
          <c:cat>
            <c:strRef>
              <c:f>Sheet1!$A$2:$A$12</c:f>
              <c:strCache>
                <c:ptCount val="11"/>
                <c:pt idx="0">
                  <c:v>25/8</c:v>
                </c:pt>
                <c:pt idx="1">
                  <c:v>25/9</c:v>
                </c:pt>
                <c:pt idx="2">
                  <c:v>25/10</c:v>
                </c:pt>
                <c:pt idx="3">
                  <c:v>25/11</c:v>
                </c:pt>
                <c:pt idx="4">
                  <c:v>25/12</c:v>
                </c:pt>
                <c:pt idx="5">
                  <c:v>26/1</c:v>
                </c:pt>
                <c:pt idx="6">
                  <c:v>26/2</c:v>
                </c:pt>
                <c:pt idx="7">
                  <c:v>26/3</c:v>
                </c:pt>
                <c:pt idx="8">
                  <c:v>26/5</c:v>
                </c:pt>
                <c:pt idx="9">
                  <c:v>26/6</c:v>
                </c:pt>
                <c:pt idx="10">
                  <c:v>26/7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2B2B2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B2B2B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3D6B58"/>
            </a:solidFill>
          </c:spPr>
          <c:dPt>
            <c:idx val="0"/>
            <c:spPr>
              <a:solidFill>
                <a:srgbClr val="A8895C"/>
              </a:solidFill>
            </c:spPr>
          </c:dPt>
          <c:dPt>
            <c:idx val="1"/>
            <c:spPr>
              <a:solidFill>
                <a:srgbClr val="A8895C"/>
              </a:solidFill>
            </c:spPr>
          </c:dPt>
          <c:dPt>
            <c:idx val="2"/>
            <c:spPr>
              <a:solidFill>
                <a:srgbClr val="A8895C"/>
              </a:solidFill>
            </c:spPr>
          </c:dPt>
          <c:cat>
            <c:strRef>
              <c:f>Sheet1!$A$2:$A$6</c:f>
              <c:strCache>
                <c:ptCount val="5"/>
                <c:pt idx="0">
                  <c:v>概ね30km圏
佐久・小諸・軽井沢・御代田</c:v>
                </c:pt>
                <c:pt idx="1">
                  <c:v>概ね40km圏
上田市</c:v>
                </c:pt>
                <c:pt idx="2">
                  <c:v>概ね70km圏
群馬県高崎市</c:v>
                </c:pt>
                <c:pt idx="3">
                  <c:v>概ね90km圏
長野県松本市</c:v>
                </c:pt>
                <c:pt idx="4">
                  <c:v>首都圏
東京・神奈川・千葉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2B2B2B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第1期の成果構成比</c:v>
                </c:pt>
              </c:strCache>
            </c:strRef>
          </c:tx>
          <c:spPr>
            <a:solidFill>
              <a:srgbClr val="1F4E3D"/>
            </a:solidFill>
          </c:spPr>
          <c:cat>
            <c:strRef>
              <c:f>Sheet1!$A$2:$A$5</c:f>
              <c:strCache>
                <c:ptCount val="4"/>
                <c:pt idx="0">
                  <c:v>長野県</c:v>
                </c:pt>
                <c:pt idx="1">
                  <c:v>群馬県</c:v>
                </c:pt>
                <c:pt idx="2">
                  <c:v>東京都</c:v>
                </c:pt>
                <c:pt idx="3">
                  <c:v>神奈川県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5</c:v>
                </c:pt>
                <c:pt idx="2">
                  <c:v>32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2026年7月の集客構成比</c:v>
                </c:pt>
              </c:strCache>
            </c:strRef>
          </c:tx>
          <c:spPr>
            <a:solidFill>
              <a:srgbClr val="C8CFCB"/>
            </a:solidFill>
          </c:spPr>
          <c:cat>
            <c:strRef>
              <c:f>Sheet1!$A$2:$A$5</c:f>
              <c:strCache>
                <c:ptCount val="4"/>
                <c:pt idx="0">
                  <c:v>長野県</c:v>
                </c:pt>
                <c:pt idx="1">
                  <c:v>群馬県</c:v>
                </c:pt>
                <c:pt idx="2">
                  <c:v>東京都</c:v>
                </c:pt>
                <c:pt idx="3">
                  <c:v>神奈川県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16.7</c:v>
                </c:pt>
                <c:pt idx="1">
                  <c:v>2.6</c:v>
                </c:pt>
                <c:pt idx="2">
                  <c:v>35.7</c:v>
                </c:pt>
                <c:pt idx="3">
                  <c:v>13.6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2B2B2B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Google広告</c:v>
                </c:pt>
              </c:strCache>
            </c:strRef>
          </c:tx>
          <c:spPr>
            <a:solidFill>
              <a:srgbClr val="1F4E3D"/>
            </a:solidFill>
          </c:spPr>
          <c:cat>
            <c:strRef>
              <c:f>Sheet1!$A$2:$A$8</c:f>
              <c:strCache>
                <c:ptCount val="7"/>
                <c:pt idx="0">
                  <c:v>2025年9月
3件</c:v>
                </c:pt>
                <c:pt idx="1">
                  <c:v>2025年10月
3件</c:v>
                </c:pt>
                <c:pt idx="2">
                  <c:v>2026年2月
3件</c:v>
                </c:pt>
                <c:pt idx="3">
                  <c:v>2026年3月
5件</c:v>
                </c:pt>
                <c:pt idx="4">
                  <c:v>2026年5月
1件</c:v>
                </c:pt>
                <c:pt idx="5">
                  <c:v>2026年6月
1件</c:v>
                </c:pt>
                <c:pt idx="6">
                  <c:v>2026年7月
0件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</c:v>
                </c:pt>
                <c:pt idx="1">
                  <c:v>40</c:v>
                </c:pt>
                <c:pt idx="2">
                  <c:v>50</c:v>
                </c:pt>
                <c:pt idx="3">
                  <c:v>40</c:v>
                </c:pt>
                <c:pt idx="4">
                  <c:v>17</c:v>
                </c:pt>
                <c:pt idx="5">
                  <c:v>14</c:v>
                </c:pt>
                <c:pt idx="6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Meta広告</c:v>
                </c:pt>
              </c:strCache>
            </c:strRef>
          </c:tx>
          <c:spPr>
            <a:solidFill>
              <a:srgbClr val="A8895C"/>
            </a:solidFill>
          </c:spPr>
          <c:cat>
            <c:strRef>
              <c:f>Sheet1!$A$2:$A$8</c:f>
              <c:strCache>
                <c:ptCount val="7"/>
                <c:pt idx="0">
                  <c:v>2025年9月
3件</c:v>
                </c:pt>
                <c:pt idx="1">
                  <c:v>2025年10月
3件</c:v>
                </c:pt>
                <c:pt idx="2">
                  <c:v>2026年2月
3件</c:v>
                </c:pt>
                <c:pt idx="3">
                  <c:v>2026年3月
5件</c:v>
                </c:pt>
                <c:pt idx="4">
                  <c:v>2026年5月
1件</c:v>
                </c:pt>
                <c:pt idx="5">
                  <c:v>2026年6月
1件</c:v>
                </c:pt>
                <c:pt idx="6">
                  <c:v>2026年7月
0件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</c:v>
                </c:pt>
                <c:pt idx="1">
                  <c:v>40</c:v>
                </c:pt>
                <c:pt idx="2">
                  <c:v>33</c:v>
                </c:pt>
                <c:pt idx="3">
                  <c:v>20</c:v>
                </c:pt>
                <c:pt idx="4">
                  <c:v>33</c:v>
                </c:pt>
                <c:pt idx="5">
                  <c:v>14</c:v>
                </c:pt>
                <c:pt idx="6">
                  <c:v>83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DV360</c:v>
                </c:pt>
              </c:strCache>
            </c:strRef>
          </c:tx>
          <c:spPr>
            <a:solidFill>
              <a:srgbClr val="8FA59A"/>
            </a:solidFill>
          </c:spPr>
          <c:cat>
            <c:strRef>
              <c:f>Sheet1!$A$2:$A$8</c:f>
              <c:strCache>
                <c:ptCount val="7"/>
                <c:pt idx="0">
                  <c:v>2025年9月
3件</c:v>
                </c:pt>
                <c:pt idx="1">
                  <c:v>2025年10月
3件</c:v>
                </c:pt>
                <c:pt idx="2">
                  <c:v>2026年2月
3件</c:v>
                </c:pt>
                <c:pt idx="3">
                  <c:v>2026年3月
5件</c:v>
                </c:pt>
                <c:pt idx="4">
                  <c:v>2026年5月
1件</c:v>
                </c:pt>
                <c:pt idx="5">
                  <c:v>2026年6月
1件</c:v>
                </c:pt>
                <c:pt idx="6">
                  <c:v>2026年7月
0件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33</c:v>
                </c:pt>
                <c:pt idx="1">
                  <c:v>20</c:v>
                </c:pt>
                <c:pt idx="2">
                  <c:v>17</c:v>
                </c:pt>
                <c:pt idx="3">
                  <c:v>40</c:v>
                </c:pt>
                <c:pt idx="4">
                  <c:v>50</c:v>
                </c:pt>
                <c:pt idx="5">
                  <c:v>71</c:v>
                </c:pt>
                <c:pt idx="6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950">
          <a:solidFill>
            <a:srgbClr val="2B2B2B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74519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A8895C"/>
                </a:solidFill>
                <a:latin typeface="Arial"/>
              </a:rPr>
              <a:t>MOCHIZUKI RESOL GOLF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第2期会員募集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4000" b="1">
                <a:solidFill>
                  <a:srgbClr val="FFFFFF"/>
                </a:solidFill>
                <a:latin typeface="Yu Gothic"/>
              </a:rPr>
              <a:t>WEB広告 運用分析レポート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950208"/>
            <a:ext cx="1371600" cy="41148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422452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900" b="0">
                <a:solidFill>
                  <a:srgbClr val="FFFFFF"/>
                </a:solidFill>
                <a:latin typeface="Yu Gothic"/>
              </a:rPr>
              <a:t>および 2026年8月 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150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0">
                <a:solidFill>
                  <a:srgbClr val="A8895C"/>
                </a:solidFill>
                <a:latin typeface="Arial"/>
              </a:rPr>
              <a:t>2026年7月22日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0167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FFFFFF"/>
                </a:solidFill>
                <a:latin typeface="Yu Gothic"/>
              </a:rPr>
              <a:t>ゲンダイエージェンシー株式会社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本レポートについて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成果が伸びていない要因を特定するため、第1期にさかのぼって全データを検証しました。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591056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591056"/>
            <a:ext cx="20823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調査対象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556" y="1591056"/>
            <a:ext cx="19924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期間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4573" y="1591056"/>
            <a:ext cx="630645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1920240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お問い合わせ実データ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7556" y="1920240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2025年8月〜2026年7月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4573" y="1920240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通知メールを1件ずつ精査。スパム・テスト送信を除外し、居住地・種別・意向を分類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25399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2253996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2253996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Google Analytics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7556" y="2253996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2024年10月〜2026年7月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4573" y="2253996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セッション・地域・デバイス・流入元・サイト内行動・遷移先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58775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587752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Google広告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556" y="2587752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2025年6月〜2026年7月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4573" y="2587752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キャンペーン別実績、検索テーマ、エリア設定、アセットグループ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92150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8368" y="2921508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0664" y="2921508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Meta広告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7556" y="2921508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2024年10月〜2026年7月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4573" y="2921508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キャンペーン・広告セット別実績、月別のエリア設定の変遷、オーディエンス別成績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25526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3255264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DV360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7556" y="3255264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2024年11月〜2026年7月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4573" y="3255264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全キャンペーン実績、配信面別データ 9,833行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589020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58368" y="3589020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0664" y="3589020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LINEヤフー広告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7556" y="3589020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2024年10月〜2025年6月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4573" y="3589020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配信実績（表示・クリック・クリック率）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2277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" y="3922776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ご請求データ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7556" y="3922776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2024年9月〜2026年7月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4573" y="3922776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媒体別・月別の費用構成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25653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58368" y="4256532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40664" y="4256532"/>
            <a:ext cx="2082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ランディングページ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7556" y="4256532"/>
            <a:ext cx="199242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2026年7月22日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44573" y="4256532"/>
            <a:ext cx="630645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実機での動作検証、入力導線の確認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459028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" y="5650992"/>
            <a:ext cx="10874959" cy="603504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58368" y="5650992"/>
            <a:ext cx="50292" cy="60350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77824" y="5769864"/>
            <a:ext cx="1049091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推測で数字を埋めていません。確認できなかった項目は「未確認」と明記しています。件数が少ない項目は、断定せず「方向性」として扱っています。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分析で分かったこと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ご予算を30%増やし集客を1.8倍にしたにもかかわらず、お問い合わせは1/3以下に減少しました。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92224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792224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49424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成果の53%は、ゴルフ場から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概ね70km圏内の方でした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2696" y="2779776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第3章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792224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25112" y="1792224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26279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2249424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配信エリアと成果は、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月単位できれいに対応していました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79776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第4章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792224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991856" y="1792224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93024" y="19385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249424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成果が出ていた時期は、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3媒体がバランスしていました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16184" y="2779776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第5章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328416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" y="3328416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9536" y="3474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78561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媒体によって「クリックがサイトに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届く割合」が2.7倍違います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2696" y="4315968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第6章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5112" y="3328416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25112" y="3328416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26279" y="3474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79" y="378561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検索広告のクリックの70%が、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すでに貴クラブをご存知の方でした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15968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第7章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1856" y="3328416"/>
            <a:ext cx="3401568" cy="12984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91856" y="3328416"/>
            <a:ext cx="45720" cy="12984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93024" y="34747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A8895C"/>
                </a:solidFill>
                <a:latin typeface="Arial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3785616"/>
            <a:ext cx="2999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じっくり読まれているのはパソコン。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>
                <a:solidFill>
                  <a:srgbClr val="2B2B2B"/>
                </a:solidFill>
                <a:latin typeface="Yu Gothic"/>
              </a:rPr>
              <a:t>しかし流入の96%はスマートフォン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4315968"/>
            <a:ext cx="603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747474"/>
                </a:solidFill>
                <a:latin typeface="Yu Gothic"/>
              </a:rPr>
              <a:t>第8章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742432"/>
            <a:ext cx="10874959" cy="512064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58368" y="5742432"/>
            <a:ext cx="50292" cy="51206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77824" y="5861304"/>
            <a:ext cx="1049091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原因は「広告の量」ではなく、配信の設計にあります。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第2章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第1期・第2期の比較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2512999" cy="15727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1792224"/>
            <a:ext cx="2220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月あたりご請求額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66544"/>
            <a:ext cx="22203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>
                <a:solidFill>
                  <a:srgbClr val="1F4E3D"/>
                </a:solidFill>
                <a:latin typeface="Arial"/>
              </a:rPr>
              <a:t>+30.0%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43200"/>
            <a:ext cx="22203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¥251,250 → ¥326,667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5687" y="1645920"/>
            <a:ext cx="2512999" cy="15727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91991" y="1792224"/>
            <a:ext cx="2220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月あたりサイト集客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1991" y="2066544"/>
            <a:ext cx="22203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>
                <a:solidFill>
                  <a:srgbClr val="1F4E3D"/>
                </a:solidFill>
                <a:latin typeface="Arial"/>
              </a:rPr>
              <a:t>1.8倍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1991" y="2743200"/>
            <a:ext cx="22203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6,427 → 11,715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1645920"/>
            <a:ext cx="2512999" cy="157276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79311" y="1792224"/>
            <a:ext cx="2220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お問い合わせ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9311" y="2066544"/>
            <a:ext cx="22203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>
                <a:solidFill>
                  <a:srgbClr val="A63A3A"/>
                </a:solidFill>
                <a:latin typeface="Arial"/>
              </a:rPr>
              <a:t>−89%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2743200"/>
            <a:ext cx="22203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19件 → 2件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0327" y="1645920"/>
            <a:ext cx="2512999" cy="157276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66631" y="1792224"/>
            <a:ext cx="2220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獲得単価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6631" y="2066544"/>
            <a:ext cx="222039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900" b="1">
                <a:solidFill>
                  <a:srgbClr val="A63A3A"/>
                </a:solidFill>
                <a:latin typeface="Arial"/>
              </a:rPr>
              <a:t>4.63倍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6631" y="2743200"/>
            <a:ext cx="222039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¥105,789 → ¥490,000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511296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0664" y="3511296"/>
            <a:ext cx="36736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4578884" y="3511296"/>
            <a:ext cx="335377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第1期  2025年8月〜2026年3月（8ヶ月）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7254" y="3511296"/>
            <a:ext cx="335377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第2期  2026年5月〜7月（3ヶ月）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3840480"/>
            <a:ext cx="367362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ご請求額 合計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8884" y="3840480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¥2,010,000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7254" y="3840480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¥980,000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7423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58368" y="4174236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40664" y="4174236"/>
            <a:ext cx="367362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サイトセッション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8884" y="4174236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51,414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7254" y="4174236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31,630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50799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8368" y="4507992"/>
            <a:ext cx="10874959" cy="33375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40664" y="4507992"/>
            <a:ext cx="367362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お問い合わせ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8884" y="4507992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19件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7254" y="4507992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2件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84174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8368" y="4841748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0664" y="4841748"/>
            <a:ext cx="367362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お問い合わせ率（CVR）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8884" y="4841748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0.037%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7254" y="4841748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0.006%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517550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8368" y="5175504"/>
            <a:ext cx="10874959" cy="33375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40664" y="5175504"/>
            <a:ext cx="3673628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獲得単価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8884" y="5175504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¥105,789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7254" y="5175504"/>
            <a:ext cx="3353777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¥490,000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5509260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5760720"/>
            <a:ext cx="10874959" cy="49377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58368" y="5760720"/>
            <a:ext cx="50292" cy="49377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77824" y="5879592"/>
            <a:ext cx="1049091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集客量は増えています。増えた集客が、お問い合わせに結びついていません。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第2章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月次推移 ── 最良月は2026年3月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第1期は月を追うごとに改善していました。2026年1月2件 → 2月3件 → 3月5件。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58368" y="1938528"/>
          <a:ext cx="10874959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58368" y="5001768"/>
            <a:ext cx="10874959" cy="30175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" y="5001768"/>
            <a:ext cx="1775753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81009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2025/8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247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2025/9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5484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2025/10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7722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2025/11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9959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2025/12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2197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4435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672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910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1147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3385" y="5001768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2026/7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303520"/>
            <a:ext cx="1775753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ご請求額（千円）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1009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247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5484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280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7722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959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2197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4435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672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250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8910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1147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03385" y="5303520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60527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5605272"/>
            <a:ext cx="10874959" cy="301752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40664" y="5605272"/>
            <a:ext cx="1775753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獲得単価（千円）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81009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247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05484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7722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9959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2197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4435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672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8910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91147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380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03385" y="5605272"/>
            <a:ext cx="647645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590702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※ 2026年4月はLP刷新期間のため比較から除外。2026年7月は7月21日時点。オレンジは全期間で最良の月。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第2章　成果の全体像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件数だけでなく、見込み度も下がっています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フォーム「会員権について」のご回答内訳です。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5212080" cy="192024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1901952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第1期（19件）｜具体的に検討している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176272"/>
            <a:ext cx="4919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1F4E3D"/>
                </a:solidFill>
                <a:latin typeface="Arial"/>
              </a:rPr>
              <a:t>68%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00400"/>
            <a:ext cx="49194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13件が「具体的に検討している」と回答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755648"/>
            <a:ext cx="5212080" cy="192024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9944" y="1901952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第2期（2件）｜具体的に検討している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176272"/>
            <a:ext cx="4919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A63A3A"/>
                </a:solidFill>
                <a:latin typeface="Arial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200400"/>
            <a:ext cx="49194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「興味がある」1件、来場予定の方からのご連絡1件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968496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3968496"/>
            <a:ext cx="499640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会員権について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1661" y="3968496"/>
            <a:ext cx="26923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第1期（19件）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8642" y="3968496"/>
            <a:ext cx="26923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第2期（2件）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97680"/>
            <a:ext cx="10874959" cy="33832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4297680"/>
            <a:ext cx="499640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具体的に検討している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1661" y="4297680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13件（68%）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8642" y="4297680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0件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63600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8368" y="4636008"/>
            <a:ext cx="10874959" cy="33832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0664" y="4636008"/>
            <a:ext cx="499640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興味がある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1661" y="4636008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7件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8642" y="4636008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7433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4974336"/>
            <a:ext cx="499640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未選択・その他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01661" y="4974336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8642" y="4974336"/>
            <a:ext cx="269238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1266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58368" y="5632704"/>
            <a:ext cx="10874959" cy="603504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5632704"/>
            <a:ext cx="50292" cy="603504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77824" y="5751576"/>
            <a:ext cx="1049091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第1期は7割が「具体的に検討している」でした。第2期の2件は、いずれも購入検討の段階に至っていません。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第3章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誰が申し込んでいるのか ①　入口は「資料請求」です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第1期のお問い合わせ19件を、1件ずつ内容を確認して分類しました。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01368"/>
            <a:ext cx="3703320" cy="214884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1947672"/>
            <a:ext cx="3410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お問い合わせ種別｜資料のご請求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21992"/>
            <a:ext cx="3410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800" b="1">
                <a:solidFill>
                  <a:srgbClr val="1F4E3D"/>
                </a:solidFill>
                <a:latin typeface="Arial"/>
              </a:rPr>
              <a:t>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74720"/>
            <a:ext cx="3410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19件中18件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7448" y="1801368"/>
            <a:ext cx="680587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09744" y="1801368"/>
            <a:ext cx="395475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お問い合わせ種別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9091" y="1801368"/>
            <a:ext cx="117867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2357" y="1801368"/>
            <a:ext cx="117867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比率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7448" y="2130552"/>
            <a:ext cx="6805879" cy="38404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09744" y="2130552"/>
            <a:ext cx="39547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資料のご請求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9091" y="2130552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18件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72357" y="2130552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95%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2514600"/>
            <a:ext cx="680587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727448" y="2514600"/>
            <a:ext cx="6805879" cy="3840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809744" y="2514600"/>
            <a:ext cx="39547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視察プレーのお問い合わせ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9091" y="2514600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2357" y="2514600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7448" y="2898648"/>
            <a:ext cx="680587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09744" y="2898648"/>
            <a:ext cx="395475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その他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9091" y="2898648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2357" y="2898648"/>
            <a:ext cx="117867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3282696"/>
            <a:ext cx="680587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602736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※ 複数選択のため合計は100%を超えます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224528"/>
            <a:ext cx="10874959" cy="102412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" y="4224528"/>
            <a:ext cx="50292" cy="102412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7824" y="4343400"/>
            <a:ext cx="1049091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示唆　視察プレーの直接お申し込みは3件のみでした。大半の方は、まず資料を請求し、そこから検討に入られています。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8月に視察プレーを訴求する場合も、入口は「資料請求」に置いたほうが実際の行動に沿います。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第3章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誰が申し込んでいるのか ②　成果の53%は概ね70km圏内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1737360"/>
          <a:ext cx="69494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927848" y="1737360"/>
            <a:ext cx="3547872" cy="148132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74152" y="1883664"/>
            <a:ext cx="3255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概ね70km圏内の累計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157984"/>
            <a:ext cx="32552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800" b="1">
                <a:solidFill>
                  <a:srgbClr val="A8895C"/>
                </a:solidFill>
                <a:latin typeface="Arial"/>
              </a:rPr>
              <a:t>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743200"/>
            <a:ext cx="32552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19件中10件。佐久市内が2件、隣接町村が5件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7848" y="3364992"/>
            <a:ext cx="3547872" cy="2743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0144" y="3364992"/>
            <a:ext cx="1745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距離帯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0536" y="3364992"/>
            <a:ext cx="6541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39276" y="3364992"/>
            <a:ext cx="65414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累計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639312"/>
            <a:ext cx="1745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概ね30km圏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0536" y="3639312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7件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9276" y="3639312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37%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7848" y="3904487"/>
            <a:ext cx="354787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927848" y="3904487"/>
            <a:ext cx="3547872" cy="26517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010144" y="3904487"/>
            <a:ext cx="1745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概ね40km圏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0536" y="3904487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2件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9276" y="3904487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47%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7848" y="4169663"/>
            <a:ext cx="354787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10144" y="4169663"/>
            <a:ext cx="1745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概ね70km圏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0536" y="4169663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39276" y="4169663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53%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7848" y="4434840"/>
            <a:ext cx="354787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927848" y="4434840"/>
            <a:ext cx="3547872" cy="26517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10144" y="4434840"/>
            <a:ext cx="1745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概ね90km圏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0536" y="4434840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39276" y="4434840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58%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7848" y="4700016"/>
            <a:ext cx="354787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010144" y="4700016"/>
            <a:ext cx="17458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首都圏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0536" y="4700016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8件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9276" y="4700016"/>
            <a:ext cx="65414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7848" y="4965192"/>
            <a:ext cx="354787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58368" y="5687568"/>
            <a:ext cx="10874959" cy="54864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58368" y="5687568"/>
            <a:ext cx="50292" cy="54864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77824" y="5806440"/>
            <a:ext cx="1049091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ゴルフ場のすぐ近くから、着実にお問い合わせが来ています。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第3章　お問い合わせ19件の分析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誰が申し込んでいるのか ③　地元は件数、首都圏は検討度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地元と首都圏では、役割が違います。一律に扱うべきではありません。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5245455" cy="24871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737360"/>
            <a:ext cx="5245455" cy="5029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1938528"/>
            <a:ext cx="473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Yu Gothic"/>
              </a:rPr>
              <a:t>地元（長野・群馬）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225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2B2B2B"/>
                </a:solidFill>
                <a:latin typeface="Arial"/>
              </a:rPr>
              <a:t>11件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7333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747474"/>
                </a:solidFill>
                <a:latin typeface="Yu Gothic"/>
              </a:rPr>
              <a:t>うち「具体的に検討している」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638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1F4E3D"/>
                </a:solidFill>
                <a:latin typeface="Arial"/>
              </a:rPr>
              <a:t>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6"/>
            <a:ext cx="47333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件数が多い。ゴルフ場のすぐ近くから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着実にお問い合わせが来ています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7871" y="1737360"/>
            <a:ext cx="5245455" cy="24871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87871" y="1737360"/>
            <a:ext cx="5245455" cy="50292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43903" y="1938528"/>
            <a:ext cx="4733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Yu Gothic"/>
              </a:rPr>
              <a:t>首都圏（東京・神奈川・千葉）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3225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400" b="1">
                <a:solidFill>
                  <a:srgbClr val="2B2B2B"/>
                </a:solidFill>
                <a:latin typeface="Arial"/>
              </a:rPr>
              <a:t>8件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2926080"/>
            <a:ext cx="47333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747474"/>
                </a:solidFill>
                <a:latin typeface="Yu Gothic"/>
              </a:rPr>
              <a:t>うち「具体的に検討している」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3163824"/>
            <a:ext cx="23774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000" b="1">
                <a:solidFill>
                  <a:srgbClr val="A8895C"/>
                </a:solidFill>
                <a:latin typeface="Arial"/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3903" y="3694176"/>
            <a:ext cx="473339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件数は少ないが、検討度が高い。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「遠い」ことを自覚したうえでご検討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443984"/>
            <a:ext cx="10874959" cy="102412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58368" y="4443984"/>
            <a:ext cx="50292" cy="102412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" y="4562856"/>
            <a:ext cx="1049091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唯一の遠方からの資料請求（神奈川県茅ヶ崎市）は、お問い合わせ本文で「自宅から遠方のため、まずは資料をもとに検討を始めたい」と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述べられていました。地元は件数、首都圏は検討度。別枠に分けて成果を測るべきです。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05332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※ 件数が19件と少ないため、これは断定ではなく方向性としてご理解ください。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第4章　配信エリアの分析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成果を生む地域に、集客が向いていません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09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1700784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36408" y="1700784"/>
            <a:ext cx="3639312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18704" y="1700784"/>
            <a:ext cx="113516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地域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8458" y="1700784"/>
            <a:ext cx="5719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4985" y="1700784"/>
            <a:ext cx="6152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集客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34838" y="1700784"/>
            <a:ext cx="6585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36408" y="2029968"/>
            <a:ext cx="3639312" cy="329184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18704" y="2029968"/>
            <a:ext cx="113516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長野県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8458" y="2029968"/>
            <a:ext cx="5719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4985" y="2029968"/>
            <a:ext cx="6152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16.7%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34838" y="2029968"/>
            <a:ext cx="6585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−36pt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36408" y="2359152"/>
            <a:ext cx="363931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836408" y="2359152"/>
            <a:ext cx="3639312" cy="329184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18704" y="2359152"/>
            <a:ext cx="113516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群馬県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8458" y="2359152"/>
            <a:ext cx="5719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4985" y="2359152"/>
            <a:ext cx="6152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4838" y="2359152"/>
            <a:ext cx="6585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−2pt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36408" y="2688336"/>
            <a:ext cx="363931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918704" y="2688336"/>
            <a:ext cx="113516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東京都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8458" y="2688336"/>
            <a:ext cx="5719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32%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4985" y="2688336"/>
            <a:ext cx="6152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35.7%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34838" y="2688336"/>
            <a:ext cx="6585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+4pt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36408" y="3017520"/>
            <a:ext cx="363931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36408" y="3017520"/>
            <a:ext cx="3639312" cy="329184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918704" y="3017520"/>
            <a:ext cx="113516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神奈川県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18458" y="3017520"/>
            <a:ext cx="57193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4985" y="3017520"/>
            <a:ext cx="6152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13.6%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34838" y="3017520"/>
            <a:ext cx="65858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+9pt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36408" y="3346703"/>
            <a:ext cx="363931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836408" y="3529584"/>
            <a:ext cx="3639312" cy="173736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836408" y="3529584"/>
            <a:ext cx="50292" cy="1737360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55864" y="3648456"/>
            <a:ext cx="3255264" cy="1499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成果の半分以上を生む長野県に、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集客の2割弱しか向けていません。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長野県からの流入は平均滞在5.8秒と、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東京（3.2秒）の1.8倍。集客量は最も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少ないのに、最も読まれています。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第4章　配信エリアの分析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長野からの流入は、最も質が高い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第2期（2026年5月〜7月）の地域別。集客量が最も少ない長野が、最も読まれています。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755648"/>
            <a:ext cx="296887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地域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4126" y="1755648"/>
            <a:ext cx="18629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セッション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01661" y="1755648"/>
            <a:ext cx="16786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構成比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875" y="1755648"/>
            <a:ext cx="186294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エンゲージ率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409" y="1755648"/>
            <a:ext cx="167862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平均滞在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2084832"/>
            <a:ext cx="296887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東京都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4126" y="2084832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10,262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1661" y="2084832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35.7%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875" y="2084832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21.1%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409" y="2084832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3.2秒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8716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2487168"/>
            <a:ext cx="10874959" cy="4023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487168"/>
            <a:ext cx="296887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長野県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4126" y="2487168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4,802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1661" y="2487168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16.7%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4875" y="2487168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25.2%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2409" y="2487168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5.8秒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88950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0664" y="2889504"/>
            <a:ext cx="296887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神奈川県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4126" y="2889504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3,895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01661" y="2889504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13.6%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875" y="2889504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22.9%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72409" y="2889504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2.8秒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291840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58368" y="3291840"/>
            <a:ext cx="10874959" cy="40233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0664" y="3291840"/>
            <a:ext cx="296887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埼玉県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74126" y="3291840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1,918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1661" y="3291840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6.7%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875" y="3291840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22.7%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2409" y="3291840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2.5秒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69417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0664" y="3694176"/>
            <a:ext cx="296887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大阪府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4126" y="3694176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1,360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1661" y="3694176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4.7%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875" y="3694176"/>
            <a:ext cx="18629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24.0%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2409" y="3694176"/>
            <a:ext cx="167862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2.5秒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09651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8368" y="4334256"/>
            <a:ext cx="10874959" cy="109728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58368" y="4334256"/>
            <a:ext cx="50292" cy="10972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77824" y="4453128"/>
            <a:ext cx="10490911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長野県は、集客構成比では4番目の東京の半分以下。しかし平均滞在は東京の1.8倍、エンゲージ率も最も高い水準です。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「量は最も少なく、質は最も高い」地域に、予算が向いていません。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第4章　配信エリアの分析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配信エリアの設定と成果は、月単位で対応していました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Meta広告のエリア設定を月別に調べたところ、成果と明確に対応していました。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6858000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737360"/>
            <a:ext cx="159386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9125" y="1737360"/>
            <a:ext cx="335233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配信エリア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048" y="1737360"/>
            <a:ext cx="141802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お問い合わせ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066544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2025年9月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9125" y="2066544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東京23区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048" y="2066544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382012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58368" y="2382012"/>
            <a:ext cx="6858000" cy="3154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0664" y="2382012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2025年10月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9125" y="2382012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ゴルフ場から半径40km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048" y="2382012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2697480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697480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2025年11月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9125" y="2697480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Meta配信なし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048" y="2697480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012948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58368" y="3012948"/>
            <a:ext cx="6858000" cy="3154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0664" y="3012948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2025年12月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9125" y="3012948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東京23区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048" y="3012948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328415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3328415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2026年1月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99125" y="3328415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半径24km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6048" y="3328415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643883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58368" y="3643883"/>
            <a:ext cx="6858000" cy="3154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0664" y="3643883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2026年2月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99125" y="3643883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半径48〜49km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048" y="3643883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3959351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58368" y="3959351"/>
            <a:ext cx="6858000" cy="31546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40664" y="3959351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2026年3月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99125" y="3959351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半径48〜49km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048" y="3959351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5件（最良）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74819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58368" y="4274819"/>
            <a:ext cx="6858000" cy="31546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0664" y="4274819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2026年6月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99125" y="4274819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半径50km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16048" y="4274819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4590287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0664" y="4590287"/>
            <a:ext cx="1593869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2026年7月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99125" y="4590287"/>
            <a:ext cx="3352331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東京・神奈川・長野の3都県に拡大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16048" y="4590287"/>
            <a:ext cx="1418023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0件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905755"/>
            <a:ext cx="68580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836408" y="1737360"/>
            <a:ext cx="3639312" cy="137160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82712" y="1883664"/>
            <a:ext cx="334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半径24〜50km圏で運用していた月の合計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82712" y="2157984"/>
            <a:ext cx="33467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1F4E3D"/>
                </a:solidFill>
                <a:latin typeface="Arial"/>
              </a:rPr>
              <a:t>12件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36408" y="3255264"/>
            <a:ext cx="3639312" cy="137160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982712" y="3401568"/>
            <a:ext cx="3346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3都県に広げた2026年7月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82712" y="3675888"/>
            <a:ext cx="33467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000" b="1">
                <a:solidFill>
                  <a:srgbClr val="A63A3A"/>
                </a:solidFill>
                <a:latin typeface="Arial"/>
              </a:rPr>
              <a:t>0件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36408" y="4773168"/>
            <a:ext cx="3639312" cy="1170432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7836408" y="4773168"/>
            <a:ext cx="50292" cy="117043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055864" y="4892040"/>
            <a:ext cx="3255264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留保　7月1日にはエリア拡大に加え、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Google広告のP-MAX移行・DV360の停止も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同時に起きています。エリア単独の因果は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統計的には証明できません。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第5章　媒体構成の分析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成果が出ていた時期は、3媒体がバランスしていました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1700784"/>
          <a:ext cx="71323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8110728" y="1700784"/>
            <a:ext cx="3364992" cy="31089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93024" y="1700784"/>
            <a:ext cx="92088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278505" y="1700784"/>
            <a:ext cx="3781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1245" y="1700784"/>
            <a:ext cx="34196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27803" y="1700784"/>
            <a:ext cx="4143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DV360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06727" y="1700784"/>
            <a:ext cx="4866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件数/月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2011680"/>
            <a:ext cx="920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第1期 月平均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8505" y="2011680"/>
            <a:ext cx="3781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38%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1245" y="2011680"/>
            <a:ext cx="34196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27803" y="2011680"/>
            <a:ext cx="4143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28%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06727" y="2011680"/>
            <a:ext cx="486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2.4件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0728" y="2395728"/>
            <a:ext cx="336499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10728" y="2395728"/>
            <a:ext cx="3364992" cy="3840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93024" y="2395728"/>
            <a:ext cx="920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第2期 月平均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8505" y="2395728"/>
            <a:ext cx="3781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16%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1245" y="2395728"/>
            <a:ext cx="34196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27803" y="2395728"/>
            <a:ext cx="41433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42%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6727" y="2395728"/>
            <a:ext cx="4866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0.67件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2779776"/>
            <a:ext cx="336499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110728" y="2852928"/>
            <a:ext cx="3364992" cy="228600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110728" y="2852928"/>
            <a:ext cx="50292" cy="2286000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30184" y="2971800"/>
            <a:ext cx="2980944" cy="2048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Google広告が月¥75,000から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¥40,000へ約半減しました。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そして2026年7月はMeta広告に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83%が集中し、0件でした。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最良月（2026年3月）でさえ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Meta広告は¥40,000です。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※ 構成比は配信費ベース。金額の多寡ではなく、媒体の組み合わせが成果に効いていました。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第6章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新しい評価軸 ── 買ったクリックは、サイトに届いているか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645920"/>
            <a:ext cx="10874959" cy="65836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500" b="1">
                <a:solidFill>
                  <a:srgbClr val="1F4E3D"/>
                </a:solidFill>
                <a:latin typeface="Yu Gothic"/>
              </a:rPr>
              <a:t>サイト到達率　＝　GA4のセッション数　÷　広告のクリック数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50592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747474"/>
                </a:solidFill>
                <a:latin typeface="Yu Gothic"/>
              </a:rPr>
              <a:t>広告レポートの「クリック数」は、そのままサイト訪問数にはなりません。誤タップや、読み込み前の離脱があるためです。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944368"/>
            <a:ext cx="5212080" cy="182880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90672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LINEヤフー広告（2024年10月〜2025年5月）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364992"/>
            <a:ext cx="4919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200" b="1">
                <a:solidFill>
                  <a:srgbClr val="1F4E3D"/>
                </a:solidFill>
                <a:latin typeface="Arial"/>
              </a:rPr>
              <a:t>43.0%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297680"/>
            <a:ext cx="49194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クリック率 0.12%　／　健全な水準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944368"/>
            <a:ext cx="5212080" cy="182880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9944" y="3090672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DV360（2026年5〜6月）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364992"/>
            <a:ext cx="49194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5200" b="1">
                <a:solidFill>
                  <a:srgbClr val="A63A3A"/>
                </a:solidFill>
                <a:latin typeface="Arial"/>
              </a:rPr>
              <a:t>15.9%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297680"/>
            <a:ext cx="49194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クリック率 11.30%　／　誤タップ主体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74336"/>
            <a:ext cx="10874959" cy="93268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4974336"/>
            <a:ext cx="50292" cy="932688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7824" y="5093207"/>
            <a:ext cx="10490911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媒体によって2.7倍の差があります。ディスプレイ広告のクリック率は通常0.1〜0.5%程度です。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DV360の11.30%は、広告を見て興味を持ってクリックされた数値ではありません。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第6章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DV360の配信面を1面ずつ分析しました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2026年5〜6月の全配信面 9,833行を取得し、GA4と突き合わせました。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737360"/>
            <a:ext cx="27797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配信面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4976" y="1737360"/>
            <a:ext cx="14975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表示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7087" y="1737360"/>
            <a:ext cx="13550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6732" y="1737360"/>
            <a:ext cx="13550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377" y="1737360"/>
            <a:ext cx="163998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サイト到達率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0956" y="1737360"/>
            <a:ext cx="126007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平均滞在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2066544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trilltrill.jp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4976" y="2066544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88,947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7087" y="2066544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7,574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6732" y="2066544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377" y="2066544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18.5%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0956" y="2066544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0.0秒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39115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2391156"/>
            <a:ext cx="10874959" cy="324612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" y="2391156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SmartNews（iOSアプリ）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4976" y="2391156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23,728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7087" y="2391156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4,261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6732" y="2391156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18.0%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6377" y="2391156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77.6%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0956" y="2391156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0.9秒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271576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2715768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nlab.itmedia.co.jp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4976" y="2715768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25,312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7087" y="2715768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1,564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6732" y="2715768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6377" y="2715768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12.6%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90956" y="2715768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0.8秒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3040380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58368" y="3040380"/>
            <a:ext cx="10874959" cy="324612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40664" y="3040380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mamastar.jp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4976" y="3040380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23,619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7087" y="3040380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1,206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6732" y="3040380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5.1%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6377" y="3040380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4.1%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0956" y="3040380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0.3秒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336499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0664" y="3364992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ameblo.jp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4976" y="3364992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18,075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7087" y="3364992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926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6732" y="3364992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5.1%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6377" y="3364992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6.5%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0956" y="3364992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0.3秒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68960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58368" y="3689604"/>
            <a:ext cx="10874959" cy="324612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40664" y="3689604"/>
            <a:ext cx="2779720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全体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84976" y="3689604"/>
            <a:ext cx="1497519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672,105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7087" y="3689604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43,723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6732" y="3689604"/>
            <a:ext cx="1355052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6.51%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86377" y="3689604"/>
            <a:ext cx="1639986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15.9%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90956" y="3689604"/>
            <a:ext cx="1260075" cy="3246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401421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58368" y="4279392"/>
            <a:ext cx="5272887" cy="91440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58368" y="4279392"/>
            <a:ext cx="50292" cy="914400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77824" y="4398264"/>
            <a:ext cx="488883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trilltrill.jp　クリックの17%を1面で占めるが、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8割がサイトに到達していない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0439" y="4279392"/>
            <a:ext cx="5272887" cy="914400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260439" y="4279392"/>
            <a:ext cx="50292" cy="914400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479895" y="4398264"/>
            <a:ext cx="488883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SmartNews　到達はするが平均0.9秒で離脱。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誤タップ後に戻られている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5340096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クリック率5%超の配信面が65面あり、これがクリックの61%・配信費の47%を占めています。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一方でMILE mobile（Androidアプリ）は平均滞在28.7秒と良質。面ごとの選別が有効です。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第6章　配信品質の分析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LINEヤフー広告は、最も質の高い到達を実現していました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6675120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1755648"/>
            <a:ext cx="175564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配信月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0903" y="1755648"/>
            <a:ext cx="166420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表示回数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3" y="1755648"/>
            <a:ext cx="12984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3" y="1755648"/>
            <a:ext cx="12984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2084832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2024年10月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0903" y="2084832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1,657,045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3" y="208483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2,944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2743" y="2084832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0.18%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468880"/>
            <a:ext cx="667512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58368" y="2468880"/>
            <a:ext cx="6675120" cy="3840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0664" y="2468880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2024年11月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0903" y="2468880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1,397,408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3" y="2468880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2,544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52743" y="2468880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0.18%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852928"/>
            <a:ext cx="667512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" y="2852928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2025年5月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0903" y="2852928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3,738,868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3" y="2852928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2,772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2743" y="2852928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0.07%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236976"/>
            <a:ext cx="667512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8368" y="3236976"/>
            <a:ext cx="6675120" cy="38404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" y="3236976"/>
            <a:ext cx="175564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合計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60903" y="3236976"/>
            <a:ext cx="1664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6,793,326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3" y="323697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8,260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52743" y="323697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0.12%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3621024"/>
            <a:ext cx="667512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653528" y="1755648"/>
            <a:ext cx="3822191" cy="137160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99832" y="1901952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サイト到達率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99832" y="2176272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200" b="1">
                <a:solidFill>
                  <a:srgbClr val="1F4E3D"/>
                </a:solidFill>
                <a:latin typeface="Arial"/>
              </a:rPr>
              <a:t>43.0%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99832" y="2651760"/>
            <a:ext cx="35295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DV360（15.9%）の2.7倍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53528" y="3273552"/>
            <a:ext cx="3822191" cy="120700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99832" y="3419856"/>
            <a:ext cx="3529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累計表示回数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99832" y="369417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3200" b="1">
                <a:solidFill>
                  <a:srgbClr val="1F4E3D"/>
                </a:solidFill>
                <a:latin typeface="Arial"/>
              </a:rPr>
              <a:t>680万回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3877056"/>
            <a:ext cx="6675120" cy="13167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58368" y="3877056"/>
            <a:ext cx="50292" cy="131673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" y="3995928"/>
            <a:ext cx="6291072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680万回の表示に対しクリック率0.12%、サイト到達率43.0%。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ディスプレイ広告として教科書通りの健全な数値です。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貴クラブ専用アカウントが稼働可能な状態で残っており、開設手続きなしで再開できます。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※ この期間のコンバージョンは0件でしたが、当時コンバージョン計測が設定されていたかは確認できていません。再開時は計測を設定したうえで配信します。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第7章　検索の分析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検索広告のクリックの70%が、すでに貴クラブをご存知の方でした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55648"/>
            <a:ext cx="5120640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1755648"/>
            <a:ext cx="34930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検索テーマ（2026年7月）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1755648"/>
            <a:ext cx="12984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84832"/>
            <a:ext cx="5120640" cy="36576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2084832"/>
            <a:ext cx="3493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望月 リソル ゴルフ クラブ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8264" y="2084832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50592"/>
            <a:ext cx="512064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2450592"/>
            <a:ext cx="5120640" cy="36576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2450592"/>
            <a:ext cx="3493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リソル 望月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50592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816352"/>
            <a:ext cx="512064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2816352"/>
            <a:ext cx="5120640" cy="365760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2816352"/>
            <a:ext cx="3493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望月 東急（旧名称）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2816352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82112"/>
            <a:ext cx="512064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3182112"/>
            <a:ext cx="5120640" cy="365760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" y="3182112"/>
            <a:ext cx="3493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その他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98264" y="3182112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547872"/>
            <a:ext cx="512064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099048" y="1755648"/>
            <a:ext cx="2560320" cy="2212848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45352" y="1901952"/>
            <a:ext cx="2267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クラブ名での検索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2176272"/>
            <a:ext cx="226771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400" b="1">
                <a:solidFill>
                  <a:srgbClr val="A63A3A"/>
                </a:solidFill>
                <a:latin typeface="Arial"/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493008"/>
            <a:ext cx="22677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検索クリックに占める比率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33688" y="1755648"/>
            <a:ext cx="2542032" cy="2212848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79992" y="1901952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「ゴルフ 会員権」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47474"/>
                </a:solidFill>
                <a:latin typeface="Yu Gothic"/>
              </a:rPr>
              <a:t>へのクリック（第1期）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2176272"/>
            <a:ext cx="22494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4400" b="1">
                <a:solidFill>
                  <a:srgbClr val="747474"/>
                </a:solidFill>
                <a:latin typeface="Arial"/>
              </a:rPr>
              <a:t>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3493008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本命の検索には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ほとんど出せていません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224528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Yu Gothic"/>
              </a:rPr>
              <a:t>競合ゴルフ場名への出稿は、成果が出ていません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60857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小諸高原ゴルフクラブ／富士見高原ゴルフコース／千曲高原カントリークラブ／サニーカントリークラブ／日向山高原ゴルフコース／浅間高原カントリー倶楽部／蓼科高原カントリークラブ／佐久リゾートゴルフ倶楽部 ほか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48656"/>
            <a:ext cx="10874959" cy="84124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58368" y="5248656"/>
            <a:ext cx="50292" cy="8412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77824" y="5367528"/>
            <a:ext cx="10490911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これらからのお問い合わせは0件でした。クラブ名での検索は、広告を出さなくても自然検索で到達できます。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その分を、会員権をお探しの方への配信に振り向ける余地があります。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第8章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サイト内行動の分析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Yu Gothic"/>
              </a:rPr>
              <a:t>① じっくり読まれているのはパソコン。しかし流入の96%はスマートフォンです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38528"/>
            <a:ext cx="6766560" cy="30175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938528"/>
            <a:ext cx="16398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デバイス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5080" y="1938528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セッション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8392" y="1938528"/>
            <a:ext cx="91805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構成比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1041" y="1938528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エンゲージ率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353" y="1938528"/>
            <a:ext cx="100827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平均滞在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2240280"/>
            <a:ext cx="16398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スマートフォン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5080" y="2240280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30,377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8392" y="2240280"/>
            <a:ext cx="91805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95.9%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1041" y="2240280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353" y="2240280"/>
            <a:ext cx="100827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2.5秒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42032"/>
            <a:ext cx="67665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2542032"/>
            <a:ext cx="6766560" cy="301752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0664" y="2542032"/>
            <a:ext cx="16398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パソコン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5080" y="2542032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964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98392" y="2542032"/>
            <a:ext cx="91805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1041" y="2542032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47.5%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4353" y="2542032"/>
            <a:ext cx="100827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28.5秒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2843784"/>
            <a:ext cx="67665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0664" y="2843784"/>
            <a:ext cx="16398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タブレット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5080" y="2843784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326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98392" y="2843784"/>
            <a:ext cx="91805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1041" y="2843784"/>
            <a:ext cx="11887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18.7%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4353" y="2843784"/>
            <a:ext cx="100827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5.5秒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145536"/>
            <a:ext cx="67665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744968" y="1938528"/>
            <a:ext cx="3730752" cy="120700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744968" y="1938528"/>
            <a:ext cx="50292" cy="12070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964424" y="2057400"/>
            <a:ext cx="334670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パソコンは流入の3%ですが、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平均滞在はスマートフォンの11.4倍。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「スマートフォンの流入品質が低い」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B2B2B"/>
                </a:solidFill>
                <a:latin typeface="Yu Gothic"/>
              </a:rPr>
              <a:t>ということです。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3101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Yu Gothic"/>
              </a:rPr>
              <a:t>② 会員募集の導線が二重になっています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675887"/>
            <a:ext cx="5212080" cy="30175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40664" y="3675887"/>
            <a:ext cx="17151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期間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20430" y="3675887"/>
            <a:ext cx="188606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LPから公式サイトへの遷移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1084" y="3675887"/>
            <a:ext cx="111706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お問い合わせ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" y="3977639"/>
            <a:ext cx="17151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第1期（8ヶ月）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20430" y="3977639"/>
            <a:ext cx="188606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767件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71084" y="3977639"/>
            <a:ext cx="111706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19件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279392"/>
            <a:ext cx="521208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58368" y="4279392"/>
            <a:ext cx="5212080" cy="301752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0664" y="4279392"/>
            <a:ext cx="17151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第2期（3ヶ月）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20430" y="4279392"/>
            <a:ext cx="188606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84件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71084" y="4279392"/>
            <a:ext cx="111706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4581144"/>
            <a:ext cx="521208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58368" y="4581144"/>
            <a:ext cx="5212080" cy="301752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740664" y="4581144"/>
            <a:ext cx="171517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全期間累計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20430" y="4581144"/>
            <a:ext cx="188606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1,430件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71084" y="4581144"/>
            <a:ext cx="1117067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4882896"/>
            <a:ext cx="521208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190488" y="3675887"/>
            <a:ext cx="52852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LPと公式サイトで同じ会員募集を掲載しており、リンクは一方通行です。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2026年7月の遷移の75%が広告経由でした。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0">
                <a:solidFill>
                  <a:srgbClr val="747474"/>
                </a:solidFill>
                <a:latin typeface="Yu Gothic"/>
              </a:rPr>
              <a:t>ただし公式サイトにもお問い合わせフォームがあり、そちらで成果が発生している可能性があります。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04748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1">
                <a:solidFill>
                  <a:srgbClr val="2B2B2B"/>
                </a:solidFill>
                <a:latin typeface="Yu Gothic"/>
              </a:rPr>
              <a:t>③ 検討中の方への再接触が不足しています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5413248"/>
            <a:ext cx="10874959" cy="301752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40664" y="5413248"/>
            <a:ext cx="31531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Meta広告（直近30日）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58448" y="5413248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予算構成比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93822" y="5413248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クリック率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37035" y="5413248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LP到達率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0249" y="5413248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接触回数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664" y="5715000"/>
            <a:ext cx="31531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興味関心（新規開拓）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58448" y="5715000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91.0%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93822" y="5715000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1.84%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37035" y="5715000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82.3%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80249" y="5715000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1.87回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" y="601675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658368" y="6016752"/>
            <a:ext cx="10874959" cy="301752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40664" y="6016752"/>
            <a:ext cx="315319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リターゲティング（検討層）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8448" y="6016752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9.0%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93822" y="6016752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2.89%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37035" y="6016752"/>
            <a:ext cx="1678621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B2B2B"/>
                </a:solidFill>
                <a:latin typeface="Yu Gothic"/>
              </a:rPr>
              <a:t>85.7%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80249" y="6016752"/>
            <a:ext cx="177078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2.12回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58368" y="631850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第9章・第10章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分析のまとめ ── 3つの課題と打ち手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いずれも「広告を増やす／減らす」ではなく、「向き先を変える」ことで対応できます。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65376"/>
            <a:ext cx="5074920" cy="1316736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45720" cy="1316736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" y="19842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A63A3A"/>
                </a:solidFill>
                <a:latin typeface="Arial"/>
              </a:rPr>
              <a:t>課題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31136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Yu Gothic"/>
              </a:rPr>
              <a:t>配信エリアが広すぎる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560320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成果の53%が概ね70km圏／長野の集客は16.7%／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エリア設定と成果が月次で対応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3" y="2395728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A8895C"/>
                </a:solidFill>
                <a:latin typeface="Yu Gothic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1927" y="1865376"/>
            <a:ext cx="5251399" cy="13167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281927" y="1865376"/>
            <a:ext cx="45720" cy="131673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83096" y="21214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1F4E3D"/>
                </a:solidFill>
                <a:latin typeface="Yu Gothic"/>
              </a:rPr>
              <a:t>配信エリアを半径50〜80km圏へ戻す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48716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東京は停止せず別枠に分離し、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エリア別に成果を測れる状態に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346704"/>
            <a:ext cx="5074920" cy="1316736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3346704"/>
            <a:ext cx="45720" cy="1316736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346557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A63A3A"/>
                </a:solidFill>
                <a:latin typeface="Arial"/>
              </a:rPr>
              <a:t>課題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712464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Yu Gothic"/>
              </a:rPr>
              <a:t>検討中の方への再接触が足りていない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041648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リターゲティングのクリック率は1.57倍なのに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予算9%・接触2.12回／高額・長期検討の商材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15583" y="3877056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A8895C"/>
                </a:solidFill>
                <a:latin typeface="Yu Gothic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7" y="3346704"/>
            <a:ext cx="5251399" cy="13167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81927" y="3346704"/>
            <a:ext cx="45720" cy="131673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83096" y="36027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1F4E3D"/>
                </a:solidFill>
                <a:latin typeface="Yu Gothic"/>
              </a:rPr>
              <a:t>リターゲティングを強化する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968496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比率を9%→20〜25%、接触回数4〜5回へ／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カスタムオーディエンスを拡張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828032"/>
            <a:ext cx="5074920" cy="1316736"/>
          </a:xfrm>
          <a:prstGeom prst="rect">
            <a:avLst/>
          </a:prstGeom>
          <a:solidFill>
            <a:srgbClr val="F6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4828032"/>
            <a:ext cx="45720" cy="1316736"/>
          </a:xfrm>
          <a:prstGeom prst="rect">
            <a:avLst/>
          </a:prstGeom>
          <a:solidFill>
            <a:srgbClr val="A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9536" y="49469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A63A3A"/>
                </a:solidFill>
                <a:latin typeface="Arial"/>
              </a:rPr>
              <a:t>課題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5193792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Yu Gothic"/>
              </a:rPr>
              <a:t>配信面と媒体構成に偏りがある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5522976"/>
            <a:ext cx="4663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DV360の到達率15.9%・65面が配信費の47%／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Google広告が半減し7月はMeta83%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15583" y="5358384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A8895C"/>
                </a:solidFill>
                <a:latin typeface="Yu Gothic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7" y="4828032"/>
            <a:ext cx="5251399" cy="13167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281927" y="4828032"/>
            <a:ext cx="45720" cy="131673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83096" y="50840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1F4E3D"/>
                </a:solidFill>
                <a:latin typeface="Yu Gothic"/>
              </a:rPr>
              <a:t>配信面を整理し、媒体構成を戻す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83096" y="5449824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DV360は65面を除外して再開／Google広告を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第1期水準へ／LINEヤフーを再開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第10章　配信提案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2026年8月 配信プラン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426463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747474"/>
                </a:solidFill>
                <a:latin typeface="Yu Gothic"/>
              </a:rPr>
              <a:t>視察プレー期間（7月11日〜8月30日）の最終月。期間限定オファーの刈り取り月として設計します。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874959" cy="329184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755648"/>
            <a:ext cx="222147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媒体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6730" y="1755648"/>
            <a:ext cx="524994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役割・設定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1267" y="1755648"/>
            <a:ext cx="14873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配信費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3160" y="1755648"/>
            <a:ext cx="125787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構成比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2084832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Meta広告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6730" y="2084832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半径50〜80km（55%）／東京別枠（20%）／リターゲティング（25%）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1267" y="2084832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¥200,000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3160" y="2084832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47.6%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41858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2418588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2418588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Google広告（P-MAX）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6730" y="2418588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半径50〜80km＋東京別枠／クラブ名検索を除外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1267" y="2418588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¥80,000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3160" y="2418588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19.0%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75234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0664" y="2752344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DV360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6730" y="2752344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競合店GEO／クリック率5%超の65面を除外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1267" y="2752344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¥80,000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3160" y="2752344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19.0%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086100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3086100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0664" y="3086100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LINEヤフー広告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6730" y="3086100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長野県東信＋群馬県西部／既存アカウントを再開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267" y="3086100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¥60,000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3160" y="3086100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14.3%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19856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40664" y="3419856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配信費 小計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6730" y="3419856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8541267" y="3419856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¥420,000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3160" y="3419856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1" name="Rectangle 40"/>
          <p:cNvSpPr/>
          <p:nvPr/>
        </p:nvSpPr>
        <p:spPr>
          <a:xfrm>
            <a:off x="658368" y="3753612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" y="3753612"/>
            <a:ext cx="10874959" cy="33375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40664" y="3753612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運用代行費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6730" y="3753612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541267" y="3753612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B2B2B"/>
                </a:solidFill>
                <a:latin typeface="Yu Gothic"/>
              </a:rPr>
              <a:t>¥105,000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3160" y="3753612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47" name="Rectangle 46"/>
          <p:cNvSpPr/>
          <p:nvPr/>
        </p:nvSpPr>
        <p:spPr>
          <a:xfrm>
            <a:off x="658368" y="4087368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58368" y="4087368"/>
            <a:ext cx="10874959" cy="33375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40664" y="4087368"/>
            <a:ext cx="222147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合計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6730" y="4087368"/>
            <a:ext cx="5249944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1" name="TextBox 50"/>
          <p:cNvSpPr txBox="1"/>
          <p:nvPr/>
        </p:nvSpPr>
        <p:spPr>
          <a:xfrm>
            <a:off x="8541267" y="4087368"/>
            <a:ext cx="1487300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¥525,000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3160" y="4087368"/>
            <a:ext cx="1257871" cy="3337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B2B2B"/>
                </a:solidFill>
                <a:latin typeface="Yu Gothic"/>
              </a:rPr>
              <a:t>対7月 +75%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421124"/>
            <a:ext cx="10874959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58368" y="4608576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Yu Gothic"/>
              </a:rPr>
              <a:t>媒体の偏りを是正します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4974336"/>
            <a:ext cx="5212080" cy="29260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40664" y="4974336"/>
            <a:ext cx="14859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</a:p>
        </p:txBody>
      </p:sp>
      <p:sp>
        <p:nvSpPr>
          <p:cNvPr id="57" name="TextBox 56"/>
          <p:cNvSpPr txBox="1"/>
          <p:nvPr/>
        </p:nvSpPr>
        <p:spPr>
          <a:xfrm>
            <a:off x="2391156" y="4974336"/>
            <a:ext cx="7040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Meta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9835" y="4974336"/>
            <a:ext cx="7040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Google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28515" y="4974336"/>
            <a:ext cx="66065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DV360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3762" y="4974336"/>
            <a:ext cx="83439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LINEヤフー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" y="5266944"/>
            <a:ext cx="14859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2026年7月（実績）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91156" y="5266944"/>
            <a:ext cx="7040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83.3%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9835" y="5266944"/>
            <a:ext cx="7040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16.7%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28515" y="5266944"/>
            <a:ext cx="6606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53762" y="5266944"/>
            <a:ext cx="8343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5577840"/>
            <a:ext cx="521208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58368" y="5577840"/>
            <a:ext cx="5212080" cy="31089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40664" y="5577840"/>
            <a:ext cx="14859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2026年8月（提案）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91156" y="5577840"/>
            <a:ext cx="7040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2B2B2B"/>
                </a:solidFill>
                <a:latin typeface="Yu Gothic"/>
              </a:rPr>
              <a:t>47.6%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9835" y="5577840"/>
            <a:ext cx="70408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19.0%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28515" y="5577840"/>
            <a:ext cx="66065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19.0%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53762" y="5577840"/>
            <a:ext cx="83439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Yu Gothic"/>
              </a:rPr>
              <a:t>14.3%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5888736"/>
            <a:ext cx="521208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190488" y="4608576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2B2B2B"/>
                </a:solidFill>
                <a:latin typeface="Yu Gothic"/>
              </a:rPr>
              <a:t>KPI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90488" y="4974336"/>
            <a:ext cx="5285232" cy="27432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272783" y="4974336"/>
            <a:ext cx="152121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指標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58590" y="4974336"/>
            <a:ext cx="133896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目標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2148" y="4974336"/>
            <a:ext cx="193127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Yu Gothic"/>
              </a:rPr>
              <a:t>根拠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90488" y="5248655"/>
            <a:ext cx="5285232" cy="283464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272783" y="5248655"/>
            <a:ext cx="152121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B2B2B"/>
                </a:solidFill>
                <a:latin typeface="Yu Gothic"/>
              </a:rPr>
              <a:t>お問い合わせ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8590" y="5248655"/>
            <a:ext cx="133896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B2B2B"/>
                </a:solidFill>
                <a:latin typeface="Yu Gothic"/>
              </a:rPr>
              <a:t>3〜5件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62148" y="5248655"/>
            <a:ext cx="19312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第1期の月平均2.4件／最良月5件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90488" y="5532119"/>
            <a:ext cx="528523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6190488" y="5532119"/>
            <a:ext cx="5285232" cy="283464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272783" y="5532119"/>
            <a:ext cx="152121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B2B2B"/>
                </a:solidFill>
                <a:latin typeface="Yu Gothic"/>
              </a:rPr>
              <a:t>獲得単価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8590" y="5532119"/>
            <a:ext cx="133896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B2B2B"/>
                </a:solidFill>
                <a:latin typeface="Yu Gothic"/>
              </a:rPr>
              <a:t>¥105,000〜175,000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62148" y="5532119"/>
            <a:ext cx="19312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5件なら第1期平均と同水準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190488" y="5815583"/>
            <a:ext cx="528523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6272783" y="5815583"/>
            <a:ext cx="152121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地元の集客構成比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8590" y="5815583"/>
            <a:ext cx="133896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19% → 40%以上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462148" y="5815583"/>
            <a:ext cx="19312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成果構成比53%に近づける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0488" y="6099047"/>
            <a:ext cx="528523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6190488" y="6099047"/>
            <a:ext cx="5285232" cy="283464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6272783" y="6099047"/>
            <a:ext cx="152121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DV360のサイト到達率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58590" y="6099047"/>
            <a:ext cx="133896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15.9% → 40%以上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62148" y="6099047"/>
            <a:ext cx="1931275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Yu Gothic"/>
              </a:rPr>
              <a:t>配信面の除外による改善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90488" y="6382511"/>
            <a:ext cx="5285232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A8895C"/>
                </a:solidFill>
                <a:latin typeface="Yu Gothic"/>
              </a:rPr>
              <a:t>第12章・第13章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2500" b="1">
                <a:solidFill>
                  <a:srgbClr val="1F4E3D"/>
                </a:solidFill>
                <a:latin typeface="Yu Gothic"/>
              </a:rPr>
              <a:t>スケジュールとご依頼事項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822960" cy="32004"/>
          </a:xfrm>
          <a:prstGeom prst="rect">
            <a:avLst/>
          </a:prstGeom>
          <a:solidFill>
            <a:srgbClr val="A88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58368" y="6455664"/>
            <a:ext cx="10874959" cy="10972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65196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Yu Gothic"/>
              </a:rPr>
              <a:t>望月リソルゴルフクラブ｜運用分析レポート＆2026年8月配信提案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6047" y="65196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747474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09344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Yu Gothic"/>
              </a:rPr>
              <a:t>スケジュール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75104"/>
            <a:ext cx="5852160" cy="310896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0664" y="1975104"/>
            <a:ext cx="12070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期日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2263" y="1975104"/>
            <a:ext cx="43159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286000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7月下旬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3" y="2286000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配信エリアの設定変更／DV360除外リスト作成／クラブ名検索の除外／コンバージョン計測の接続／LPの入力導線最適化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688336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" y="2688336"/>
            <a:ext cx="5852160" cy="40233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2688336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7月末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2263" y="2688336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クリエイティブを視察プレー訴求へ差し替え／LINEヤフー広告の入稿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90672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" y="3090672"/>
            <a:ext cx="5852160" cy="4023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0664" y="3090672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8月1日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2263" y="3090672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配信開始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93008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58368" y="3493008"/>
            <a:ext cx="5852160" cy="40233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0664" y="3493008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8月中旬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2263" y="3493008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中間レポート・配分の見直し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895344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58368" y="3895344"/>
            <a:ext cx="5852160" cy="402336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0664" y="3895344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8月30日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12263" y="3895344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B2B2B"/>
                </a:solidFill>
                <a:latin typeface="Yu Gothic"/>
              </a:rPr>
              <a:t>視察プレー受付終了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297680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58368" y="4297680"/>
            <a:ext cx="5852160" cy="402336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" y="4297680"/>
            <a:ext cx="12070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9月上旬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12263" y="4297680"/>
            <a:ext cx="43159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Yu Gothic"/>
              </a:rPr>
              <a:t>8月実績のご報告・9月以降のご提案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00016"/>
            <a:ext cx="585216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30568" y="1609344"/>
            <a:ext cx="4645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2B2B2B"/>
                </a:solidFill>
                <a:latin typeface="Yu Gothic"/>
              </a:rPr>
              <a:t>ご依頼事項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30568" y="1975104"/>
            <a:ext cx="4645152" cy="3127248"/>
          </a:xfrm>
          <a:prstGeom prst="rect">
            <a:avLst/>
          </a:prstGeom>
          <a:solidFill>
            <a:srgbClr val="E7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830568" y="1975104"/>
            <a:ext cx="50292" cy="3127248"/>
          </a:xfrm>
          <a:prstGeom prst="rect">
            <a:avLst/>
          </a:prstGeom>
          <a:solidFill>
            <a:srgbClr val="1F4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59168" y="2176272"/>
            <a:ext cx="426110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公式サイト経由のお問い合わせ実績を、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月別・「知ったきっかけ」別でご共有ください。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公式サイトのお問い合わせフォームには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「知ったきっかけ」が必須項目としてあり、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「Googleの広告」「Facebook/Instagram等の広告」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が選択肢に含まれています。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LPから公式サイトへ1,430件の遷移が発生して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おり、広告経由のお問い合わせが公式サイト側で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受け付けられている可能性があります。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現時点の集計はLP経由のみです。実際の成果を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50" b="0">
                <a:solidFill>
                  <a:srgbClr val="2B2B2B"/>
                </a:solidFill>
                <a:latin typeface="Yu Gothic"/>
              </a:rPr>
              <a:t>過小評価している可能性があります。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614416"/>
            <a:ext cx="10874959" cy="621792"/>
          </a:xfrm>
          <a:prstGeom prst="rect">
            <a:avLst/>
          </a:prstGeom>
          <a:solidFill>
            <a:srgbClr val="F5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" y="5705856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747474"/>
                </a:solidFill>
                <a:latin typeface="Yu Gothic"/>
              </a:rPr>
              <a:t>本レポートのデータ出典：お問い合わせ通知メールの実データ／Google Analytics 4／Google Ads API／Meta Marketing API／DV360 Bid Manager API／LINEヤフー広告API／弊社基幹システム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