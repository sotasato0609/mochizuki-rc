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件数</c:v>
                </c:pt>
              </c:strCache>
            </c:strRef>
          </c:tx>
          <c:spPr>
            <a:solidFill>
              <a:srgbClr val="405D7B"/>
            </a:solidFill>
          </c:spPr>
          <c:cat>
            <c:strRef>
              <c:f>Sheet1!$A$2:$A$6</c:f>
              <c:strCache>
                <c:ptCount val="5"/>
                <c:pt idx="0">
                  <c:v>概ね30km圏
佐久・小諸・軽井沢・御代田</c:v>
                </c:pt>
                <c:pt idx="1">
                  <c:v>概ね40km圏
上田市</c:v>
                </c:pt>
                <c:pt idx="2">
                  <c:v>概ね70km圏
群馬県高崎市</c:v>
                </c:pt>
                <c:pt idx="3">
                  <c:v>概ね90km圏
長野県松本市</c:v>
                </c:pt>
                <c:pt idx="4">
                  <c:v>首都圏
東京・神奈川・千葉</c:v>
                </c:pt>
              </c:strCache>
            </c:strRef>
          </c:cat>
          <c:val>
            <c:numRef>
              <c:f>Sheet1!$B$2:$B$6</c:f>
              <c:numCache>
                <c:formatCode>General</c:formatCode>
                <c:ptCount val="5"/>
                <c:pt idx="0">
                  <c:v>7</c:v>
                </c:pt>
                <c:pt idx="1">
                  <c:v>2</c:v>
                </c:pt>
                <c:pt idx="2">
                  <c:v>1</c:v>
                </c:pt>
                <c:pt idx="3">
                  <c:v>1</c:v>
                </c:pt>
                <c:pt idx="4">
                  <c:v>8</c:v>
                </c:pt>
              </c:numCache>
            </c:numRef>
          </c:val>
        </c:ser>
        <c:dLbls>
          <c:txPr>
            <a:bodyPr/>
            <a:lstStyle/>
            <a:p>
              <a:pPr>
                <a:defRPr sz="1200" b="1">
                  <a:solidFill>
                    <a:srgbClr val="2A2E33"/>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E2E6EB"/>
            </a:solidFill>
          </a:ln>
        </c:spPr>
        <c:txPr>
          <a:bodyPr/>
          <a:lstStyle/>
          <a:p>
            <a:pPr>
              <a:defRPr sz="950"/>
            </a:pPr>
          </a:p>
        </c:txPr>
        <c:crossAx val="-2113994440"/>
        <c:crosses val="autoZero"/>
        <c:auto val="1"/>
        <c:lblAlgn val="ctr"/>
        <c:lblOffset val="100"/>
        <c:noMultiLvlLbl val="0"/>
      </c:catAx>
      <c:valAx>
        <c:axId val="-2113994440"/>
        <c:scaling/>
        <c:delete val="0"/>
        <c:axPos val="b"/>
        <c:majorGridlines>
          <c:spPr>
            <a:ln w="6350">
              <a:solidFill>
                <a:srgbClr val="E2E6EB"/>
              </a:solidFill>
            </a:ln>
          </c:spPr>
        </c:majorGridlines>
        <c:majorTickMark val="out"/>
        <c:minorTickMark val="none"/>
        <c:tickLblPos val="nextTo"/>
        <c:spPr>
          <a:ln>
            <a:noFill/>
          </a:ln>
        </c:spPr>
        <c:txPr>
          <a:bodyPr/>
          <a:lstStyle/>
          <a:p>
            <a:pPr>
              <a:defRPr sz="950"/>
            </a:pPr>
          </a:p>
        </c:txPr>
        <c:crossAx val="-2068027336"/>
        <c:crosses val="autoZero"/>
      </c:valAx>
    </c:plotArea>
    <c:dispBlanksAs val="gap"/>
  </c:chart>
  <c:txPr>
    <a:bodyPr/>
    <a:lstStyle/>
    <a:p>
      <a:pPr>
        <a:defRPr sz="1000">
          <a:solidFill>
            <a:srgbClr val="454B52"/>
          </a:solidFill>
          <a:latin typeface="Meiryo"/>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001000" y="0"/>
            <a:ext cx="4187952" cy="685800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001000" y="0"/>
            <a:ext cx="54864" cy="685800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822960"/>
            <a:ext cx="5303520" cy="365760"/>
          </a:xfrm>
          <a:prstGeom prst="rect">
            <a:avLst/>
          </a:prstGeom>
          <a:noFill/>
        </p:spPr>
        <p:txBody>
          <a:bodyPr wrap="square" lIns="0" rIns="0" tIns="0" bIns="0" anchor="t">
            <a:spAutoFit/>
          </a:bodyPr>
          <a:lstStyle/>
          <a:p>
            <a:pPr algn="l">
              <a:lnSpc>
                <a:spcPct val="140000"/>
              </a:lnSpc>
              <a:spcAft>
                <a:spcPts val="300"/>
              </a:spcAft>
              <a:defRPr sz="1300" b="1">
                <a:solidFill>
                  <a:srgbClr val="405D7B"/>
                </a:solidFill>
                <a:latin typeface="Meiryo"/>
              </a:defRPr>
            </a:pPr>
            <a:r>
              <a:rPr sz="1300" b="1">
                <a:solidFill>
                  <a:srgbClr val="405D7B"/>
                </a:solidFill>
                <a:latin typeface="Meiryo"/>
              </a:rPr>
              <a:t>望月リソルゴルフクラブ 第2期会員募集</a:t>
            </a:r>
          </a:p>
        </p:txBody>
      </p:sp>
      <p:sp>
        <p:nvSpPr>
          <p:cNvPr id="5" name="Rectangle 4"/>
          <p:cNvSpPr/>
          <p:nvPr/>
        </p:nvSpPr>
        <p:spPr>
          <a:xfrm>
            <a:off x="868680" y="1417320"/>
            <a:ext cx="6309360" cy="18288"/>
          </a:xfrm>
          <a:prstGeom prst="rect">
            <a:avLst/>
          </a:prstGeom>
          <a:solidFill>
            <a:srgbClr val="D6D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2377440"/>
            <a:ext cx="6766560" cy="1371600"/>
          </a:xfrm>
          <a:prstGeom prst="rect">
            <a:avLst/>
          </a:prstGeom>
          <a:noFill/>
        </p:spPr>
        <p:txBody>
          <a:bodyPr wrap="square" lIns="0" rIns="0" tIns="0" bIns="0" anchor="t">
            <a:spAutoFit/>
          </a:bodyPr>
          <a:lstStyle/>
          <a:p>
            <a:pPr algn="l">
              <a:lnSpc>
                <a:spcPct val="120000"/>
              </a:lnSpc>
              <a:spcAft>
                <a:spcPts val="300"/>
              </a:spcAft>
              <a:defRPr sz="3300" b="1">
                <a:solidFill>
                  <a:srgbClr val="2A2E33"/>
                </a:solidFill>
                <a:latin typeface="Meiryo"/>
              </a:defRPr>
            </a:pPr>
            <a:r>
              <a:rPr sz="3300" b="1">
                <a:solidFill>
                  <a:srgbClr val="2A2E33"/>
                </a:solidFill>
                <a:latin typeface="Meiryo"/>
              </a:rPr>
              <a:t>2026年8月</a:t>
            </a:r>
          </a:p>
          <a:p>
            <a:pPr algn="l">
              <a:lnSpc>
                <a:spcPct val="120000"/>
              </a:lnSpc>
              <a:spcAft>
                <a:spcPts val="300"/>
              </a:spcAft>
              <a:defRPr sz="3300" b="1">
                <a:solidFill>
                  <a:srgbClr val="2A2E33"/>
                </a:solidFill>
                <a:latin typeface="Meiryo"/>
              </a:defRPr>
            </a:pPr>
            <a:r>
              <a:rPr sz="3300" b="1">
                <a:solidFill>
                  <a:srgbClr val="2A2E33"/>
                </a:solidFill>
                <a:latin typeface="Meiryo"/>
              </a:rPr>
              <a:t>WEB広告 配信提案</a:t>
            </a:r>
          </a:p>
        </p:txBody>
      </p:sp>
      <p:sp>
        <p:nvSpPr>
          <p:cNvPr id="7" name="TextBox 6"/>
          <p:cNvSpPr txBox="1"/>
          <p:nvPr/>
        </p:nvSpPr>
        <p:spPr>
          <a:xfrm>
            <a:off x="8366760" y="2788920"/>
            <a:ext cx="3291840" cy="1463040"/>
          </a:xfrm>
          <a:prstGeom prst="rect">
            <a:avLst/>
          </a:prstGeom>
          <a:noFill/>
        </p:spPr>
        <p:txBody>
          <a:bodyPr wrap="square" lIns="0" rIns="0" tIns="0" bIns="0" anchor="t">
            <a:spAutoFit/>
          </a:bodyPr>
          <a:lstStyle/>
          <a:p>
            <a:pPr algn="l">
              <a:lnSpc>
                <a:spcPct val="135000"/>
              </a:lnSpc>
              <a:spcAft>
                <a:spcPts val="300"/>
              </a:spcAft>
              <a:defRPr sz="2200" b="1">
                <a:solidFill>
                  <a:srgbClr val="FFFFFF"/>
                </a:solidFill>
                <a:latin typeface="Meiryo"/>
              </a:defRPr>
            </a:pPr>
            <a:r>
              <a:rPr sz="2200" b="1">
                <a:solidFill>
                  <a:srgbClr val="FFFFFF"/>
                </a:solidFill>
                <a:latin typeface="Meiryo"/>
              </a:rPr>
              <a:t>Mochizuki Resol</a:t>
            </a:r>
          </a:p>
          <a:p>
            <a:pPr algn="l">
              <a:lnSpc>
                <a:spcPct val="135000"/>
              </a:lnSpc>
              <a:spcAft>
                <a:spcPts val="300"/>
              </a:spcAft>
              <a:defRPr sz="2200" b="1">
                <a:solidFill>
                  <a:srgbClr val="FFFFFF"/>
                </a:solidFill>
                <a:latin typeface="Meiryo"/>
              </a:defRPr>
            </a:pPr>
            <a:r>
              <a:rPr sz="2200" b="1">
                <a:solidFill>
                  <a:srgbClr val="FFFFFF"/>
                </a:solidFill>
                <a:latin typeface="Meiryo"/>
              </a:rPr>
              <a:t>Golf Club</a:t>
            </a:r>
          </a:p>
          <a:p>
            <a:pPr algn="l">
              <a:lnSpc>
                <a:spcPct val="135000"/>
              </a:lnSpc>
              <a:spcAft>
                <a:spcPts val="300"/>
              </a:spcAft>
              <a:defRPr sz="2200" b="1">
                <a:solidFill>
                  <a:srgbClr val="FFFFFF"/>
                </a:solidFill>
                <a:latin typeface="Meiryo"/>
              </a:defRPr>
            </a:pPr>
          </a:p>
          <a:p>
            <a:pPr algn="l">
              <a:lnSpc>
                <a:spcPct val="135000"/>
              </a:lnSpc>
              <a:spcAft>
                <a:spcPts val="300"/>
              </a:spcAft>
              <a:defRPr sz="2200" b="1">
                <a:solidFill>
                  <a:srgbClr val="FFFFFF"/>
                </a:solidFill>
                <a:latin typeface="Meiryo"/>
              </a:defRPr>
            </a:pPr>
            <a:r>
              <a:rPr sz="2200" b="1">
                <a:solidFill>
                  <a:srgbClr val="FFFFFF"/>
                </a:solidFill>
                <a:latin typeface="Meiryo"/>
              </a:rPr>
              <a:t>8月 配信提案</a:t>
            </a:r>
          </a:p>
        </p:txBody>
      </p:sp>
      <p:sp>
        <p:nvSpPr>
          <p:cNvPr id="8" name="TextBox 7"/>
          <p:cNvSpPr txBox="1"/>
          <p:nvPr/>
        </p:nvSpPr>
        <p:spPr>
          <a:xfrm>
            <a:off x="841248" y="4041648"/>
            <a:ext cx="6400800" cy="548640"/>
          </a:xfrm>
          <a:prstGeom prst="rect">
            <a:avLst/>
          </a:prstGeom>
          <a:noFill/>
        </p:spPr>
        <p:txBody>
          <a:bodyPr wrap="square" lIns="0" rIns="0" tIns="0" bIns="0" anchor="t">
            <a:spAutoFit/>
          </a:bodyPr>
          <a:lstStyle/>
          <a:p>
            <a:pPr algn="l">
              <a:lnSpc>
                <a:spcPct val="140000"/>
              </a:lnSpc>
              <a:spcAft>
                <a:spcPts val="300"/>
              </a:spcAft>
              <a:defRPr sz="1500" b="0">
                <a:solidFill>
                  <a:srgbClr val="454B52"/>
                </a:solidFill>
                <a:latin typeface="Meiryo"/>
              </a:defRPr>
            </a:pPr>
            <a:r>
              <a:rPr sz="1500" b="0">
                <a:solidFill>
                  <a:srgbClr val="454B52"/>
                </a:solidFill>
                <a:latin typeface="Meiryo"/>
              </a:rPr>
              <a:t>視察プレー期間 最終月の刈り取りプラン</a:t>
            </a:r>
          </a:p>
        </p:txBody>
      </p:sp>
      <p:sp>
        <p:nvSpPr>
          <p:cNvPr id="9" name="Rectangle 8"/>
          <p:cNvSpPr/>
          <p:nvPr/>
        </p:nvSpPr>
        <p:spPr>
          <a:xfrm>
            <a:off x="868680" y="5440680"/>
            <a:ext cx="2103120" cy="36576"/>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5669280"/>
            <a:ext cx="6400800" cy="822960"/>
          </a:xfrm>
          <a:prstGeom prst="rect">
            <a:avLst/>
          </a:prstGeom>
          <a:noFill/>
        </p:spPr>
        <p:txBody>
          <a:bodyPr wrap="square" lIns="0" rIns="0" tIns="0" bIns="0" anchor="t">
            <a:spAutoFit/>
          </a:bodyPr>
          <a:lstStyle/>
          <a:p>
            <a:pPr algn="l">
              <a:lnSpc>
                <a:spcPct val="140000"/>
              </a:lnSpc>
              <a:spcAft>
                <a:spcPts val="300"/>
              </a:spcAft>
              <a:defRPr sz="1150" b="0">
                <a:solidFill>
                  <a:srgbClr val="6C7582"/>
                </a:solidFill>
                <a:latin typeface="Meiryo"/>
              </a:defRPr>
            </a:pPr>
            <a:r>
              <a:rPr sz="1150" b="0">
                <a:solidFill>
                  <a:srgbClr val="6C7582"/>
                </a:solidFill>
                <a:latin typeface="Meiryo"/>
              </a:rPr>
              <a:t>2026年7月 ／ ゲンダイエージェンシー株式会社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サマリー</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ご提案の要旨</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02</a:t>
            </a:r>
          </a:p>
        </p:txBody>
      </p:sp>
      <p:sp>
        <p:nvSpPr>
          <p:cNvPr id="8" name="Rectangle 7"/>
          <p:cNvSpPr/>
          <p:nvPr/>
        </p:nvSpPr>
        <p:spPr>
          <a:xfrm>
            <a:off x="566928" y="1737360"/>
            <a:ext cx="11064240" cy="93268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737360"/>
            <a:ext cx="1106424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1920240"/>
            <a:ext cx="10643615"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結論</a:t>
            </a:r>
          </a:p>
        </p:txBody>
      </p:sp>
      <p:sp>
        <p:nvSpPr>
          <p:cNvPr id="11" name="TextBox 10"/>
          <p:cNvSpPr txBox="1"/>
          <p:nvPr/>
        </p:nvSpPr>
        <p:spPr>
          <a:xfrm>
            <a:off x="777240" y="2157984"/>
            <a:ext cx="10643615"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「予算を増やす」提案ではなく、「予算の向き先を変える」提案です</a:t>
            </a:r>
          </a:p>
        </p:txBody>
      </p:sp>
      <p:sp>
        <p:nvSpPr>
          <p:cNvPr id="12" name="TextBox 11"/>
          <p:cNvSpPr txBox="1"/>
          <p:nvPr/>
        </p:nvSpPr>
        <p:spPr>
          <a:xfrm>
            <a:off x="804672" y="2596896"/>
            <a:ext cx="10588752" cy="-91439"/>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成果の53%を生んでいる地元に配信を戻し、視察プレーが終わる8月30日までに刈り取ります。</a:t>
            </a:r>
          </a:p>
        </p:txBody>
      </p:sp>
      <p:sp>
        <p:nvSpPr>
          <p:cNvPr id="13" name="TextBox 12"/>
          <p:cNvSpPr txBox="1"/>
          <p:nvPr/>
        </p:nvSpPr>
        <p:spPr>
          <a:xfrm>
            <a:off x="566928" y="2907791"/>
            <a:ext cx="11064240" cy="274320"/>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なぜ、いま8月なのか</a:t>
            </a:r>
          </a:p>
        </p:txBody>
      </p:sp>
      <p:sp>
        <p:nvSpPr>
          <p:cNvPr id="14" name="Rectangle 13"/>
          <p:cNvSpPr/>
          <p:nvPr/>
        </p:nvSpPr>
        <p:spPr>
          <a:xfrm>
            <a:off x="566928" y="3236976"/>
            <a:ext cx="3566160" cy="12984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236976"/>
            <a:ext cx="356616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8096" y="3438144"/>
            <a:ext cx="316382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視察プレー受付 終了</a:t>
            </a:r>
          </a:p>
        </p:txBody>
      </p:sp>
      <p:sp>
        <p:nvSpPr>
          <p:cNvPr id="17" name="TextBox 16"/>
          <p:cNvSpPr txBox="1"/>
          <p:nvPr/>
        </p:nvSpPr>
        <p:spPr>
          <a:xfrm>
            <a:off x="768096" y="3730752"/>
            <a:ext cx="3163824" cy="548640"/>
          </a:xfrm>
          <a:prstGeom prst="rect">
            <a:avLst/>
          </a:prstGeom>
          <a:noFill/>
        </p:spPr>
        <p:txBody>
          <a:bodyPr wrap="square" lIns="0" rIns="0" tIns="0" bIns="0" anchor="t">
            <a:spAutoFit/>
          </a:bodyPr>
          <a:lstStyle/>
          <a:p>
            <a:pPr algn="l">
              <a:lnSpc>
                <a:spcPct val="110000"/>
              </a:lnSpc>
              <a:spcAft>
                <a:spcPts val="300"/>
              </a:spcAft>
              <a:defRPr sz="2500" b="1">
                <a:solidFill>
                  <a:srgbClr val="405D7B"/>
                </a:solidFill>
                <a:latin typeface="Meiryo"/>
              </a:defRPr>
            </a:pPr>
            <a:r>
              <a:rPr sz="2500" b="1">
                <a:solidFill>
                  <a:srgbClr val="405D7B"/>
                </a:solidFill>
                <a:latin typeface="Meiryo"/>
              </a:rPr>
              <a:t>8月30日</a:t>
            </a:r>
          </a:p>
        </p:txBody>
      </p:sp>
      <p:sp>
        <p:nvSpPr>
          <p:cNvPr id="18" name="TextBox 17"/>
          <p:cNvSpPr txBox="1"/>
          <p:nvPr/>
        </p:nvSpPr>
        <p:spPr>
          <a:xfrm>
            <a:off x="768096" y="4023360"/>
            <a:ext cx="316382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残り40日。訴求できる最後の月です</a:t>
            </a:r>
          </a:p>
        </p:txBody>
      </p:sp>
      <p:sp>
        <p:nvSpPr>
          <p:cNvPr id="19" name="Rectangle 18"/>
          <p:cNvSpPr/>
          <p:nvPr/>
        </p:nvSpPr>
        <p:spPr>
          <a:xfrm>
            <a:off x="4315968" y="3236976"/>
            <a:ext cx="3566160" cy="12984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315968" y="3236976"/>
            <a:ext cx="356616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17136" y="3438144"/>
            <a:ext cx="316382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プレー後15分の商談</a:t>
            </a:r>
          </a:p>
        </p:txBody>
      </p:sp>
      <p:sp>
        <p:nvSpPr>
          <p:cNvPr id="22" name="TextBox 21"/>
          <p:cNvSpPr txBox="1"/>
          <p:nvPr/>
        </p:nvSpPr>
        <p:spPr>
          <a:xfrm>
            <a:off x="4517136" y="3730752"/>
            <a:ext cx="3163824" cy="548640"/>
          </a:xfrm>
          <a:prstGeom prst="rect">
            <a:avLst/>
          </a:prstGeom>
          <a:noFill/>
        </p:spPr>
        <p:txBody>
          <a:bodyPr wrap="square" lIns="0" rIns="0" tIns="0" bIns="0" anchor="t">
            <a:spAutoFit/>
          </a:bodyPr>
          <a:lstStyle/>
          <a:p>
            <a:pPr algn="l">
              <a:lnSpc>
                <a:spcPct val="110000"/>
              </a:lnSpc>
              <a:spcAft>
                <a:spcPts val="300"/>
              </a:spcAft>
              <a:defRPr sz="2500" b="1">
                <a:solidFill>
                  <a:srgbClr val="405D7B"/>
                </a:solidFill>
                <a:latin typeface="Meiryo"/>
              </a:defRPr>
            </a:pPr>
            <a:r>
              <a:rPr sz="2500" b="1">
                <a:solidFill>
                  <a:srgbClr val="405D7B"/>
                </a:solidFill>
                <a:latin typeface="Meiryo"/>
              </a:rPr>
              <a:t>最終導線</a:t>
            </a:r>
          </a:p>
        </p:txBody>
      </p:sp>
      <p:sp>
        <p:nvSpPr>
          <p:cNvPr id="23" name="TextBox 22"/>
          <p:cNvSpPr txBox="1"/>
          <p:nvPr/>
        </p:nvSpPr>
        <p:spPr>
          <a:xfrm>
            <a:off x="4517136" y="4023360"/>
            <a:ext cx="316382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会員獲得に直結する導線です</a:t>
            </a:r>
          </a:p>
        </p:txBody>
      </p:sp>
      <p:sp>
        <p:nvSpPr>
          <p:cNvPr id="24" name="Rectangle 23"/>
          <p:cNvSpPr/>
          <p:nvPr/>
        </p:nvSpPr>
        <p:spPr>
          <a:xfrm>
            <a:off x="8065007" y="3236976"/>
            <a:ext cx="3566160" cy="12984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065007" y="3236976"/>
            <a:ext cx="356616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66175" y="3438144"/>
            <a:ext cx="316382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逃すと次シーズンまで</a:t>
            </a:r>
          </a:p>
        </p:txBody>
      </p:sp>
      <p:sp>
        <p:nvSpPr>
          <p:cNvPr id="27" name="TextBox 26"/>
          <p:cNvSpPr txBox="1"/>
          <p:nvPr/>
        </p:nvSpPr>
        <p:spPr>
          <a:xfrm>
            <a:off x="8266175" y="3730752"/>
            <a:ext cx="3163824" cy="548640"/>
          </a:xfrm>
          <a:prstGeom prst="rect">
            <a:avLst/>
          </a:prstGeom>
          <a:noFill/>
        </p:spPr>
        <p:txBody>
          <a:bodyPr wrap="square" lIns="0" rIns="0" tIns="0" bIns="0" anchor="t">
            <a:spAutoFit/>
          </a:bodyPr>
          <a:lstStyle/>
          <a:p>
            <a:pPr algn="l">
              <a:lnSpc>
                <a:spcPct val="110000"/>
              </a:lnSpc>
              <a:spcAft>
                <a:spcPts val="300"/>
              </a:spcAft>
              <a:defRPr sz="2500" b="1">
                <a:solidFill>
                  <a:srgbClr val="405D7B"/>
                </a:solidFill>
                <a:latin typeface="Meiryo"/>
              </a:defRPr>
            </a:pPr>
            <a:r>
              <a:rPr sz="2500" b="1">
                <a:solidFill>
                  <a:srgbClr val="405D7B"/>
                </a:solidFill>
                <a:latin typeface="Meiryo"/>
              </a:rPr>
              <a:t>次は来季</a:t>
            </a:r>
          </a:p>
        </p:txBody>
      </p:sp>
      <p:sp>
        <p:nvSpPr>
          <p:cNvPr id="28" name="TextBox 27"/>
          <p:cNvSpPr txBox="1"/>
          <p:nvPr/>
        </p:nvSpPr>
        <p:spPr>
          <a:xfrm>
            <a:off x="8266175" y="4023360"/>
            <a:ext cx="316382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同じ訴求は今期できません</a:t>
            </a:r>
          </a:p>
        </p:txBody>
      </p:sp>
      <p:sp>
        <p:nvSpPr>
          <p:cNvPr id="29" name="TextBox 28"/>
          <p:cNvSpPr txBox="1"/>
          <p:nvPr/>
        </p:nvSpPr>
        <p:spPr>
          <a:xfrm>
            <a:off x="566928" y="4754879"/>
            <a:ext cx="11064240" cy="274320"/>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ご提案する打ち手</a:t>
            </a:r>
          </a:p>
        </p:txBody>
      </p:sp>
      <p:sp>
        <p:nvSpPr>
          <p:cNvPr id="30" name="TextBox 29"/>
          <p:cNvSpPr txBox="1"/>
          <p:nvPr/>
        </p:nvSpPr>
        <p:spPr>
          <a:xfrm>
            <a:off x="566928" y="5084064"/>
            <a:ext cx="11064240" cy="914400"/>
          </a:xfrm>
          <a:prstGeom prst="rect">
            <a:avLst/>
          </a:prstGeom>
          <a:noFill/>
        </p:spPr>
        <p:txBody>
          <a:bodyPr wrap="square" lIns="0" rIns="0" tIns="0" bIns="0" anchor="t">
            <a:spAutoFit/>
          </a:bodyPr>
          <a:lstStyle/>
          <a:p>
            <a:pPr algn="l">
              <a:lnSpc>
                <a:spcPct val="162000"/>
              </a:lnSpc>
              <a:spcAft>
                <a:spcPts val="300"/>
              </a:spcAft>
              <a:defRPr sz="1300" b="0">
                <a:solidFill>
                  <a:srgbClr val="454B52"/>
                </a:solidFill>
                <a:latin typeface="Meiryo"/>
              </a:defRPr>
            </a:pPr>
            <a:r>
              <a:rPr sz="1300" b="0">
                <a:solidFill>
                  <a:srgbClr val="454B52"/>
                </a:solidFill>
                <a:latin typeface="Meiryo"/>
              </a:rPr>
              <a:t>･  配信エリアをゴルフ場から半径50〜80km圏へ戻す（追加費用なし）</a:t>
            </a:r>
          </a:p>
          <a:p>
            <a:pPr algn="l">
              <a:lnSpc>
                <a:spcPct val="162000"/>
              </a:lnSpc>
              <a:spcAft>
                <a:spcPts val="300"/>
              </a:spcAft>
              <a:defRPr sz="1300" b="0">
                <a:solidFill>
                  <a:srgbClr val="454B52"/>
                </a:solidFill>
                <a:latin typeface="Meiryo"/>
              </a:defRPr>
            </a:pPr>
            <a:r>
              <a:rPr sz="1300" b="0">
                <a:solidFill>
                  <a:srgbClr val="454B52"/>
                </a:solidFill>
                <a:latin typeface="Meiryo"/>
              </a:rPr>
              <a:t>･  検討層への再接触（リターゲティング）を予算比9%→20〜25%へ強化</a:t>
            </a:r>
          </a:p>
          <a:p>
            <a:pPr algn="l">
              <a:lnSpc>
                <a:spcPct val="162000"/>
              </a:lnSpc>
              <a:spcAft>
                <a:spcPts val="300"/>
              </a:spcAft>
              <a:defRPr sz="1300" b="0">
                <a:solidFill>
                  <a:srgbClr val="454B52"/>
                </a:solidFill>
                <a:latin typeface="Meiryo"/>
              </a:defRPr>
            </a:pPr>
            <a:r>
              <a:rPr sz="1300" b="0">
                <a:solidFill>
                  <a:srgbClr val="454B52"/>
                </a:solidFill>
                <a:latin typeface="Meiryo"/>
              </a:rPr>
              <a:t>･  配信面を整理し、媒体構成を成果が出ていた時期に戻す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1 現状</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第1期・第2期の比較</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03</a:t>
            </a:r>
          </a:p>
        </p:txBody>
      </p:sp>
      <p:sp>
        <p:nvSpPr>
          <p:cNvPr id="8" name="TextBox 7"/>
          <p:cNvSpPr txBox="1"/>
          <p:nvPr/>
        </p:nvSpPr>
        <p:spPr>
          <a:xfrm>
            <a:off x="566928" y="1536192"/>
            <a:ext cx="11064240" cy="274320"/>
          </a:xfrm>
          <a:prstGeom prst="rect">
            <a:avLst/>
          </a:prstGeom>
          <a:noFill/>
        </p:spPr>
        <p:txBody>
          <a:bodyPr wrap="square" lIns="0" rIns="0" tIns="0" bIns="0" anchor="t">
            <a:spAutoFit/>
          </a:bodyPr>
          <a:lstStyle/>
          <a:p>
            <a:pPr algn="l">
              <a:lnSpc>
                <a:spcPct val="140000"/>
              </a:lnSpc>
              <a:spcAft>
                <a:spcPts val="300"/>
              </a:spcAft>
              <a:defRPr sz="1150" b="0">
                <a:solidFill>
                  <a:srgbClr val="8A929C"/>
                </a:solidFill>
                <a:latin typeface="Meiryo"/>
              </a:defRPr>
            </a:pPr>
            <a:r>
              <a:rPr sz="1150" b="0">
                <a:solidFill>
                  <a:srgbClr val="8A929C"/>
                </a:solidFill>
                <a:latin typeface="Meiryo"/>
              </a:rPr>
              <a:t>予算を30%増やし、集客を1.8倍に伸ばしながら、お問い合わせは1/3以下に減少しました。</a:t>
            </a:r>
          </a:p>
        </p:txBody>
      </p:sp>
      <p:sp>
        <p:nvSpPr>
          <p:cNvPr id="9" name="Rectangle 8"/>
          <p:cNvSpPr/>
          <p:nvPr/>
        </p:nvSpPr>
        <p:spPr>
          <a:xfrm>
            <a:off x="566928" y="1956815"/>
            <a:ext cx="2628900"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56815"/>
            <a:ext cx="262890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2157984"/>
            <a:ext cx="222656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月あたりご請求額</a:t>
            </a:r>
          </a:p>
        </p:txBody>
      </p:sp>
      <p:sp>
        <p:nvSpPr>
          <p:cNvPr id="12" name="TextBox 11"/>
          <p:cNvSpPr txBox="1"/>
          <p:nvPr/>
        </p:nvSpPr>
        <p:spPr>
          <a:xfrm>
            <a:off x="768096" y="2450591"/>
            <a:ext cx="2226564" cy="548640"/>
          </a:xfrm>
          <a:prstGeom prst="rect">
            <a:avLst/>
          </a:prstGeom>
          <a:noFill/>
        </p:spPr>
        <p:txBody>
          <a:bodyPr wrap="square" lIns="0" rIns="0" tIns="0" bIns="0" anchor="t">
            <a:spAutoFit/>
          </a:bodyPr>
          <a:lstStyle/>
          <a:p>
            <a:pPr algn="l">
              <a:lnSpc>
                <a:spcPct val="110000"/>
              </a:lnSpc>
              <a:spcAft>
                <a:spcPts val="300"/>
              </a:spcAft>
              <a:defRPr sz="3000" b="1">
                <a:solidFill>
                  <a:srgbClr val="405D7B"/>
                </a:solidFill>
                <a:latin typeface="Meiryo"/>
              </a:defRPr>
            </a:pPr>
            <a:r>
              <a:rPr sz="3000" b="1">
                <a:solidFill>
                  <a:srgbClr val="405D7B"/>
                </a:solidFill>
                <a:latin typeface="Meiryo"/>
              </a:rPr>
              <a:t>+30.0%</a:t>
            </a:r>
          </a:p>
        </p:txBody>
      </p:sp>
      <p:sp>
        <p:nvSpPr>
          <p:cNvPr id="13" name="Rectangle 12"/>
          <p:cNvSpPr/>
          <p:nvPr/>
        </p:nvSpPr>
        <p:spPr>
          <a:xfrm>
            <a:off x="3378708" y="1956815"/>
            <a:ext cx="2628900"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378708" y="1956815"/>
            <a:ext cx="262890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79876" y="2157984"/>
            <a:ext cx="222656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月あたりサイト集客</a:t>
            </a:r>
          </a:p>
        </p:txBody>
      </p:sp>
      <p:sp>
        <p:nvSpPr>
          <p:cNvPr id="16" name="TextBox 15"/>
          <p:cNvSpPr txBox="1"/>
          <p:nvPr/>
        </p:nvSpPr>
        <p:spPr>
          <a:xfrm>
            <a:off x="3579876" y="2450591"/>
            <a:ext cx="2226564" cy="548640"/>
          </a:xfrm>
          <a:prstGeom prst="rect">
            <a:avLst/>
          </a:prstGeom>
          <a:noFill/>
        </p:spPr>
        <p:txBody>
          <a:bodyPr wrap="square" lIns="0" rIns="0" tIns="0" bIns="0" anchor="t">
            <a:spAutoFit/>
          </a:bodyPr>
          <a:lstStyle/>
          <a:p>
            <a:pPr algn="l">
              <a:lnSpc>
                <a:spcPct val="110000"/>
              </a:lnSpc>
              <a:spcAft>
                <a:spcPts val="300"/>
              </a:spcAft>
              <a:defRPr sz="3000" b="1">
                <a:solidFill>
                  <a:srgbClr val="405D7B"/>
                </a:solidFill>
                <a:latin typeface="Meiryo"/>
              </a:defRPr>
            </a:pPr>
            <a:r>
              <a:rPr sz="3000" b="1">
                <a:solidFill>
                  <a:srgbClr val="405D7B"/>
                </a:solidFill>
                <a:latin typeface="Meiryo"/>
              </a:rPr>
              <a:t>1.8倍</a:t>
            </a:r>
          </a:p>
        </p:txBody>
      </p:sp>
      <p:sp>
        <p:nvSpPr>
          <p:cNvPr id="17" name="Rectangle 16"/>
          <p:cNvSpPr/>
          <p:nvPr/>
        </p:nvSpPr>
        <p:spPr>
          <a:xfrm>
            <a:off x="6190488" y="1956815"/>
            <a:ext cx="2628900"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190488" y="1956815"/>
            <a:ext cx="262890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91656" y="2157984"/>
            <a:ext cx="222656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お問い合わせ</a:t>
            </a:r>
          </a:p>
        </p:txBody>
      </p:sp>
      <p:sp>
        <p:nvSpPr>
          <p:cNvPr id="20" name="TextBox 19"/>
          <p:cNvSpPr txBox="1"/>
          <p:nvPr/>
        </p:nvSpPr>
        <p:spPr>
          <a:xfrm>
            <a:off x="6391656" y="2450591"/>
            <a:ext cx="2226564" cy="548640"/>
          </a:xfrm>
          <a:prstGeom prst="rect">
            <a:avLst/>
          </a:prstGeom>
          <a:noFill/>
        </p:spPr>
        <p:txBody>
          <a:bodyPr wrap="square" lIns="0" rIns="0" tIns="0" bIns="0" anchor="t">
            <a:spAutoFit/>
          </a:bodyPr>
          <a:lstStyle/>
          <a:p>
            <a:pPr algn="l">
              <a:lnSpc>
                <a:spcPct val="110000"/>
              </a:lnSpc>
              <a:spcAft>
                <a:spcPts val="300"/>
              </a:spcAft>
              <a:defRPr sz="3000" b="1">
                <a:solidFill>
                  <a:srgbClr val="A96933"/>
                </a:solidFill>
                <a:latin typeface="Meiryo"/>
              </a:defRPr>
            </a:pPr>
            <a:r>
              <a:rPr sz="3000" b="1">
                <a:solidFill>
                  <a:srgbClr val="A96933"/>
                </a:solidFill>
                <a:latin typeface="Meiryo"/>
              </a:rPr>
              <a:t>−89%</a:t>
            </a:r>
          </a:p>
        </p:txBody>
      </p:sp>
      <p:sp>
        <p:nvSpPr>
          <p:cNvPr id="21" name="Rectangle 20"/>
          <p:cNvSpPr/>
          <p:nvPr/>
        </p:nvSpPr>
        <p:spPr>
          <a:xfrm>
            <a:off x="9002268" y="1956815"/>
            <a:ext cx="2628900"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002268" y="1956815"/>
            <a:ext cx="262890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203436" y="2157984"/>
            <a:ext cx="222656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獲得単価</a:t>
            </a:r>
          </a:p>
        </p:txBody>
      </p:sp>
      <p:sp>
        <p:nvSpPr>
          <p:cNvPr id="24" name="TextBox 23"/>
          <p:cNvSpPr txBox="1"/>
          <p:nvPr/>
        </p:nvSpPr>
        <p:spPr>
          <a:xfrm>
            <a:off x="9203436" y="2450591"/>
            <a:ext cx="2226564" cy="548640"/>
          </a:xfrm>
          <a:prstGeom prst="rect">
            <a:avLst/>
          </a:prstGeom>
          <a:noFill/>
        </p:spPr>
        <p:txBody>
          <a:bodyPr wrap="square" lIns="0" rIns="0" tIns="0" bIns="0" anchor="t">
            <a:spAutoFit/>
          </a:bodyPr>
          <a:lstStyle/>
          <a:p>
            <a:pPr algn="l">
              <a:lnSpc>
                <a:spcPct val="110000"/>
              </a:lnSpc>
              <a:spcAft>
                <a:spcPts val="300"/>
              </a:spcAft>
              <a:defRPr sz="3000" b="1">
                <a:solidFill>
                  <a:srgbClr val="A96933"/>
                </a:solidFill>
                <a:latin typeface="Meiryo"/>
              </a:defRPr>
            </a:pPr>
            <a:r>
              <a:rPr sz="3000" b="1">
                <a:solidFill>
                  <a:srgbClr val="A96933"/>
                </a:solidFill>
                <a:latin typeface="Meiryo"/>
              </a:rPr>
              <a:t>4.63倍</a:t>
            </a:r>
          </a:p>
        </p:txBody>
      </p:sp>
      <p:sp>
        <p:nvSpPr>
          <p:cNvPr id="25" name="Rectangle 24"/>
          <p:cNvSpPr/>
          <p:nvPr/>
        </p:nvSpPr>
        <p:spPr>
          <a:xfrm>
            <a:off x="566928" y="3383280"/>
            <a:ext cx="11064240" cy="42062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76656" y="3383280"/>
            <a:ext cx="3621024" cy="420624"/>
          </a:xfrm>
          <a:prstGeom prst="rect">
            <a:avLst/>
          </a:prstGeom>
          <a:noFill/>
        </p:spPr>
        <p:txBody>
          <a:bodyPr wrap="square" lIns="0" rIns="0" tIns="0" bIns="0" anchor="ctr">
            <a:spAutoFit/>
          </a:bodyPr>
          <a:lstStyle/>
          <a:p>
            <a:pPr algn="l">
              <a:lnSpc>
                <a:spcPct val="100000"/>
              </a:lnSpc>
              <a:spcAft>
                <a:spcPts val="0"/>
              </a:spcAft>
              <a:defRPr sz="1150" b="1">
                <a:solidFill>
                  <a:srgbClr val="FFFFFF"/>
                </a:solidFill>
                <a:latin typeface="Meiryo"/>
              </a:defRPr>
            </a:pPr>
          </a:p>
        </p:txBody>
      </p:sp>
      <p:sp>
        <p:nvSpPr>
          <p:cNvPr id="27" name="TextBox 26"/>
          <p:cNvSpPr txBox="1"/>
          <p:nvPr/>
        </p:nvSpPr>
        <p:spPr>
          <a:xfrm>
            <a:off x="4517136" y="3383280"/>
            <a:ext cx="3438144" cy="420624"/>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第1期  2025年8月〜2026年3月（8ヶ月）</a:t>
            </a:r>
          </a:p>
        </p:txBody>
      </p:sp>
      <p:sp>
        <p:nvSpPr>
          <p:cNvPr id="28" name="TextBox 27"/>
          <p:cNvSpPr txBox="1"/>
          <p:nvPr/>
        </p:nvSpPr>
        <p:spPr>
          <a:xfrm>
            <a:off x="8174736" y="3383280"/>
            <a:ext cx="3346703" cy="420624"/>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第2期  2026年5月〜7月（3ヶ月）</a:t>
            </a:r>
          </a:p>
        </p:txBody>
      </p:sp>
      <p:sp>
        <p:nvSpPr>
          <p:cNvPr id="29" name="Rectangle 28"/>
          <p:cNvSpPr/>
          <p:nvPr/>
        </p:nvSpPr>
        <p:spPr>
          <a:xfrm>
            <a:off x="566928" y="3803904"/>
            <a:ext cx="1106424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76656" y="3803904"/>
            <a:ext cx="3621024" cy="402336"/>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月あたりご請求額</a:t>
            </a:r>
          </a:p>
        </p:txBody>
      </p:sp>
      <p:sp>
        <p:nvSpPr>
          <p:cNvPr id="31" name="TextBox 30"/>
          <p:cNvSpPr txBox="1"/>
          <p:nvPr/>
        </p:nvSpPr>
        <p:spPr>
          <a:xfrm>
            <a:off x="4517136" y="3803904"/>
            <a:ext cx="3438144" cy="402336"/>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¥251,250</a:t>
            </a:r>
          </a:p>
        </p:txBody>
      </p:sp>
      <p:sp>
        <p:nvSpPr>
          <p:cNvPr id="32" name="TextBox 31"/>
          <p:cNvSpPr txBox="1"/>
          <p:nvPr/>
        </p:nvSpPr>
        <p:spPr>
          <a:xfrm>
            <a:off x="8174736" y="3803904"/>
            <a:ext cx="3346703" cy="402336"/>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¥326,667</a:t>
            </a:r>
          </a:p>
        </p:txBody>
      </p:sp>
      <p:sp>
        <p:nvSpPr>
          <p:cNvPr id="33" name="Rectangle 32"/>
          <p:cNvSpPr/>
          <p:nvPr/>
        </p:nvSpPr>
        <p:spPr>
          <a:xfrm>
            <a:off x="566928" y="4206240"/>
            <a:ext cx="11064240" cy="402336"/>
          </a:xfrm>
          <a:prstGeom prst="rect">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76656" y="4206240"/>
            <a:ext cx="3621024" cy="402336"/>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月あたりサイト集客</a:t>
            </a:r>
          </a:p>
        </p:txBody>
      </p:sp>
      <p:sp>
        <p:nvSpPr>
          <p:cNvPr id="35" name="TextBox 34"/>
          <p:cNvSpPr txBox="1"/>
          <p:nvPr/>
        </p:nvSpPr>
        <p:spPr>
          <a:xfrm>
            <a:off x="4517136" y="4206240"/>
            <a:ext cx="3438144" cy="402336"/>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6,427</a:t>
            </a:r>
          </a:p>
        </p:txBody>
      </p:sp>
      <p:sp>
        <p:nvSpPr>
          <p:cNvPr id="36" name="TextBox 35"/>
          <p:cNvSpPr txBox="1"/>
          <p:nvPr/>
        </p:nvSpPr>
        <p:spPr>
          <a:xfrm>
            <a:off x="8174736" y="4206240"/>
            <a:ext cx="3346703" cy="402336"/>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11,715</a:t>
            </a:r>
          </a:p>
        </p:txBody>
      </p:sp>
      <p:sp>
        <p:nvSpPr>
          <p:cNvPr id="37" name="Rectangle 36"/>
          <p:cNvSpPr/>
          <p:nvPr/>
        </p:nvSpPr>
        <p:spPr>
          <a:xfrm>
            <a:off x="566928" y="4608576"/>
            <a:ext cx="11064240" cy="402336"/>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76656" y="4608576"/>
            <a:ext cx="3621024" cy="402336"/>
          </a:xfrm>
          <a:prstGeom prst="rect">
            <a:avLst/>
          </a:prstGeom>
          <a:noFill/>
        </p:spPr>
        <p:txBody>
          <a:bodyPr wrap="square" lIns="0" rIns="0" tIns="0" bIns="0" anchor="ctr">
            <a:spAutoFit/>
          </a:bodyPr>
          <a:lstStyle/>
          <a:p>
            <a:pPr algn="l">
              <a:lnSpc>
                <a:spcPct val="100000"/>
              </a:lnSpc>
              <a:spcAft>
                <a:spcPts val="0"/>
              </a:spcAft>
              <a:defRPr sz="1150" b="1">
                <a:solidFill>
                  <a:srgbClr val="405D7B"/>
                </a:solidFill>
                <a:latin typeface="Meiryo"/>
              </a:defRPr>
            </a:pPr>
            <a:r>
              <a:rPr sz="1150" b="1">
                <a:solidFill>
                  <a:srgbClr val="405D7B"/>
                </a:solidFill>
                <a:latin typeface="Meiryo"/>
              </a:rPr>
              <a:t>お問い合わせ</a:t>
            </a:r>
          </a:p>
        </p:txBody>
      </p:sp>
      <p:sp>
        <p:nvSpPr>
          <p:cNvPr id="39" name="TextBox 38"/>
          <p:cNvSpPr txBox="1"/>
          <p:nvPr/>
        </p:nvSpPr>
        <p:spPr>
          <a:xfrm>
            <a:off x="4517136" y="4608576"/>
            <a:ext cx="3438144" cy="402336"/>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19件（月2.4件）</a:t>
            </a:r>
          </a:p>
        </p:txBody>
      </p:sp>
      <p:sp>
        <p:nvSpPr>
          <p:cNvPr id="40" name="TextBox 39"/>
          <p:cNvSpPr txBox="1"/>
          <p:nvPr/>
        </p:nvSpPr>
        <p:spPr>
          <a:xfrm>
            <a:off x="8174736" y="4608576"/>
            <a:ext cx="3346703" cy="402336"/>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2件（月0.67件）</a:t>
            </a:r>
          </a:p>
        </p:txBody>
      </p:sp>
      <p:sp>
        <p:nvSpPr>
          <p:cNvPr id="41" name="Rectangle 40"/>
          <p:cNvSpPr/>
          <p:nvPr/>
        </p:nvSpPr>
        <p:spPr>
          <a:xfrm>
            <a:off x="566928" y="5010912"/>
            <a:ext cx="11064240" cy="402336"/>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76656" y="5010912"/>
            <a:ext cx="3621024" cy="402336"/>
          </a:xfrm>
          <a:prstGeom prst="rect">
            <a:avLst/>
          </a:prstGeom>
          <a:noFill/>
        </p:spPr>
        <p:txBody>
          <a:bodyPr wrap="square" lIns="0" rIns="0" tIns="0" bIns="0" anchor="ctr">
            <a:spAutoFit/>
          </a:bodyPr>
          <a:lstStyle/>
          <a:p>
            <a:pPr algn="l">
              <a:lnSpc>
                <a:spcPct val="100000"/>
              </a:lnSpc>
              <a:spcAft>
                <a:spcPts val="0"/>
              </a:spcAft>
              <a:defRPr sz="1150" b="1">
                <a:solidFill>
                  <a:srgbClr val="405D7B"/>
                </a:solidFill>
                <a:latin typeface="Meiryo"/>
              </a:defRPr>
            </a:pPr>
            <a:r>
              <a:rPr sz="1150" b="1">
                <a:solidFill>
                  <a:srgbClr val="405D7B"/>
                </a:solidFill>
                <a:latin typeface="Meiryo"/>
              </a:rPr>
              <a:t>獲得単価</a:t>
            </a:r>
          </a:p>
        </p:txBody>
      </p:sp>
      <p:sp>
        <p:nvSpPr>
          <p:cNvPr id="43" name="TextBox 42"/>
          <p:cNvSpPr txBox="1"/>
          <p:nvPr/>
        </p:nvSpPr>
        <p:spPr>
          <a:xfrm>
            <a:off x="4517136" y="5010912"/>
            <a:ext cx="3438144" cy="402336"/>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¥105,789</a:t>
            </a:r>
          </a:p>
        </p:txBody>
      </p:sp>
      <p:sp>
        <p:nvSpPr>
          <p:cNvPr id="44" name="TextBox 43"/>
          <p:cNvSpPr txBox="1"/>
          <p:nvPr/>
        </p:nvSpPr>
        <p:spPr>
          <a:xfrm>
            <a:off x="8174736" y="5010912"/>
            <a:ext cx="3346703" cy="402336"/>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¥490,000</a:t>
            </a:r>
          </a:p>
        </p:txBody>
      </p:sp>
      <p:sp>
        <p:nvSpPr>
          <p:cNvPr id="45" name="Rectangle 44"/>
          <p:cNvSpPr/>
          <p:nvPr/>
        </p:nvSpPr>
        <p:spPr>
          <a:xfrm>
            <a:off x="566928" y="5413248"/>
            <a:ext cx="1106424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76656" y="5413248"/>
            <a:ext cx="3621024" cy="402336"/>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「具体的に検討している」比率</a:t>
            </a:r>
          </a:p>
        </p:txBody>
      </p:sp>
      <p:sp>
        <p:nvSpPr>
          <p:cNvPr id="47" name="TextBox 46"/>
          <p:cNvSpPr txBox="1"/>
          <p:nvPr/>
        </p:nvSpPr>
        <p:spPr>
          <a:xfrm>
            <a:off x="4517136" y="5413248"/>
            <a:ext cx="3438144" cy="402336"/>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68%</a:t>
            </a:r>
          </a:p>
        </p:txBody>
      </p:sp>
      <p:sp>
        <p:nvSpPr>
          <p:cNvPr id="48" name="TextBox 47"/>
          <p:cNvSpPr txBox="1"/>
          <p:nvPr/>
        </p:nvSpPr>
        <p:spPr>
          <a:xfrm>
            <a:off x="8174736" y="5413248"/>
            <a:ext cx="3346703" cy="402336"/>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0%</a:t>
            </a:r>
          </a:p>
        </p:txBody>
      </p:sp>
      <p:sp>
        <p:nvSpPr>
          <p:cNvPr id="49" name="TextBox 48"/>
          <p:cNvSpPr txBox="1"/>
          <p:nvPr/>
        </p:nvSpPr>
        <p:spPr>
          <a:xfrm>
            <a:off x="566928" y="5815584"/>
            <a:ext cx="11064240" cy="365760"/>
          </a:xfrm>
          <a:prstGeom prst="rect">
            <a:avLst/>
          </a:prstGeom>
          <a:noFill/>
        </p:spPr>
        <p:txBody>
          <a:bodyPr wrap="square" lIns="0" rIns="0" tIns="0" bIns="0" anchor="t">
            <a:spAutoFit/>
          </a:bodyPr>
          <a:lstStyle/>
          <a:p>
            <a:pPr algn="l">
              <a:lnSpc>
                <a:spcPct val="135000"/>
              </a:lnSpc>
              <a:spcAft>
                <a:spcPts val="300"/>
              </a:spcAft>
              <a:defRPr sz="950" b="0">
                <a:solidFill>
                  <a:srgbClr val="8A929C"/>
                </a:solidFill>
                <a:latin typeface="Meiryo"/>
              </a:defRPr>
            </a:pPr>
            <a:r>
              <a:rPr sz="950" b="0">
                <a:solidFill>
                  <a:srgbClr val="8A929C"/>
                </a:solidFill>
                <a:latin typeface="Meiryo"/>
              </a:rPr>
              <a:t>〈実測〉ご請求額＝弊社基幹システム／集客＝GA4／お問い合わせ＝通知メールの実件数（スパム・テスト送信を除外）。</a:t>
            </a:r>
          </a:p>
          <a:p>
            <a:pPr algn="l">
              <a:lnSpc>
                <a:spcPct val="135000"/>
              </a:lnSpc>
              <a:spcAft>
                <a:spcPts val="300"/>
              </a:spcAft>
              <a:defRPr sz="950" b="0">
                <a:solidFill>
                  <a:srgbClr val="8A929C"/>
                </a:solidFill>
                <a:latin typeface="Meiryo"/>
              </a:defRPr>
            </a:pPr>
            <a:r>
              <a:rPr sz="950" b="0">
                <a:solidFill>
                  <a:srgbClr val="8A929C"/>
                </a:solidFill>
                <a:latin typeface="Meiryo"/>
              </a:rPr>
              <a:t>比較期間はお問い合わせの実データが確認できている期間に揃え、2026年4月（LP刷新期間）は除外しています。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2 分析</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成果の53%は、ゴルフ場から概ね70km圏内でした</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04</a:t>
            </a:r>
          </a:p>
        </p:txBody>
      </p:sp>
      <p:graphicFrame>
        <p:nvGraphicFramePr>
          <p:cNvPr id="8" name="Chart 7"/>
          <p:cNvGraphicFramePr>
            <a:graphicFrameLocks noGrp="1"/>
          </p:cNvGraphicFramePr>
          <p:nvPr/>
        </p:nvGraphicFramePr>
        <p:xfrm>
          <a:off x="566928" y="1737360"/>
          <a:ext cx="6675120" cy="3017520"/>
        </p:xfrm>
        <a:graphic>
          <a:graphicData uri="http://schemas.openxmlformats.org/drawingml/2006/chart">
            <c:chart xmlns:c="http://schemas.openxmlformats.org/drawingml/2006/chart" r:id="rId2"/>
          </a:graphicData>
        </a:graphic>
      </p:graphicFrame>
      <p:sp>
        <p:nvSpPr>
          <p:cNvPr id="9" name="Rectangle 8"/>
          <p:cNvSpPr/>
          <p:nvPr/>
        </p:nvSpPr>
        <p:spPr>
          <a:xfrm>
            <a:off x="7424927" y="1737360"/>
            <a:ext cx="4206240" cy="133502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424927" y="1737360"/>
            <a:ext cx="420624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26096" y="1938528"/>
            <a:ext cx="3803903"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概ね70km圏内の累計</a:t>
            </a:r>
          </a:p>
        </p:txBody>
      </p:sp>
      <p:sp>
        <p:nvSpPr>
          <p:cNvPr id="12" name="TextBox 11"/>
          <p:cNvSpPr txBox="1"/>
          <p:nvPr/>
        </p:nvSpPr>
        <p:spPr>
          <a:xfrm>
            <a:off x="7626096" y="2231136"/>
            <a:ext cx="3803903" cy="548640"/>
          </a:xfrm>
          <a:prstGeom prst="rect">
            <a:avLst/>
          </a:prstGeom>
          <a:noFill/>
        </p:spPr>
        <p:txBody>
          <a:bodyPr wrap="square" lIns="0" rIns="0" tIns="0" bIns="0" anchor="t">
            <a:spAutoFit/>
          </a:bodyPr>
          <a:lstStyle/>
          <a:p>
            <a:pPr algn="l">
              <a:lnSpc>
                <a:spcPct val="110000"/>
              </a:lnSpc>
              <a:spcAft>
                <a:spcPts val="300"/>
              </a:spcAft>
              <a:defRPr sz="3200" b="1">
                <a:solidFill>
                  <a:srgbClr val="A96933"/>
                </a:solidFill>
                <a:latin typeface="Meiryo"/>
              </a:defRPr>
            </a:pPr>
            <a:r>
              <a:rPr sz="3200" b="1">
                <a:solidFill>
                  <a:srgbClr val="A96933"/>
                </a:solidFill>
                <a:latin typeface="Meiryo"/>
              </a:rPr>
              <a:t>53%</a:t>
            </a:r>
          </a:p>
        </p:txBody>
      </p:sp>
      <p:sp>
        <p:nvSpPr>
          <p:cNvPr id="13" name="TextBox 12"/>
          <p:cNvSpPr txBox="1"/>
          <p:nvPr/>
        </p:nvSpPr>
        <p:spPr>
          <a:xfrm>
            <a:off x="7626096" y="2560320"/>
            <a:ext cx="3803903"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19件中10件。佐久市内2件・隣接町村5件</a:t>
            </a:r>
          </a:p>
        </p:txBody>
      </p:sp>
      <p:sp>
        <p:nvSpPr>
          <p:cNvPr id="14" name="Rectangle 13"/>
          <p:cNvSpPr/>
          <p:nvPr/>
        </p:nvSpPr>
        <p:spPr>
          <a:xfrm>
            <a:off x="7424927" y="3255263"/>
            <a:ext cx="4206240" cy="1499616"/>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424927" y="3255263"/>
            <a:ext cx="4206240" cy="45720"/>
          </a:xfrm>
          <a:prstGeom prst="rect">
            <a:avLst/>
          </a:prstGeom>
          <a:solidFill>
            <a:srgbClr val="6C75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35240" y="3438144"/>
            <a:ext cx="3785615"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両論併記</a:t>
            </a:r>
          </a:p>
        </p:txBody>
      </p:sp>
      <p:sp>
        <p:nvSpPr>
          <p:cNvPr id="17" name="TextBox 16"/>
          <p:cNvSpPr txBox="1"/>
          <p:nvPr/>
        </p:nvSpPr>
        <p:spPr>
          <a:xfrm>
            <a:off x="7635240" y="3675887"/>
            <a:ext cx="3785615"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首都圏も切れません</a:t>
            </a:r>
          </a:p>
        </p:txBody>
      </p:sp>
      <p:sp>
        <p:nvSpPr>
          <p:cNvPr id="18" name="TextBox 17"/>
          <p:cNvSpPr txBox="1"/>
          <p:nvPr/>
        </p:nvSpPr>
        <p:spPr>
          <a:xfrm>
            <a:off x="7662671" y="4114800"/>
            <a:ext cx="3730752" cy="475487"/>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首都圏は8件（42%）。件数は少ないものの「具体的に検討している」比率は75%と、地元（64%）を上回ります。</a:t>
            </a:r>
          </a:p>
        </p:txBody>
      </p:sp>
      <p:sp>
        <p:nvSpPr>
          <p:cNvPr id="19" name="TextBox 18"/>
          <p:cNvSpPr txBox="1"/>
          <p:nvPr/>
        </p:nvSpPr>
        <p:spPr>
          <a:xfrm>
            <a:off x="566928" y="5138928"/>
            <a:ext cx="11064240" cy="365760"/>
          </a:xfrm>
          <a:prstGeom prst="rect">
            <a:avLst/>
          </a:prstGeom>
          <a:noFill/>
        </p:spPr>
        <p:txBody>
          <a:bodyPr wrap="square" lIns="0" rIns="0" tIns="0" bIns="0" anchor="t">
            <a:spAutoFit/>
          </a:bodyPr>
          <a:lstStyle/>
          <a:p>
            <a:pPr algn="l">
              <a:lnSpc>
                <a:spcPct val="135000"/>
              </a:lnSpc>
              <a:spcAft>
                <a:spcPts val="300"/>
              </a:spcAft>
              <a:defRPr sz="950" b="0">
                <a:solidFill>
                  <a:srgbClr val="8A929C"/>
                </a:solidFill>
                <a:latin typeface="Meiryo"/>
              </a:defRPr>
            </a:pPr>
            <a:r>
              <a:rPr sz="950" b="0">
                <a:solidFill>
                  <a:srgbClr val="8A929C"/>
                </a:solidFill>
                <a:latin typeface="Meiryo"/>
              </a:rPr>
              <a:t>〈実測〉距離帯はお問い合わせ記載の郵便番号・住所から分類。母集団＝第1期の全19件。</a:t>
            </a:r>
          </a:p>
          <a:p>
            <a:pPr algn="l">
              <a:lnSpc>
                <a:spcPct val="135000"/>
              </a:lnSpc>
              <a:spcAft>
                <a:spcPts val="300"/>
              </a:spcAft>
              <a:defRPr sz="950" b="0">
                <a:solidFill>
                  <a:srgbClr val="8A929C"/>
                </a:solidFill>
                <a:latin typeface="Meiryo"/>
              </a:defRPr>
            </a:pPr>
            <a:r>
              <a:rPr sz="950" b="0">
                <a:solidFill>
                  <a:srgbClr val="8A929C"/>
                </a:solidFill>
                <a:latin typeface="Meiryo"/>
              </a:rPr>
              <a:t>〈方向性〉母数が少ないため、比率の差は断定ではなく方向性としてご理解ください。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2 分析</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配信エリア・媒体構成と成果は、月単位で対応していました</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05</a:t>
            </a:r>
          </a:p>
        </p:txBody>
      </p:sp>
      <p:sp>
        <p:nvSpPr>
          <p:cNvPr id="8" name="TextBox 7"/>
          <p:cNvSpPr txBox="1"/>
          <p:nvPr/>
        </p:nvSpPr>
        <p:spPr>
          <a:xfrm>
            <a:off x="566928" y="1737360"/>
            <a:ext cx="5440680" cy="274320"/>
          </a:xfrm>
          <a:prstGeom prst="rect">
            <a:avLst/>
          </a:prstGeom>
          <a:noFill/>
        </p:spPr>
        <p:txBody>
          <a:bodyPr wrap="square" lIns="0" rIns="0" tIns="0" bIns="0" anchor="t">
            <a:spAutoFit/>
          </a:bodyPr>
          <a:lstStyle/>
          <a:p>
            <a:pPr algn="l">
              <a:lnSpc>
                <a:spcPct val="140000"/>
              </a:lnSpc>
              <a:spcAft>
                <a:spcPts val="300"/>
              </a:spcAft>
              <a:defRPr sz="1300" b="1">
                <a:solidFill>
                  <a:srgbClr val="2A2E33"/>
                </a:solidFill>
                <a:latin typeface="Meiryo"/>
              </a:defRPr>
            </a:pPr>
            <a:r>
              <a:rPr sz="1300" b="1">
                <a:solidFill>
                  <a:srgbClr val="2A2E33"/>
                </a:solidFill>
                <a:latin typeface="Meiryo"/>
              </a:rPr>
              <a:t>Meta広告の配信エリアと成果</a:t>
            </a:r>
          </a:p>
        </p:txBody>
      </p:sp>
      <p:sp>
        <p:nvSpPr>
          <p:cNvPr id="9" name="Rectangle 8"/>
          <p:cNvSpPr/>
          <p:nvPr/>
        </p:nvSpPr>
        <p:spPr>
          <a:xfrm>
            <a:off x="566928" y="2066543"/>
            <a:ext cx="5440680" cy="42062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2066543"/>
            <a:ext cx="1831947" cy="420624"/>
          </a:xfrm>
          <a:prstGeom prst="rect">
            <a:avLst/>
          </a:prstGeom>
          <a:noFill/>
        </p:spPr>
        <p:txBody>
          <a:bodyPr wrap="square" lIns="0" rIns="0" tIns="0" bIns="0" anchor="ctr">
            <a:spAutoFit/>
          </a:bodyPr>
          <a:lstStyle/>
          <a:p>
            <a:pPr algn="l">
              <a:lnSpc>
                <a:spcPct val="100000"/>
              </a:lnSpc>
              <a:spcAft>
                <a:spcPts val="0"/>
              </a:spcAft>
              <a:defRPr sz="1150" b="1">
                <a:solidFill>
                  <a:srgbClr val="FFFFFF"/>
                </a:solidFill>
                <a:latin typeface="Meiryo"/>
              </a:defRPr>
            </a:pPr>
            <a:r>
              <a:rPr sz="1150" b="1">
                <a:solidFill>
                  <a:srgbClr val="FFFFFF"/>
                </a:solidFill>
                <a:latin typeface="Meiryo"/>
              </a:rPr>
              <a:t>配信エリア</a:t>
            </a:r>
          </a:p>
        </p:txBody>
      </p:sp>
      <p:sp>
        <p:nvSpPr>
          <p:cNvPr id="11" name="TextBox 10"/>
          <p:cNvSpPr txBox="1"/>
          <p:nvPr/>
        </p:nvSpPr>
        <p:spPr>
          <a:xfrm>
            <a:off x="2728059" y="2066543"/>
            <a:ext cx="2099522" cy="420624"/>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該当月</a:t>
            </a:r>
          </a:p>
        </p:txBody>
      </p:sp>
      <p:sp>
        <p:nvSpPr>
          <p:cNvPr id="12" name="TextBox 11"/>
          <p:cNvSpPr txBox="1"/>
          <p:nvPr/>
        </p:nvSpPr>
        <p:spPr>
          <a:xfrm>
            <a:off x="5047038" y="2066543"/>
            <a:ext cx="850841" cy="420624"/>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件数</a:t>
            </a:r>
          </a:p>
        </p:txBody>
      </p:sp>
      <p:sp>
        <p:nvSpPr>
          <p:cNvPr id="13" name="Rectangle 12"/>
          <p:cNvSpPr/>
          <p:nvPr/>
        </p:nvSpPr>
        <p:spPr>
          <a:xfrm>
            <a:off x="566928" y="2487168"/>
            <a:ext cx="5440680" cy="43891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6656" y="2487168"/>
            <a:ext cx="1831947" cy="438912"/>
          </a:xfrm>
          <a:prstGeom prst="rect">
            <a:avLst/>
          </a:prstGeom>
          <a:noFill/>
        </p:spPr>
        <p:txBody>
          <a:bodyPr wrap="square" lIns="0" rIns="0" tIns="0" bIns="0" anchor="ctr">
            <a:spAutoFit/>
          </a:bodyPr>
          <a:lstStyle/>
          <a:p>
            <a:pPr algn="l">
              <a:lnSpc>
                <a:spcPct val="100000"/>
              </a:lnSpc>
              <a:spcAft>
                <a:spcPts val="0"/>
              </a:spcAft>
              <a:defRPr sz="1150" b="1">
                <a:solidFill>
                  <a:srgbClr val="405D7B"/>
                </a:solidFill>
                <a:latin typeface="Meiryo"/>
              </a:defRPr>
            </a:pPr>
            <a:r>
              <a:rPr sz="1150" b="1">
                <a:solidFill>
                  <a:srgbClr val="405D7B"/>
                </a:solidFill>
                <a:latin typeface="Meiryo"/>
              </a:rPr>
              <a:t>半径24〜50km圏</a:t>
            </a:r>
          </a:p>
        </p:txBody>
      </p:sp>
      <p:sp>
        <p:nvSpPr>
          <p:cNvPr id="15" name="TextBox 14"/>
          <p:cNvSpPr txBox="1"/>
          <p:nvPr/>
        </p:nvSpPr>
        <p:spPr>
          <a:xfrm>
            <a:off x="2728059" y="2487168"/>
            <a:ext cx="2099522"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2025/10・26/01・02・03・06</a:t>
            </a:r>
          </a:p>
        </p:txBody>
      </p:sp>
      <p:sp>
        <p:nvSpPr>
          <p:cNvPr id="16" name="TextBox 15"/>
          <p:cNvSpPr txBox="1"/>
          <p:nvPr/>
        </p:nvSpPr>
        <p:spPr>
          <a:xfrm>
            <a:off x="5047038" y="2487168"/>
            <a:ext cx="850841"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計12件</a:t>
            </a:r>
          </a:p>
        </p:txBody>
      </p:sp>
      <p:sp>
        <p:nvSpPr>
          <p:cNvPr id="17" name="Rectangle 16"/>
          <p:cNvSpPr/>
          <p:nvPr/>
        </p:nvSpPr>
        <p:spPr>
          <a:xfrm>
            <a:off x="566928" y="2926079"/>
            <a:ext cx="5440680" cy="438912"/>
          </a:xfrm>
          <a:prstGeom prst="rect">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6656" y="2926079"/>
            <a:ext cx="1831947" cy="438912"/>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東京23区</a:t>
            </a:r>
          </a:p>
        </p:txBody>
      </p:sp>
      <p:sp>
        <p:nvSpPr>
          <p:cNvPr id="19" name="TextBox 18"/>
          <p:cNvSpPr txBox="1"/>
          <p:nvPr/>
        </p:nvSpPr>
        <p:spPr>
          <a:xfrm>
            <a:off x="2728059" y="2926079"/>
            <a:ext cx="2099522" cy="438912"/>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2025/09・12</a:t>
            </a:r>
          </a:p>
        </p:txBody>
      </p:sp>
      <p:sp>
        <p:nvSpPr>
          <p:cNvPr id="20" name="TextBox 19"/>
          <p:cNvSpPr txBox="1"/>
          <p:nvPr/>
        </p:nvSpPr>
        <p:spPr>
          <a:xfrm>
            <a:off x="5047038" y="2926079"/>
            <a:ext cx="850841" cy="438912"/>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計5件</a:t>
            </a:r>
          </a:p>
        </p:txBody>
      </p:sp>
      <p:sp>
        <p:nvSpPr>
          <p:cNvPr id="21" name="Rectangle 20"/>
          <p:cNvSpPr/>
          <p:nvPr/>
        </p:nvSpPr>
        <p:spPr>
          <a:xfrm>
            <a:off x="566928" y="3364991"/>
            <a:ext cx="5440680" cy="43891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76656" y="3364991"/>
            <a:ext cx="1831947" cy="438912"/>
          </a:xfrm>
          <a:prstGeom prst="rect">
            <a:avLst/>
          </a:prstGeom>
          <a:noFill/>
        </p:spPr>
        <p:txBody>
          <a:bodyPr wrap="square" lIns="0" rIns="0" tIns="0" bIns="0" anchor="ctr">
            <a:spAutoFit/>
          </a:bodyPr>
          <a:lstStyle/>
          <a:p>
            <a:pPr algn="l">
              <a:lnSpc>
                <a:spcPct val="100000"/>
              </a:lnSpc>
              <a:spcAft>
                <a:spcPts val="0"/>
              </a:spcAft>
              <a:defRPr sz="1150" b="1">
                <a:solidFill>
                  <a:srgbClr val="405D7B"/>
                </a:solidFill>
                <a:latin typeface="Meiryo"/>
              </a:defRPr>
            </a:pPr>
            <a:r>
              <a:rPr sz="1150" b="1">
                <a:solidFill>
                  <a:srgbClr val="405D7B"/>
                </a:solidFill>
                <a:latin typeface="Meiryo"/>
              </a:rPr>
              <a:t>3都県へ拡大</a:t>
            </a:r>
          </a:p>
        </p:txBody>
      </p:sp>
      <p:sp>
        <p:nvSpPr>
          <p:cNvPr id="23" name="TextBox 22"/>
          <p:cNvSpPr txBox="1"/>
          <p:nvPr/>
        </p:nvSpPr>
        <p:spPr>
          <a:xfrm>
            <a:off x="2728059" y="3364991"/>
            <a:ext cx="2099522"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2026/07</a:t>
            </a:r>
          </a:p>
        </p:txBody>
      </p:sp>
      <p:sp>
        <p:nvSpPr>
          <p:cNvPr id="24" name="TextBox 23"/>
          <p:cNvSpPr txBox="1"/>
          <p:nvPr/>
        </p:nvSpPr>
        <p:spPr>
          <a:xfrm>
            <a:off x="5047038" y="3364991"/>
            <a:ext cx="850841"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0件</a:t>
            </a:r>
          </a:p>
        </p:txBody>
      </p:sp>
      <p:sp>
        <p:nvSpPr>
          <p:cNvPr id="25" name="TextBox 24"/>
          <p:cNvSpPr txBox="1"/>
          <p:nvPr/>
        </p:nvSpPr>
        <p:spPr>
          <a:xfrm>
            <a:off x="6190488" y="1737360"/>
            <a:ext cx="5440680" cy="274320"/>
          </a:xfrm>
          <a:prstGeom prst="rect">
            <a:avLst/>
          </a:prstGeom>
          <a:noFill/>
        </p:spPr>
        <p:txBody>
          <a:bodyPr wrap="square" lIns="0" rIns="0" tIns="0" bIns="0" anchor="t">
            <a:spAutoFit/>
          </a:bodyPr>
          <a:lstStyle/>
          <a:p>
            <a:pPr algn="l">
              <a:lnSpc>
                <a:spcPct val="140000"/>
              </a:lnSpc>
              <a:spcAft>
                <a:spcPts val="300"/>
              </a:spcAft>
              <a:defRPr sz="1300" b="1">
                <a:solidFill>
                  <a:srgbClr val="2A2E33"/>
                </a:solidFill>
                <a:latin typeface="Meiryo"/>
              </a:defRPr>
            </a:pPr>
            <a:r>
              <a:rPr sz="1300" b="1">
                <a:solidFill>
                  <a:srgbClr val="2A2E33"/>
                </a:solidFill>
                <a:latin typeface="Meiryo"/>
              </a:rPr>
              <a:t>媒体構成の変化（配信費ベース）</a:t>
            </a:r>
          </a:p>
        </p:txBody>
      </p:sp>
      <p:sp>
        <p:nvSpPr>
          <p:cNvPr id="26" name="Rectangle 25"/>
          <p:cNvSpPr/>
          <p:nvPr/>
        </p:nvSpPr>
        <p:spPr>
          <a:xfrm>
            <a:off x="6190488" y="2066543"/>
            <a:ext cx="5440680" cy="42062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00216" y="2066543"/>
            <a:ext cx="1503426" cy="420624"/>
          </a:xfrm>
          <a:prstGeom prst="rect">
            <a:avLst/>
          </a:prstGeom>
          <a:noFill/>
        </p:spPr>
        <p:txBody>
          <a:bodyPr wrap="square" lIns="0" rIns="0" tIns="0" bIns="0" anchor="ctr">
            <a:spAutoFit/>
          </a:bodyPr>
          <a:lstStyle/>
          <a:p>
            <a:pPr algn="l">
              <a:lnSpc>
                <a:spcPct val="100000"/>
              </a:lnSpc>
              <a:spcAft>
                <a:spcPts val="0"/>
              </a:spcAft>
              <a:defRPr sz="1150" b="1">
                <a:solidFill>
                  <a:srgbClr val="FFFFFF"/>
                </a:solidFill>
                <a:latin typeface="Meiryo"/>
              </a:defRPr>
            </a:pPr>
          </a:p>
        </p:txBody>
      </p:sp>
      <p:sp>
        <p:nvSpPr>
          <p:cNvPr id="28" name="TextBox 27"/>
          <p:cNvSpPr txBox="1"/>
          <p:nvPr/>
        </p:nvSpPr>
        <p:spPr>
          <a:xfrm>
            <a:off x="8023097" y="2066543"/>
            <a:ext cx="687324" cy="420624"/>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Google</a:t>
            </a:r>
          </a:p>
        </p:txBody>
      </p:sp>
      <p:sp>
        <p:nvSpPr>
          <p:cNvPr id="29" name="TextBox 28"/>
          <p:cNvSpPr txBox="1"/>
          <p:nvPr/>
        </p:nvSpPr>
        <p:spPr>
          <a:xfrm>
            <a:off x="8929878" y="2066543"/>
            <a:ext cx="687324" cy="420624"/>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Meta</a:t>
            </a:r>
          </a:p>
        </p:txBody>
      </p:sp>
      <p:sp>
        <p:nvSpPr>
          <p:cNvPr id="30" name="TextBox 29"/>
          <p:cNvSpPr txBox="1"/>
          <p:nvPr/>
        </p:nvSpPr>
        <p:spPr>
          <a:xfrm>
            <a:off x="9836658" y="2066543"/>
            <a:ext cx="687324" cy="420624"/>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DV360</a:t>
            </a:r>
          </a:p>
        </p:txBody>
      </p:sp>
      <p:sp>
        <p:nvSpPr>
          <p:cNvPr id="31" name="TextBox 30"/>
          <p:cNvSpPr txBox="1"/>
          <p:nvPr/>
        </p:nvSpPr>
        <p:spPr>
          <a:xfrm>
            <a:off x="10743438" y="2066543"/>
            <a:ext cx="778002" cy="420624"/>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件数/月</a:t>
            </a:r>
          </a:p>
        </p:txBody>
      </p:sp>
      <p:sp>
        <p:nvSpPr>
          <p:cNvPr id="32" name="Rectangle 31"/>
          <p:cNvSpPr/>
          <p:nvPr/>
        </p:nvSpPr>
        <p:spPr>
          <a:xfrm>
            <a:off x="6190488" y="2487168"/>
            <a:ext cx="5440680" cy="43891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00216" y="2487168"/>
            <a:ext cx="1503426" cy="438912"/>
          </a:xfrm>
          <a:prstGeom prst="rect">
            <a:avLst/>
          </a:prstGeom>
          <a:noFill/>
        </p:spPr>
        <p:txBody>
          <a:bodyPr wrap="square" lIns="0" rIns="0" tIns="0" bIns="0" anchor="ctr">
            <a:spAutoFit/>
          </a:bodyPr>
          <a:lstStyle/>
          <a:p>
            <a:pPr algn="l">
              <a:lnSpc>
                <a:spcPct val="100000"/>
              </a:lnSpc>
              <a:spcAft>
                <a:spcPts val="0"/>
              </a:spcAft>
              <a:defRPr sz="1150" b="1">
                <a:solidFill>
                  <a:srgbClr val="405D7B"/>
                </a:solidFill>
                <a:latin typeface="Meiryo"/>
              </a:defRPr>
            </a:pPr>
            <a:r>
              <a:rPr sz="1150" b="1">
                <a:solidFill>
                  <a:srgbClr val="405D7B"/>
                </a:solidFill>
                <a:latin typeface="Meiryo"/>
              </a:rPr>
              <a:t>第1期 月平均</a:t>
            </a:r>
          </a:p>
        </p:txBody>
      </p:sp>
      <p:sp>
        <p:nvSpPr>
          <p:cNvPr id="34" name="TextBox 33"/>
          <p:cNvSpPr txBox="1"/>
          <p:nvPr/>
        </p:nvSpPr>
        <p:spPr>
          <a:xfrm>
            <a:off x="8023097" y="2487168"/>
            <a:ext cx="687324"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38%</a:t>
            </a:r>
          </a:p>
        </p:txBody>
      </p:sp>
      <p:sp>
        <p:nvSpPr>
          <p:cNvPr id="35" name="TextBox 34"/>
          <p:cNvSpPr txBox="1"/>
          <p:nvPr/>
        </p:nvSpPr>
        <p:spPr>
          <a:xfrm>
            <a:off x="8929878" y="2487168"/>
            <a:ext cx="687324" cy="438912"/>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33%</a:t>
            </a:r>
          </a:p>
        </p:txBody>
      </p:sp>
      <p:sp>
        <p:nvSpPr>
          <p:cNvPr id="36" name="TextBox 35"/>
          <p:cNvSpPr txBox="1"/>
          <p:nvPr/>
        </p:nvSpPr>
        <p:spPr>
          <a:xfrm>
            <a:off x="9836658" y="2487168"/>
            <a:ext cx="687324" cy="438912"/>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28%</a:t>
            </a:r>
          </a:p>
        </p:txBody>
      </p:sp>
      <p:sp>
        <p:nvSpPr>
          <p:cNvPr id="37" name="TextBox 36"/>
          <p:cNvSpPr txBox="1"/>
          <p:nvPr/>
        </p:nvSpPr>
        <p:spPr>
          <a:xfrm>
            <a:off x="10743438" y="2487168"/>
            <a:ext cx="778002"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2.4件</a:t>
            </a:r>
          </a:p>
        </p:txBody>
      </p:sp>
      <p:sp>
        <p:nvSpPr>
          <p:cNvPr id="38" name="Rectangle 37"/>
          <p:cNvSpPr/>
          <p:nvPr/>
        </p:nvSpPr>
        <p:spPr>
          <a:xfrm>
            <a:off x="6190488" y="2926079"/>
            <a:ext cx="5440680" cy="43891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00216" y="2926079"/>
            <a:ext cx="1503426" cy="438912"/>
          </a:xfrm>
          <a:prstGeom prst="rect">
            <a:avLst/>
          </a:prstGeom>
          <a:noFill/>
        </p:spPr>
        <p:txBody>
          <a:bodyPr wrap="square" lIns="0" rIns="0" tIns="0" bIns="0" anchor="ctr">
            <a:spAutoFit/>
          </a:bodyPr>
          <a:lstStyle/>
          <a:p>
            <a:pPr algn="l">
              <a:lnSpc>
                <a:spcPct val="100000"/>
              </a:lnSpc>
              <a:spcAft>
                <a:spcPts val="0"/>
              </a:spcAft>
              <a:defRPr sz="1150" b="1">
                <a:solidFill>
                  <a:srgbClr val="405D7B"/>
                </a:solidFill>
                <a:latin typeface="Meiryo"/>
              </a:defRPr>
            </a:pPr>
            <a:r>
              <a:rPr sz="1150" b="1">
                <a:solidFill>
                  <a:srgbClr val="405D7B"/>
                </a:solidFill>
                <a:latin typeface="Meiryo"/>
              </a:rPr>
              <a:t>第2期 月平均</a:t>
            </a:r>
          </a:p>
        </p:txBody>
      </p:sp>
      <p:sp>
        <p:nvSpPr>
          <p:cNvPr id="40" name="TextBox 39"/>
          <p:cNvSpPr txBox="1"/>
          <p:nvPr/>
        </p:nvSpPr>
        <p:spPr>
          <a:xfrm>
            <a:off x="8023097" y="2926079"/>
            <a:ext cx="687324"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16%</a:t>
            </a:r>
          </a:p>
        </p:txBody>
      </p:sp>
      <p:sp>
        <p:nvSpPr>
          <p:cNvPr id="41" name="TextBox 40"/>
          <p:cNvSpPr txBox="1"/>
          <p:nvPr/>
        </p:nvSpPr>
        <p:spPr>
          <a:xfrm>
            <a:off x="8929878" y="2926079"/>
            <a:ext cx="687324" cy="438912"/>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42%</a:t>
            </a:r>
          </a:p>
        </p:txBody>
      </p:sp>
      <p:sp>
        <p:nvSpPr>
          <p:cNvPr id="42" name="TextBox 41"/>
          <p:cNvSpPr txBox="1"/>
          <p:nvPr/>
        </p:nvSpPr>
        <p:spPr>
          <a:xfrm>
            <a:off x="9836658" y="2926079"/>
            <a:ext cx="687324" cy="438912"/>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42%</a:t>
            </a:r>
          </a:p>
        </p:txBody>
      </p:sp>
      <p:sp>
        <p:nvSpPr>
          <p:cNvPr id="43" name="TextBox 42"/>
          <p:cNvSpPr txBox="1"/>
          <p:nvPr/>
        </p:nvSpPr>
        <p:spPr>
          <a:xfrm>
            <a:off x="10743438" y="2926079"/>
            <a:ext cx="778002"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0.67件</a:t>
            </a:r>
          </a:p>
        </p:txBody>
      </p:sp>
      <p:sp>
        <p:nvSpPr>
          <p:cNvPr id="44" name="Rectangle 43"/>
          <p:cNvSpPr/>
          <p:nvPr/>
        </p:nvSpPr>
        <p:spPr>
          <a:xfrm>
            <a:off x="6190488" y="3364991"/>
            <a:ext cx="544068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00216" y="3364991"/>
            <a:ext cx="1503426" cy="438912"/>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2026年7月</a:t>
            </a:r>
          </a:p>
        </p:txBody>
      </p:sp>
      <p:sp>
        <p:nvSpPr>
          <p:cNvPr id="46" name="TextBox 45"/>
          <p:cNvSpPr txBox="1"/>
          <p:nvPr/>
        </p:nvSpPr>
        <p:spPr>
          <a:xfrm>
            <a:off x="8023097" y="3364991"/>
            <a:ext cx="687324" cy="438912"/>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17%</a:t>
            </a:r>
          </a:p>
        </p:txBody>
      </p:sp>
      <p:sp>
        <p:nvSpPr>
          <p:cNvPr id="47" name="TextBox 46"/>
          <p:cNvSpPr txBox="1"/>
          <p:nvPr/>
        </p:nvSpPr>
        <p:spPr>
          <a:xfrm>
            <a:off x="8929878" y="3364991"/>
            <a:ext cx="687324"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83%</a:t>
            </a:r>
          </a:p>
        </p:txBody>
      </p:sp>
      <p:sp>
        <p:nvSpPr>
          <p:cNvPr id="48" name="TextBox 47"/>
          <p:cNvSpPr txBox="1"/>
          <p:nvPr/>
        </p:nvSpPr>
        <p:spPr>
          <a:xfrm>
            <a:off x="9836658" y="3364991"/>
            <a:ext cx="687324" cy="438912"/>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0%</a:t>
            </a:r>
          </a:p>
        </p:txBody>
      </p:sp>
      <p:sp>
        <p:nvSpPr>
          <p:cNvPr id="49" name="TextBox 48"/>
          <p:cNvSpPr txBox="1"/>
          <p:nvPr/>
        </p:nvSpPr>
        <p:spPr>
          <a:xfrm>
            <a:off x="10743438" y="3364991"/>
            <a:ext cx="778002" cy="438912"/>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0件</a:t>
            </a:r>
          </a:p>
        </p:txBody>
      </p:sp>
      <p:sp>
        <p:nvSpPr>
          <p:cNvPr id="50" name="Rectangle 49"/>
          <p:cNvSpPr/>
          <p:nvPr/>
        </p:nvSpPr>
        <p:spPr>
          <a:xfrm>
            <a:off x="566928" y="4059935"/>
            <a:ext cx="5440680" cy="133502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566928" y="4059935"/>
            <a:ext cx="544068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77240" y="4242816"/>
            <a:ext cx="5020056"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所見</a:t>
            </a:r>
          </a:p>
        </p:txBody>
      </p:sp>
      <p:sp>
        <p:nvSpPr>
          <p:cNvPr id="53" name="TextBox 52"/>
          <p:cNvSpPr txBox="1"/>
          <p:nvPr/>
        </p:nvSpPr>
        <p:spPr>
          <a:xfrm>
            <a:off x="777240" y="4480559"/>
            <a:ext cx="5020056"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エリアを広げた月に0件</a:t>
            </a:r>
          </a:p>
        </p:txBody>
      </p:sp>
      <p:sp>
        <p:nvSpPr>
          <p:cNvPr id="54" name="TextBox 53"/>
          <p:cNvSpPr txBox="1"/>
          <p:nvPr/>
        </p:nvSpPr>
        <p:spPr>
          <a:xfrm>
            <a:off x="804672" y="4919471"/>
            <a:ext cx="4965192" cy="310896"/>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最良月は2026年3月（半径48〜49km・5件・獲得単価¥50,000）。3都県に広げた7月は0件でした。</a:t>
            </a:r>
          </a:p>
        </p:txBody>
      </p:sp>
      <p:sp>
        <p:nvSpPr>
          <p:cNvPr id="55" name="Rectangle 54"/>
          <p:cNvSpPr/>
          <p:nvPr/>
        </p:nvSpPr>
        <p:spPr>
          <a:xfrm>
            <a:off x="6190488" y="4059935"/>
            <a:ext cx="5440680" cy="133502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6190488" y="4059935"/>
            <a:ext cx="544068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400800" y="4242816"/>
            <a:ext cx="5020056"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所見</a:t>
            </a:r>
          </a:p>
        </p:txBody>
      </p:sp>
      <p:sp>
        <p:nvSpPr>
          <p:cNvPr id="58" name="TextBox 57"/>
          <p:cNvSpPr txBox="1"/>
          <p:nvPr/>
        </p:nvSpPr>
        <p:spPr>
          <a:xfrm>
            <a:off x="6400800" y="4480559"/>
            <a:ext cx="5020056"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Google広告が半減しました</a:t>
            </a:r>
          </a:p>
        </p:txBody>
      </p:sp>
      <p:sp>
        <p:nvSpPr>
          <p:cNvPr id="59" name="TextBox 58"/>
          <p:cNvSpPr txBox="1"/>
          <p:nvPr/>
        </p:nvSpPr>
        <p:spPr>
          <a:xfrm>
            <a:off x="6428232" y="4919471"/>
            <a:ext cx="4965192" cy="310896"/>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月¥75,000から¥40,000へ。7月はMeta広告に83%が集中。最良月でさえMeta広告は¥40,000でした。</a:t>
            </a:r>
          </a:p>
        </p:txBody>
      </p:sp>
      <p:sp>
        <p:nvSpPr>
          <p:cNvPr id="60" name="TextBox 59"/>
          <p:cNvSpPr txBox="1"/>
          <p:nvPr/>
        </p:nvSpPr>
        <p:spPr>
          <a:xfrm>
            <a:off x="566928" y="5596128"/>
            <a:ext cx="11064240" cy="365760"/>
          </a:xfrm>
          <a:prstGeom prst="rect">
            <a:avLst/>
          </a:prstGeom>
          <a:noFill/>
        </p:spPr>
        <p:txBody>
          <a:bodyPr wrap="square" lIns="0" rIns="0" tIns="0" bIns="0" anchor="t">
            <a:spAutoFit/>
          </a:bodyPr>
          <a:lstStyle/>
          <a:p>
            <a:pPr algn="l">
              <a:lnSpc>
                <a:spcPct val="135000"/>
              </a:lnSpc>
              <a:spcAft>
                <a:spcPts val="300"/>
              </a:spcAft>
              <a:defRPr sz="950" b="0">
                <a:solidFill>
                  <a:srgbClr val="8A929C"/>
                </a:solidFill>
                <a:latin typeface="Meiryo"/>
              </a:defRPr>
            </a:pPr>
            <a:r>
              <a:rPr sz="950" b="0">
                <a:solidFill>
                  <a:srgbClr val="8A929C"/>
                </a:solidFill>
                <a:latin typeface="Meiryo"/>
              </a:rPr>
              <a:t>〈実測〉Meta Marketing API の月別広告セット設定／ご請求データの配信費構成比。</a:t>
            </a:r>
          </a:p>
          <a:p>
            <a:pPr algn="l">
              <a:lnSpc>
                <a:spcPct val="135000"/>
              </a:lnSpc>
              <a:spcAft>
                <a:spcPts val="300"/>
              </a:spcAft>
              <a:defRPr sz="950" b="0">
                <a:solidFill>
                  <a:srgbClr val="8A929C"/>
                </a:solidFill>
                <a:latin typeface="Meiryo"/>
              </a:defRPr>
            </a:pPr>
            <a:r>
              <a:rPr sz="950" b="0">
                <a:solidFill>
                  <a:srgbClr val="8A929C"/>
                </a:solidFill>
                <a:latin typeface="Meiryo"/>
              </a:rPr>
              <a:t>〈両論併記〉7月1日にはエリア拡大に加えP-MAX移行・DV360停止も同時に発生しており、エリア単独の因果は証明できません。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2 分析</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買ったクリックが、サイトに届いていません</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06</a:t>
            </a:r>
          </a:p>
        </p:txBody>
      </p:sp>
      <p:sp>
        <p:nvSpPr>
          <p:cNvPr id="8" name="Rectangle 7"/>
          <p:cNvSpPr/>
          <p:nvPr/>
        </p:nvSpPr>
        <p:spPr>
          <a:xfrm>
            <a:off x="566928" y="1737360"/>
            <a:ext cx="11064240" cy="585216"/>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737360"/>
            <a:ext cx="1106424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737360"/>
            <a:ext cx="11064240" cy="585216"/>
          </a:xfrm>
          <a:prstGeom prst="rect">
            <a:avLst/>
          </a:prstGeom>
          <a:noFill/>
        </p:spPr>
        <p:txBody>
          <a:bodyPr wrap="square" lIns="0" rIns="0" tIns="0" bIns="0" anchor="ctr">
            <a:spAutoFit/>
          </a:bodyPr>
          <a:lstStyle/>
          <a:p>
            <a:pPr algn="ctr">
              <a:lnSpc>
                <a:spcPct val="140000"/>
              </a:lnSpc>
              <a:spcAft>
                <a:spcPts val="300"/>
              </a:spcAft>
              <a:defRPr sz="1550" b="1">
                <a:solidFill>
                  <a:srgbClr val="2A2E33"/>
                </a:solidFill>
                <a:latin typeface="Meiryo"/>
              </a:defRPr>
            </a:pPr>
            <a:r>
              <a:rPr sz="1550" b="1">
                <a:solidFill>
                  <a:srgbClr val="2A2E33"/>
                </a:solidFill>
                <a:latin typeface="Meiryo"/>
              </a:rPr>
              <a:t>サイト到達率　＝　GA4のセッション数　÷　広告のクリック数</a:t>
            </a:r>
          </a:p>
        </p:txBody>
      </p:sp>
      <p:sp>
        <p:nvSpPr>
          <p:cNvPr id="11" name="Rectangle 10"/>
          <p:cNvSpPr/>
          <p:nvPr/>
        </p:nvSpPr>
        <p:spPr>
          <a:xfrm>
            <a:off x="566928" y="2542032"/>
            <a:ext cx="544068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66928" y="2542032"/>
            <a:ext cx="544068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8096" y="2743200"/>
            <a:ext cx="503834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LINEヤフー広告</a:t>
            </a:r>
          </a:p>
        </p:txBody>
      </p:sp>
      <p:sp>
        <p:nvSpPr>
          <p:cNvPr id="14" name="TextBox 13"/>
          <p:cNvSpPr txBox="1"/>
          <p:nvPr/>
        </p:nvSpPr>
        <p:spPr>
          <a:xfrm>
            <a:off x="768096" y="3035808"/>
            <a:ext cx="5038344" cy="548640"/>
          </a:xfrm>
          <a:prstGeom prst="rect">
            <a:avLst/>
          </a:prstGeom>
          <a:noFill/>
        </p:spPr>
        <p:txBody>
          <a:bodyPr wrap="square" lIns="0" rIns="0" tIns="0" bIns="0" anchor="t">
            <a:spAutoFit/>
          </a:bodyPr>
          <a:lstStyle/>
          <a:p>
            <a:pPr algn="l">
              <a:lnSpc>
                <a:spcPct val="110000"/>
              </a:lnSpc>
              <a:spcAft>
                <a:spcPts val="300"/>
              </a:spcAft>
              <a:defRPr sz="3200" b="1">
                <a:solidFill>
                  <a:srgbClr val="405D7B"/>
                </a:solidFill>
                <a:latin typeface="Meiryo"/>
              </a:defRPr>
            </a:pPr>
            <a:r>
              <a:rPr sz="3200" b="1">
                <a:solidFill>
                  <a:srgbClr val="405D7B"/>
                </a:solidFill>
                <a:latin typeface="Meiryo"/>
              </a:rPr>
              <a:t>43.0%</a:t>
            </a:r>
          </a:p>
        </p:txBody>
      </p:sp>
      <p:sp>
        <p:nvSpPr>
          <p:cNvPr id="15" name="TextBox 14"/>
          <p:cNvSpPr txBox="1"/>
          <p:nvPr/>
        </p:nvSpPr>
        <p:spPr>
          <a:xfrm>
            <a:off x="768096" y="3401567"/>
            <a:ext cx="503834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クリック率0.12%。ディスプレイとして健全な水準</a:t>
            </a:r>
          </a:p>
        </p:txBody>
      </p:sp>
      <p:sp>
        <p:nvSpPr>
          <p:cNvPr id="16" name="Rectangle 15"/>
          <p:cNvSpPr/>
          <p:nvPr/>
        </p:nvSpPr>
        <p:spPr>
          <a:xfrm>
            <a:off x="6190488" y="2542032"/>
            <a:ext cx="544068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190488" y="2542032"/>
            <a:ext cx="544068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91656" y="2743200"/>
            <a:ext cx="503834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DV360</a:t>
            </a:r>
          </a:p>
        </p:txBody>
      </p:sp>
      <p:sp>
        <p:nvSpPr>
          <p:cNvPr id="19" name="TextBox 18"/>
          <p:cNvSpPr txBox="1"/>
          <p:nvPr/>
        </p:nvSpPr>
        <p:spPr>
          <a:xfrm>
            <a:off x="6391656" y="3035808"/>
            <a:ext cx="5038344" cy="548640"/>
          </a:xfrm>
          <a:prstGeom prst="rect">
            <a:avLst/>
          </a:prstGeom>
          <a:noFill/>
        </p:spPr>
        <p:txBody>
          <a:bodyPr wrap="square" lIns="0" rIns="0" tIns="0" bIns="0" anchor="t">
            <a:spAutoFit/>
          </a:bodyPr>
          <a:lstStyle/>
          <a:p>
            <a:pPr algn="l">
              <a:lnSpc>
                <a:spcPct val="110000"/>
              </a:lnSpc>
              <a:spcAft>
                <a:spcPts val="300"/>
              </a:spcAft>
              <a:defRPr sz="3200" b="1">
                <a:solidFill>
                  <a:srgbClr val="A96933"/>
                </a:solidFill>
                <a:latin typeface="Meiryo"/>
              </a:defRPr>
            </a:pPr>
            <a:r>
              <a:rPr sz="3200" b="1">
                <a:solidFill>
                  <a:srgbClr val="A96933"/>
                </a:solidFill>
                <a:latin typeface="Meiryo"/>
              </a:rPr>
              <a:t>15.9%</a:t>
            </a:r>
          </a:p>
        </p:txBody>
      </p:sp>
      <p:sp>
        <p:nvSpPr>
          <p:cNvPr id="20" name="TextBox 19"/>
          <p:cNvSpPr txBox="1"/>
          <p:nvPr/>
        </p:nvSpPr>
        <p:spPr>
          <a:xfrm>
            <a:off x="6391656" y="3401567"/>
            <a:ext cx="503834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クリック率11.30%。誤タップが大半を占めます</a:t>
            </a:r>
          </a:p>
        </p:txBody>
      </p:sp>
      <p:sp>
        <p:nvSpPr>
          <p:cNvPr id="21" name="Rectangle 20"/>
          <p:cNvSpPr/>
          <p:nvPr/>
        </p:nvSpPr>
        <p:spPr>
          <a:xfrm>
            <a:off x="566928" y="4096512"/>
            <a:ext cx="5440680" cy="12984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66928" y="4096512"/>
            <a:ext cx="544068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4279392"/>
            <a:ext cx="5020056"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内訳</a:t>
            </a:r>
          </a:p>
        </p:txBody>
      </p:sp>
      <p:sp>
        <p:nvSpPr>
          <p:cNvPr id="24" name="TextBox 23"/>
          <p:cNvSpPr txBox="1"/>
          <p:nvPr/>
        </p:nvSpPr>
        <p:spPr>
          <a:xfrm>
            <a:off x="777240" y="4517136"/>
            <a:ext cx="5020056"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65面がクリックの61%を占めます</a:t>
            </a:r>
          </a:p>
        </p:txBody>
      </p:sp>
      <p:sp>
        <p:nvSpPr>
          <p:cNvPr id="25" name="TextBox 24"/>
          <p:cNvSpPr txBox="1"/>
          <p:nvPr/>
        </p:nvSpPr>
        <p:spPr>
          <a:xfrm>
            <a:off x="804672" y="4956048"/>
            <a:ext cx="4965192" cy="274320"/>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クリック率5%超の配信面が65面あり、配信費の47%を使っています。除外したうえで再開します。</a:t>
            </a:r>
          </a:p>
        </p:txBody>
      </p:sp>
      <p:sp>
        <p:nvSpPr>
          <p:cNvPr id="26" name="Rectangle 25"/>
          <p:cNvSpPr/>
          <p:nvPr/>
        </p:nvSpPr>
        <p:spPr>
          <a:xfrm>
            <a:off x="6190488" y="4096512"/>
            <a:ext cx="5440680" cy="12984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190488" y="4096512"/>
            <a:ext cx="5440680" cy="45720"/>
          </a:xfrm>
          <a:prstGeom prst="rect">
            <a:avLst/>
          </a:prstGeom>
          <a:solidFill>
            <a:srgbClr val="6C75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0" y="4279392"/>
            <a:ext cx="5020056"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両論併記</a:t>
            </a:r>
          </a:p>
        </p:txBody>
      </p:sp>
      <p:sp>
        <p:nvSpPr>
          <p:cNvPr id="29" name="TextBox 28"/>
          <p:cNvSpPr txBox="1"/>
          <p:nvPr/>
        </p:nvSpPr>
        <p:spPr>
          <a:xfrm>
            <a:off x="6400800" y="4517136"/>
            <a:ext cx="5020056"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良質な面もあります</a:t>
            </a:r>
          </a:p>
        </p:txBody>
      </p:sp>
      <p:sp>
        <p:nvSpPr>
          <p:cNvPr id="30" name="TextBox 29"/>
          <p:cNvSpPr txBox="1"/>
          <p:nvPr/>
        </p:nvSpPr>
        <p:spPr>
          <a:xfrm>
            <a:off x="6428232" y="4956048"/>
            <a:ext cx="4965192" cy="274320"/>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MILE mobileは平均滞在28.7秒。アプリ面が一律に悪いわけではなく、面ごとの選別が有効です。</a:t>
            </a:r>
          </a:p>
        </p:txBody>
      </p:sp>
      <p:sp>
        <p:nvSpPr>
          <p:cNvPr id="31" name="TextBox 30"/>
          <p:cNvSpPr txBox="1"/>
          <p:nvPr/>
        </p:nvSpPr>
        <p:spPr>
          <a:xfrm>
            <a:off x="566928" y="5596128"/>
            <a:ext cx="11064240" cy="365760"/>
          </a:xfrm>
          <a:prstGeom prst="rect">
            <a:avLst/>
          </a:prstGeom>
          <a:noFill/>
        </p:spPr>
        <p:txBody>
          <a:bodyPr wrap="square" lIns="0" rIns="0" tIns="0" bIns="0" anchor="t">
            <a:spAutoFit/>
          </a:bodyPr>
          <a:lstStyle/>
          <a:p>
            <a:pPr algn="l">
              <a:lnSpc>
                <a:spcPct val="135000"/>
              </a:lnSpc>
              <a:spcAft>
                <a:spcPts val="300"/>
              </a:spcAft>
              <a:defRPr sz="950" b="0">
                <a:solidFill>
                  <a:srgbClr val="8A929C"/>
                </a:solidFill>
                <a:latin typeface="Meiryo"/>
              </a:defRPr>
            </a:pPr>
            <a:r>
              <a:rPr sz="950" b="0">
                <a:solidFill>
                  <a:srgbClr val="8A929C"/>
                </a:solidFill>
                <a:latin typeface="Meiryo"/>
              </a:rPr>
              <a:t>〈実測〉クリック数＝各媒体API／セッション数＝GA4。DV360は全配信面9,833行を取得して突合。</a:t>
            </a:r>
          </a:p>
          <a:p>
            <a:pPr algn="l">
              <a:lnSpc>
                <a:spcPct val="135000"/>
              </a:lnSpc>
              <a:spcAft>
                <a:spcPts val="300"/>
              </a:spcAft>
              <a:defRPr sz="950" b="0">
                <a:solidFill>
                  <a:srgbClr val="8A929C"/>
                </a:solidFill>
                <a:latin typeface="Meiryo"/>
              </a:defRPr>
            </a:pPr>
            <a:r>
              <a:rPr sz="950" b="0">
                <a:solidFill>
                  <a:srgbClr val="8A929C"/>
                </a:solidFill>
                <a:latin typeface="Meiryo"/>
              </a:rPr>
              <a:t>〈業界一般〉ディスプレイ広告のクリック率は通常0.1〜0.5%程度とされます。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3 提案</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3つの課題と打ち手</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07</a:t>
            </a:r>
          </a:p>
        </p:txBody>
      </p:sp>
      <p:sp>
        <p:nvSpPr>
          <p:cNvPr id="8" name="TextBox 7"/>
          <p:cNvSpPr txBox="1"/>
          <p:nvPr/>
        </p:nvSpPr>
        <p:spPr>
          <a:xfrm>
            <a:off x="566928" y="1536192"/>
            <a:ext cx="11064240" cy="274320"/>
          </a:xfrm>
          <a:prstGeom prst="rect">
            <a:avLst/>
          </a:prstGeom>
          <a:noFill/>
        </p:spPr>
        <p:txBody>
          <a:bodyPr wrap="square" lIns="0" rIns="0" tIns="0" bIns="0" anchor="t">
            <a:spAutoFit/>
          </a:bodyPr>
          <a:lstStyle/>
          <a:p>
            <a:pPr algn="l">
              <a:lnSpc>
                <a:spcPct val="140000"/>
              </a:lnSpc>
              <a:spcAft>
                <a:spcPts val="300"/>
              </a:spcAft>
              <a:defRPr sz="1150" b="0">
                <a:solidFill>
                  <a:srgbClr val="8A929C"/>
                </a:solidFill>
                <a:latin typeface="Meiryo"/>
              </a:defRPr>
            </a:pPr>
            <a:r>
              <a:rPr sz="1150" b="0">
                <a:solidFill>
                  <a:srgbClr val="8A929C"/>
                </a:solidFill>
                <a:latin typeface="Meiryo"/>
              </a:rPr>
              <a:t>いずれも「広告を増やす／減らす」ではなく、「向き先を変える」ことで対応できます。</a:t>
            </a:r>
          </a:p>
        </p:txBody>
      </p:sp>
      <p:sp>
        <p:nvSpPr>
          <p:cNvPr id="9" name="Rectangle 8"/>
          <p:cNvSpPr/>
          <p:nvPr/>
        </p:nvSpPr>
        <p:spPr>
          <a:xfrm>
            <a:off x="566928" y="2029967"/>
            <a:ext cx="4754880"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2029967"/>
            <a:ext cx="475488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2231136"/>
            <a:ext cx="1188720" cy="219456"/>
          </a:xfrm>
          <a:prstGeom prst="rect">
            <a:avLst/>
          </a:prstGeom>
          <a:noFill/>
        </p:spPr>
        <p:txBody>
          <a:bodyPr wrap="square" lIns="0" rIns="0" tIns="0" bIns="0" anchor="t">
            <a:spAutoFit/>
          </a:bodyPr>
          <a:lstStyle/>
          <a:p>
            <a:pPr algn="l">
              <a:lnSpc>
                <a:spcPct val="140000"/>
              </a:lnSpc>
              <a:spcAft>
                <a:spcPts val="300"/>
              </a:spcAft>
              <a:defRPr sz="1050" b="1">
                <a:solidFill>
                  <a:srgbClr val="A96933"/>
                </a:solidFill>
                <a:latin typeface="Meiryo"/>
              </a:defRPr>
            </a:pPr>
            <a:r>
              <a:rPr sz="1050" b="1">
                <a:solidFill>
                  <a:srgbClr val="A96933"/>
                </a:solidFill>
                <a:latin typeface="Meiryo"/>
              </a:rPr>
              <a:t>課題 01</a:t>
            </a:r>
          </a:p>
        </p:txBody>
      </p:sp>
      <p:sp>
        <p:nvSpPr>
          <p:cNvPr id="12" name="TextBox 11"/>
          <p:cNvSpPr txBox="1"/>
          <p:nvPr/>
        </p:nvSpPr>
        <p:spPr>
          <a:xfrm>
            <a:off x="768096" y="2487168"/>
            <a:ext cx="4352544" cy="274320"/>
          </a:xfrm>
          <a:prstGeom prst="rect">
            <a:avLst/>
          </a:prstGeom>
          <a:noFill/>
        </p:spPr>
        <p:txBody>
          <a:bodyPr wrap="square" lIns="0" rIns="0" tIns="0" bIns="0" anchor="t">
            <a:spAutoFit/>
          </a:bodyPr>
          <a:lstStyle/>
          <a:p>
            <a:pPr algn="l">
              <a:lnSpc>
                <a:spcPct val="140000"/>
              </a:lnSpc>
              <a:spcAft>
                <a:spcPts val="300"/>
              </a:spcAft>
              <a:defRPr sz="1450" b="1">
                <a:solidFill>
                  <a:srgbClr val="2A2E33"/>
                </a:solidFill>
                <a:latin typeface="Meiryo"/>
              </a:defRPr>
            </a:pPr>
            <a:r>
              <a:rPr sz="1450" b="1">
                <a:solidFill>
                  <a:srgbClr val="2A2E33"/>
                </a:solidFill>
                <a:latin typeface="Meiryo"/>
              </a:rPr>
              <a:t>配信エリアが広すぎる</a:t>
            </a:r>
          </a:p>
        </p:txBody>
      </p:sp>
      <p:sp>
        <p:nvSpPr>
          <p:cNvPr id="13" name="TextBox 12"/>
          <p:cNvSpPr txBox="1"/>
          <p:nvPr/>
        </p:nvSpPr>
        <p:spPr>
          <a:xfrm>
            <a:off x="768096" y="2834639"/>
            <a:ext cx="4352544" cy="329184"/>
          </a:xfrm>
          <a:prstGeom prst="rect">
            <a:avLst/>
          </a:prstGeom>
          <a:noFill/>
        </p:spPr>
        <p:txBody>
          <a:bodyPr wrap="square" lIns="0" rIns="0" tIns="0" bIns="0" anchor="t">
            <a:spAutoFit/>
          </a:bodyPr>
          <a:lstStyle/>
          <a:p>
            <a:pPr algn="l">
              <a:lnSpc>
                <a:spcPct val="140000"/>
              </a:lnSpc>
              <a:spcAft>
                <a:spcPts val="300"/>
              </a:spcAft>
              <a:defRPr sz="950" b="0">
                <a:solidFill>
                  <a:srgbClr val="8A929C"/>
                </a:solidFill>
                <a:latin typeface="Meiryo"/>
              </a:defRPr>
            </a:pPr>
            <a:r>
              <a:rPr sz="950" b="0">
                <a:solidFill>
                  <a:srgbClr val="8A929C"/>
                </a:solidFill>
                <a:latin typeface="Meiryo"/>
              </a:rPr>
              <a:t>成果の53%が概ね70km圏／長野の集客は16.7%</a:t>
            </a:r>
          </a:p>
        </p:txBody>
      </p:sp>
      <p:sp>
        <p:nvSpPr>
          <p:cNvPr id="14" name="TextBox 13"/>
          <p:cNvSpPr txBox="1"/>
          <p:nvPr/>
        </p:nvSpPr>
        <p:spPr>
          <a:xfrm>
            <a:off x="5376672" y="2487168"/>
            <a:ext cx="365760" cy="310896"/>
          </a:xfrm>
          <a:prstGeom prst="rect">
            <a:avLst/>
          </a:prstGeom>
          <a:noFill/>
        </p:spPr>
        <p:txBody>
          <a:bodyPr wrap="square" lIns="0" rIns="0" tIns="0" bIns="0" anchor="t">
            <a:spAutoFit/>
          </a:bodyPr>
          <a:lstStyle/>
          <a:p>
            <a:pPr algn="ctr">
              <a:lnSpc>
                <a:spcPct val="140000"/>
              </a:lnSpc>
              <a:spcAft>
                <a:spcPts val="300"/>
              </a:spcAft>
              <a:defRPr sz="1400" b="1">
                <a:solidFill>
                  <a:srgbClr val="6C7582"/>
                </a:solidFill>
                <a:latin typeface="Meiryo"/>
              </a:defRPr>
            </a:pPr>
            <a:r>
              <a:rPr sz="1400" b="1">
                <a:solidFill>
                  <a:srgbClr val="6C7582"/>
                </a:solidFill>
                <a:latin typeface="Meiryo"/>
              </a:rPr>
              <a:t>▶</a:t>
            </a:r>
          </a:p>
        </p:txBody>
      </p:sp>
      <p:sp>
        <p:nvSpPr>
          <p:cNvPr id="15" name="Rectangle 14"/>
          <p:cNvSpPr/>
          <p:nvPr/>
        </p:nvSpPr>
        <p:spPr>
          <a:xfrm>
            <a:off x="5797296" y="2029967"/>
            <a:ext cx="5833871" cy="128016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16752" y="2267711"/>
            <a:ext cx="4279391" cy="274320"/>
          </a:xfrm>
          <a:prstGeom prst="rect">
            <a:avLst/>
          </a:prstGeom>
          <a:noFill/>
        </p:spPr>
        <p:txBody>
          <a:bodyPr wrap="square" lIns="0" rIns="0" tIns="0" bIns="0" anchor="t">
            <a:spAutoFit/>
          </a:bodyPr>
          <a:lstStyle/>
          <a:p>
            <a:pPr algn="l">
              <a:lnSpc>
                <a:spcPct val="140000"/>
              </a:lnSpc>
              <a:spcAft>
                <a:spcPts val="300"/>
              </a:spcAft>
              <a:defRPr sz="1450" b="1">
                <a:solidFill>
                  <a:srgbClr val="FFFFFF"/>
                </a:solidFill>
                <a:latin typeface="Meiryo"/>
              </a:defRPr>
            </a:pPr>
            <a:r>
              <a:rPr sz="1450" b="1">
                <a:solidFill>
                  <a:srgbClr val="FFFFFF"/>
                </a:solidFill>
                <a:latin typeface="Meiryo"/>
              </a:rPr>
              <a:t>半径50〜80km圏へ戻す</a:t>
            </a:r>
          </a:p>
        </p:txBody>
      </p:sp>
      <p:sp>
        <p:nvSpPr>
          <p:cNvPr id="17" name="TextBox 16"/>
          <p:cNvSpPr txBox="1"/>
          <p:nvPr/>
        </p:nvSpPr>
        <p:spPr>
          <a:xfrm>
            <a:off x="6016752" y="2651760"/>
            <a:ext cx="4279391" cy="457200"/>
          </a:xfrm>
          <a:prstGeom prst="rect">
            <a:avLst/>
          </a:prstGeom>
          <a:noFill/>
        </p:spPr>
        <p:txBody>
          <a:bodyPr wrap="square" lIns="0" rIns="0" tIns="0" bIns="0" anchor="t">
            <a:spAutoFit/>
          </a:bodyPr>
          <a:lstStyle/>
          <a:p>
            <a:pPr algn="l">
              <a:lnSpc>
                <a:spcPct val="140000"/>
              </a:lnSpc>
              <a:spcAft>
                <a:spcPts val="300"/>
              </a:spcAft>
              <a:defRPr sz="950" b="0">
                <a:solidFill>
                  <a:srgbClr val="D6DBE1"/>
                </a:solidFill>
                <a:latin typeface="Meiryo"/>
              </a:defRPr>
            </a:pPr>
            <a:r>
              <a:rPr sz="950" b="0">
                <a:solidFill>
                  <a:srgbClr val="D6DBE1"/>
                </a:solidFill>
                <a:latin typeface="Meiryo"/>
              </a:rPr>
              <a:t>東京は停止せず別枠に分離し、エリア別に成果を測る</a:t>
            </a:r>
          </a:p>
        </p:txBody>
      </p:sp>
      <p:sp>
        <p:nvSpPr>
          <p:cNvPr id="18" name="TextBox 17"/>
          <p:cNvSpPr txBox="1"/>
          <p:nvPr/>
        </p:nvSpPr>
        <p:spPr>
          <a:xfrm>
            <a:off x="10213847" y="2505456"/>
            <a:ext cx="1207008" cy="274320"/>
          </a:xfrm>
          <a:prstGeom prst="rect">
            <a:avLst/>
          </a:prstGeom>
          <a:noFill/>
        </p:spPr>
        <p:txBody>
          <a:bodyPr wrap="square" lIns="0" rIns="0" tIns="0" bIns="0" anchor="t">
            <a:spAutoFit/>
          </a:bodyPr>
          <a:lstStyle/>
          <a:p>
            <a:pPr algn="r">
              <a:lnSpc>
                <a:spcPct val="140000"/>
              </a:lnSpc>
              <a:spcAft>
                <a:spcPts val="300"/>
              </a:spcAft>
              <a:defRPr sz="1100" b="1">
                <a:solidFill>
                  <a:srgbClr val="A96933"/>
                </a:solidFill>
                <a:latin typeface="Meiryo"/>
              </a:defRPr>
            </a:pPr>
            <a:r>
              <a:rPr sz="1100" b="1">
                <a:solidFill>
                  <a:srgbClr val="A96933"/>
                </a:solidFill>
                <a:latin typeface="Meiryo"/>
              </a:rPr>
              <a:t>追加費用なし</a:t>
            </a:r>
          </a:p>
        </p:txBody>
      </p:sp>
      <p:sp>
        <p:nvSpPr>
          <p:cNvPr id="19" name="Rectangle 18"/>
          <p:cNvSpPr/>
          <p:nvPr/>
        </p:nvSpPr>
        <p:spPr>
          <a:xfrm>
            <a:off x="566928" y="3456432"/>
            <a:ext cx="4754880"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6928" y="3456432"/>
            <a:ext cx="475488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8096" y="3657600"/>
            <a:ext cx="1188720" cy="219456"/>
          </a:xfrm>
          <a:prstGeom prst="rect">
            <a:avLst/>
          </a:prstGeom>
          <a:noFill/>
        </p:spPr>
        <p:txBody>
          <a:bodyPr wrap="square" lIns="0" rIns="0" tIns="0" bIns="0" anchor="t">
            <a:spAutoFit/>
          </a:bodyPr>
          <a:lstStyle/>
          <a:p>
            <a:pPr algn="l">
              <a:lnSpc>
                <a:spcPct val="140000"/>
              </a:lnSpc>
              <a:spcAft>
                <a:spcPts val="300"/>
              </a:spcAft>
              <a:defRPr sz="1050" b="1">
                <a:solidFill>
                  <a:srgbClr val="A96933"/>
                </a:solidFill>
                <a:latin typeface="Meiryo"/>
              </a:defRPr>
            </a:pPr>
            <a:r>
              <a:rPr sz="1050" b="1">
                <a:solidFill>
                  <a:srgbClr val="A96933"/>
                </a:solidFill>
                <a:latin typeface="Meiryo"/>
              </a:rPr>
              <a:t>課題 02</a:t>
            </a:r>
          </a:p>
        </p:txBody>
      </p:sp>
      <p:sp>
        <p:nvSpPr>
          <p:cNvPr id="22" name="TextBox 21"/>
          <p:cNvSpPr txBox="1"/>
          <p:nvPr/>
        </p:nvSpPr>
        <p:spPr>
          <a:xfrm>
            <a:off x="768096" y="3913631"/>
            <a:ext cx="4352544" cy="274320"/>
          </a:xfrm>
          <a:prstGeom prst="rect">
            <a:avLst/>
          </a:prstGeom>
          <a:noFill/>
        </p:spPr>
        <p:txBody>
          <a:bodyPr wrap="square" lIns="0" rIns="0" tIns="0" bIns="0" anchor="t">
            <a:spAutoFit/>
          </a:bodyPr>
          <a:lstStyle/>
          <a:p>
            <a:pPr algn="l">
              <a:lnSpc>
                <a:spcPct val="140000"/>
              </a:lnSpc>
              <a:spcAft>
                <a:spcPts val="300"/>
              </a:spcAft>
              <a:defRPr sz="1450" b="1">
                <a:solidFill>
                  <a:srgbClr val="2A2E33"/>
                </a:solidFill>
                <a:latin typeface="Meiryo"/>
              </a:defRPr>
            </a:pPr>
            <a:r>
              <a:rPr sz="1450" b="1">
                <a:solidFill>
                  <a:srgbClr val="2A2E33"/>
                </a:solidFill>
                <a:latin typeface="Meiryo"/>
              </a:rPr>
              <a:t>検討層への再接触が足りない</a:t>
            </a:r>
          </a:p>
        </p:txBody>
      </p:sp>
      <p:sp>
        <p:nvSpPr>
          <p:cNvPr id="23" name="TextBox 22"/>
          <p:cNvSpPr txBox="1"/>
          <p:nvPr/>
        </p:nvSpPr>
        <p:spPr>
          <a:xfrm>
            <a:off x="768096" y="4261104"/>
            <a:ext cx="4352544" cy="329184"/>
          </a:xfrm>
          <a:prstGeom prst="rect">
            <a:avLst/>
          </a:prstGeom>
          <a:noFill/>
        </p:spPr>
        <p:txBody>
          <a:bodyPr wrap="square" lIns="0" rIns="0" tIns="0" bIns="0" anchor="t">
            <a:spAutoFit/>
          </a:bodyPr>
          <a:lstStyle/>
          <a:p>
            <a:pPr algn="l">
              <a:lnSpc>
                <a:spcPct val="140000"/>
              </a:lnSpc>
              <a:spcAft>
                <a:spcPts val="300"/>
              </a:spcAft>
              <a:defRPr sz="950" b="0">
                <a:solidFill>
                  <a:srgbClr val="8A929C"/>
                </a:solidFill>
                <a:latin typeface="Meiryo"/>
              </a:defRPr>
            </a:pPr>
            <a:r>
              <a:rPr sz="950" b="0">
                <a:solidFill>
                  <a:srgbClr val="8A929C"/>
                </a:solidFill>
                <a:latin typeface="Meiryo"/>
              </a:rPr>
              <a:t>クリック率は1.57倍なのに予算9%・接触2.12回</a:t>
            </a:r>
          </a:p>
        </p:txBody>
      </p:sp>
      <p:sp>
        <p:nvSpPr>
          <p:cNvPr id="24" name="TextBox 23"/>
          <p:cNvSpPr txBox="1"/>
          <p:nvPr/>
        </p:nvSpPr>
        <p:spPr>
          <a:xfrm>
            <a:off x="5376672" y="3913631"/>
            <a:ext cx="365760" cy="310896"/>
          </a:xfrm>
          <a:prstGeom prst="rect">
            <a:avLst/>
          </a:prstGeom>
          <a:noFill/>
        </p:spPr>
        <p:txBody>
          <a:bodyPr wrap="square" lIns="0" rIns="0" tIns="0" bIns="0" anchor="t">
            <a:spAutoFit/>
          </a:bodyPr>
          <a:lstStyle/>
          <a:p>
            <a:pPr algn="ctr">
              <a:lnSpc>
                <a:spcPct val="140000"/>
              </a:lnSpc>
              <a:spcAft>
                <a:spcPts val="300"/>
              </a:spcAft>
              <a:defRPr sz="1400" b="1">
                <a:solidFill>
                  <a:srgbClr val="6C7582"/>
                </a:solidFill>
                <a:latin typeface="Meiryo"/>
              </a:defRPr>
            </a:pPr>
            <a:r>
              <a:rPr sz="1400" b="1">
                <a:solidFill>
                  <a:srgbClr val="6C7582"/>
                </a:solidFill>
                <a:latin typeface="Meiryo"/>
              </a:rPr>
              <a:t>▶</a:t>
            </a:r>
          </a:p>
        </p:txBody>
      </p:sp>
      <p:sp>
        <p:nvSpPr>
          <p:cNvPr id="25" name="Rectangle 24"/>
          <p:cNvSpPr/>
          <p:nvPr/>
        </p:nvSpPr>
        <p:spPr>
          <a:xfrm>
            <a:off x="5797296" y="3456432"/>
            <a:ext cx="5833871" cy="128016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016752" y="3694176"/>
            <a:ext cx="4279391" cy="274320"/>
          </a:xfrm>
          <a:prstGeom prst="rect">
            <a:avLst/>
          </a:prstGeom>
          <a:noFill/>
        </p:spPr>
        <p:txBody>
          <a:bodyPr wrap="square" lIns="0" rIns="0" tIns="0" bIns="0" anchor="t">
            <a:spAutoFit/>
          </a:bodyPr>
          <a:lstStyle/>
          <a:p>
            <a:pPr algn="l">
              <a:lnSpc>
                <a:spcPct val="140000"/>
              </a:lnSpc>
              <a:spcAft>
                <a:spcPts val="300"/>
              </a:spcAft>
              <a:defRPr sz="1450" b="1">
                <a:solidFill>
                  <a:srgbClr val="FFFFFF"/>
                </a:solidFill>
                <a:latin typeface="Meiryo"/>
              </a:defRPr>
            </a:pPr>
            <a:r>
              <a:rPr sz="1450" b="1">
                <a:solidFill>
                  <a:srgbClr val="FFFFFF"/>
                </a:solidFill>
                <a:latin typeface="Meiryo"/>
              </a:rPr>
              <a:t>リターゲティングを強化する</a:t>
            </a:r>
          </a:p>
        </p:txBody>
      </p:sp>
      <p:sp>
        <p:nvSpPr>
          <p:cNvPr id="27" name="TextBox 26"/>
          <p:cNvSpPr txBox="1"/>
          <p:nvPr/>
        </p:nvSpPr>
        <p:spPr>
          <a:xfrm>
            <a:off x="6016752" y="4078224"/>
            <a:ext cx="4279391" cy="457200"/>
          </a:xfrm>
          <a:prstGeom prst="rect">
            <a:avLst/>
          </a:prstGeom>
          <a:noFill/>
        </p:spPr>
        <p:txBody>
          <a:bodyPr wrap="square" lIns="0" rIns="0" tIns="0" bIns="0" anchor="t">
            <a:spAutoFit/>
          </a:bodyPr>
          <a:lstStyle/>
          <a:p>
            <a:pPr algn="l">
              <a:lnSpc>
                <a:spcPct val="140000"/>
              </a:lnSpc>
              <a:spcAft>
                <a:spcPts val="300"/>
              </a:spcAft>
              <a:defRPr sz="950" b="0">
                <a:solidFill>
                  <a:srgbClr val="D6DBE1"/>
                </a:solidFill>
                <a:latin typeface="Meiryo"/>
              </a:defRPr>
            </a:pPr>
            <a:r>
              <a:rPr sz="950" b="0">
                <a:solidFill>
                  <a:srgbClr val="D6DBE1"/>
                </a:solidFill>
                <a:latin typeface="Meiryo"/>
              </a:rPr>
              <a:t>比率を9%→20〜25%、接触回数4〜5回へ</a:t>
            </a:r>
          </a:p>
        </p:txBody>
      </p:sp>
      <p:sp>
        <p:nvSpPr>
          <p:cNvPr id="28" name="TextBox 27"/>
          <p:cNvSpPr txBox="1"/>
          <p:nvPr/>
        </p:nvSpPr>
        <p:spPr>
          <a:xfrm>
            <a:off x="10213847" y="3931920"/>
            <a:ext cx="1207008" cy="274320"/>
          </a:xfrm>
          <a:prstGeom prst="rect">
            <a:avLst/>
          </a:prstGeom>
          <a:noFill/>
        </p:spPr>
        <p:txBody>
          <a:bodyPr wrap="square" lIns="0" rIns="0" tIns="0" bIns="0" anchor="t">
            <a:spAutoFit/>
          </a:bodyPr>
          <a:lstStyle/>
          <a:p>
            <a:pPr algn="r">
              <a:lnSpc>
                <a:spcPct val="140000"/>
              </a:lnSpc>
              <a:spcAft>
                <a:spcPts val="300"/>
              </a:spcAft>
              <a:defRPr sz="1100" b="1">
                <a:solidFill>
                  <a:srgbClr val="A96933"/>
                </a:solidFill>
                <a:latin typeface="Meiryo"/>
              </a:defRPr>
            </a:pPr>
            <a:r>
              <a:rPr sz="1100" b="1">
                <a:solidFill>
                  <a:srgbClr val="A96933"/>
                </a:solidFill>
                <a:latin typeface="Meiryo"/>
              </a:rPr>
              <a:t>予算内</a:t>
            </a:r>
          </a:p>
        </p:txBody>
      </p:sp>
      <p:sp>
        <p:nvSpPr>
          <p:cNvPr id="29" name="Rectangle 28"/>
          <p:cNvSpPr/>
          <p:nvPr/>
        </p:nvSpPr>
        <p:spPr>
          <a:xfrm>
            <a:off x="566928" y="4882896"/>
            <a:ext cx="4754880"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66928" y="4882896"/>
            <a:ext cx="475488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8096" y="5084064"/>
            <a:ext cx="1188720" cy="219456"/>
          </a:xfrm>
          <a:prstGeom prst="rect">
            <a:avLst/>
          </a:prstGeom>
          <a:noFill/>
        </p:spPr>
        <p:txBody>
          <a:bodyPr wrap="square" lIns="0" rIns="0" tIns="0" bIns="0" anchor="t">
            <a:spAutoFit/>
          </a:bodyPr>
          <a:lstStyle/>
          <a:p>
            <a:pPr algn="l">
              <a:lnSpc>
                <a:spcPct val="140000"/>
              </a:lnSpc>
              <a:spcAft>
                <a:spcPts val="300"/>
              </a:spcAft>
              <a:defRPr sz="1050" b="1">
                <a:solidFill>
                  <a:srgbClr val="A96933"/>
                </a:solidFill>
                <a:latin typeface="Meiryo"/>
              </a:defRPr>
            </a:pPr>
            <a:r>
              <a:rPr sz="1050" b="1">
                <a:solidFill>
                  <a:srgbClr val="A96933"/>
                </a:solidFill>
                <a:latin typeface="Meiryo"/>
              </a:rPr>
              <a:t>課題 03</a:t>
            </a:r>
          </a:p>
        </p:txBody>
      </p:sp>
      <p:sp>
        <p:nvSpPr>
          <p:cNvPr id="32" name="TextBox 31"/>
          <p:cNvSpPr txBox="1"/>
          <p:nvPr/>
        </p:nvSpPr>
        <p:spPr>
          <a:xfrm>
            <a:off x="768096" y="5340096"/>
            <a:ext cx="4352544" cy="274320"/>
          </a:xfrm>
          <a:prstGeom prst="rect">
            <a:avLst/>
          </a:prstGeom>
          <a:noFill/>
        </p:spPr>
        <p:txBody>
          <a:bodyPr wrap="square" lIns="0" rIns="0" tIns="0" bIns="0" anchor="t">
            <a:spAutoFit/>
          </a:bodyPr>
          <a:lstStyle/>
          <a:p>
            <a:pPr algn="l">
              <a:lnSpc>
                <a:spcPct val="140000"/>
              </a:lnSpc>
              <a:spcAft>
                <a:spcPts val="300"/>
              </a:spcAft>
              <a:defRPr sz="1450" b="1">
                <a:solidFill>
                  <a:srgbClr val="2A2E33"/>
                </a:solidFill>
                <a:latin typeface="Meiryo"/>
              </a:defRPr>
            </a:pPr>
            <a:r>
              <a:rPr sz="1450" b="1">
                <a:solidFill>
                  <a:srgbClr val="2A2E33"/>
                </a:solidFill>
                <a:latin typeface="Meiryo"/>
              </a:rPr>
              <a:t>配信面と媒体構成の偏り</a:t>
            </a:r>
          </a:p>
        </p:txBody>
      </p:sp>
      <p:sp>
        <p:nvSpPr>
          <p:cNvPr id="33" name="TextBox 32"/>
          <p:cNvSpPr txBox="1"/>
          <p:nvPr/>
        </p:nvSpPr>
        <p:spPr>
          <a:xfrm>
            <a:off x="768096" y="5687568"/>
            <a:ext cx="4352544" cy="329184"/>
          </a:xfrm>
          <a:prstGeom prst="rect">
            <a:avLst/>
          </a:prstGeom>
          <a:noFill/>
        </p:spPr>
        <p:txBody>
          <a:bodyPr wrap="square" lIns="0" rIns="0" tIns="0" bIns="0" anchor="t">
            <a:spAutoFit/>
          </a:bodyPr>
          <a:lstStyle/>
          <a:p>
            <a:pPr algn="l">
              <a:lnSpc>
                <a:spcPct val="140000"/>
              </a:lnSpc>
              <a:spcAft>
                <a:spcPts val="300"/>
              </a:spcAft>
              <a:defRPr sz="950" b="0">
                <a:solidFill>
                  <a:srgbClr val="8A929C"/>
                </a:solidFill>
                <a:latin typeface="Meiryo"/>
              </a:defRPr>
            </a:pPr>
            <a:r>
              <a:rPr sz="950" b="0">
                <a:solidFill>
                  <a:srgbClr val="8A929C"/>
                </a:solidFill>
                <a:latin typeface="Meiryo"/>
              </a:rPr>
              <a:t>DV360の到達率15.9%／7月はMeta83%の一極集中</a:t>
            </a:r>
          </a:p>
        </p:txBody>
      </p:sp>
      <p:sp>
        <p:nvSpPr>
          <p:cNvPr id="34" name="TextBox 33"/>
          <p:cNvSpPr txBox="1"/>
          <p:nvPr/>
        </p:nvSpPr>
        <p:spPr>
          <a:xfrm>
            <a:off x="5376672" y="5340096"/>
            <a:ext cx="365760" cy="310896"/>
          </a:xfrm>
          <a:prstGeom prst="rect">
            <a:avLst/>
          </a:prstGeom>
          <a:noFill/>
        </p:spPr>
        <p:txBody>
          <a:bodyPr wrap="square" lIns="0" rIns="0" tIns="0" bIns="0" anchor="t">
            <a:spAutoFit/>
          </a:bodyPr>
          <a:lstStyle/>
          <a:p>
            <a:pPr algn="ctr">
              <a:lnSpc>
                <a:spcPct val="140000"/>
              </a:lnSpc>
              <a:spcAft>
                <a:spcPts val="300"/>
              </a:spcAft>
              <a:defRPr sz="1400" b="1">
                <a:solidFill>
                  <a:srgbClr val="6C7582"/>
                </a:solidFill>
                <a:latin typeface="Meiryo"/>
              </a:defRPr>
            </a:pPr>
            <a:r>
              <a:rPr sz="1400" b="1">
                <a:solidFill>
                  <a:srgbClr val="6C7582"/>
                </a:solidFill>
                <a:latin typeface="Meiryo"/>
              </a:rPr>
              <a:t>▶</a:t>
            </a:r>
          </a:p>
        </p:txBody>
      </p:sp>
      <p:sp>
        <p:nvSpPr>
          <p:cNvPr id="35" name="Rectangle 34"/>
          <p:cNvSpPr/>
          <p:nvPr/>
        </p:nvSpPr>
        <p:spPr>
          <a:xfrm>
            <a:off x="5797296" y="4882896"/>
            <a:ext cx="5833871" cy="128016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016752" y="5120640"/>
            <a:ext cx="4279391" cy="274320"/>
          </a:xfrm>
          <a:prstGeom prst="rect">
            <a:avLst/>
          </a:prstGeom>
          <a:noFill/>
        </p:spPr>
        <p:txBody>
          <a:bodyPr wrap="square" lIns="0" rIns="0" tIns="0" bIns="0" anchor="t">
            <a:spAutoFit/>
          </a:bodyPr>
          <a:lstStyle/>
          <a:p>
            <a:pPr algn="l">
              <a:lnSpc>
                <a:spcPct val="140000"/>
              </a:lnSpc>
              <a:spcAft>
                <a:spcPts val="300"/>
              </a:spcAft>
              <a:defRPr sz="1450" b="1">
                <a:solidFill>
                  <a:srgbClr val="FFFFFF"/>
                </a:solidFill>
                <a:latin typeface="Meiryo"/>
              </a:defRPr>
            </a:pPr>
            <a:r>
              <a:rPr sz="1450" b="1">
                <a:solidFill>
                  <a:srgbClr val="FFFFFF"/>
                </a:solidFill>
                <a:latin typeface="Meiryo"/>
              </a:rPr>
              <a:t>配信面を整理し、構成を戻す</a:t>
            </a:r>
          </a:p>
        </p:txBody>
      </p:sp>
      <p:sp>
        <p:nvSpPr>
          <p:cNvPr id="37" name="TextBox 36"/>
          <p:cNvSpPr txBox="1"/>
          <p:nvPr/>
        </p:nvSpPr>
        <p:spPr>
          <a:xfrm>
            <a:off x="6016752" y="5504688"/>
            <a:ext cx="4279391" cy="457200"/>
          </a:xfrm>
          <a:prstGeom prst="rect">
            <a:avLst/>
          </a:prstGeom>
          <a:noFill/>
        </p:spPr>
        <p:txBody>
          <a:bodyPr wrap="square" lIns="0" rIns="0" tIns="0" bIns="0" anchor="t">
            <a:spAutoFit/>
          </a:bodyPr>
          <a:lstStyle/>
          <a:p>
            <a:pPr algn="l">
              <a:lnSpc>
                <a:spcPct val="140000"/>
              </a:lnSpc>
              <a:spcAft>
                <a:spcPts val="300"/>
              </a:spcAft>
              <a:defRPr sz="950" b="0">
                <a:solidFill>
                  <a:srgbClr val="D6DBE1"/>
                </a:solidFill>
                <a:latin typeface="Meiryo"/>
              </a:defRPr>
            </a:pPr>
            <a:r>
              <a:rPr sz="950" b="0">
                <a:solidFill>
                  <a:srgbClr val="D6DBE1"/>
                </a:solidFill>
                <a:latin typeface="Meiryo"/>
              </a:rPr>
              <a:t>65面を除外して再開／Google広告を第1期水準へ</a:t>
            </a:r>
          </a:p>
        </p:txBody>
      </p:sp>
      <p:sp>
        <p:nvSpPr>
          <p:cNvPr id="38" name="TextBox 37"/>
          <p:cNvSpPr txBox="1"/>
          <p:nvPr/>
        </p:nvSpPr>
        <p:spPr>
          <a:xfrm>
            <a:off x="10213847" y="5358383"/>
            <a:ext cx="1207008" cy="274320"/>
          </a:xfrm>
          <a:prstGeom prst="rect">
            <a:avLst/>
          </a:prstGeom>
          <a:noFill/>
        </p:spPr>
        <p:txBody>
          <a:bodyPr wrap="square" lIns="0" rIns="0" tIns="0" bIns="0" anchor="t">
            <a:spAutoFit/>
          </a:bodyPr>
          <a:lstStyle/>
          <a:p>
            <a:pPr algn="r">
              <a:lnSpc>
                <a:spcPct val="140000"/>
              </a:lnSpc>
              <a:spcAft>
                <a:spcPts val="300"/>
              </a:spcAft>
              <a:defRPr sz="1100" b="1">
                <a:solidFill>
                  <a:srgbClr val="A96933"/>
                </a:solidFill>
                <a:latin typeface="Meiryo"/>
              </a:defRPr>
            </a:pPr>
            <a:r>
              <a:rPr sz="1100" b="1">
                <a:solidFill>
                  <a:srgbClr val="A96933"/>
                </a:solidFill>
                <a:latin typeface="Meiryo"/>
              </a:rPr>
              <a:t>予算内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3 提案</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2026年8月 配信プラン</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08</a:t>
            </a:r>
          </a:p>
        </p:txBody>
      </p:sp>
      <p:sp>
        <p:nvSpPr>
          <p:cNvPr id="8" name="TextBox 7"/>
          <p:cNvSpPr txBox="1"/>
          <p:nvPr/>
        </p:nvSpPr>
        <p:spPr>
          <a:xfrm>
            <a:off x="566928" y="1536192"/>
            <a:ext cx="11064240" cy="274320"/>
          </a:xfrm>
          <a:prstGeom prst="rect">
            <a:avLst/>
          </a:prstGeom>
          <a:noFill/>
        </p:spPr>
        <p:txBody>
          <a:bodyPr wrap="square" lIns="0" rIns="0" tIns="0" bIns="0" anchor="t">
            <a:spAutoFit/>
          </a:bodyPr>
          <a:lstStyle/>
          <a:p>
            <a:pPr algn="l">
              <a:lnSpc>
                <a:spcPct val="140000"/>
              </a:lnSpc>
              <a:spcAft>
                <a:spcPts val="300"/>
              </a:spcAft>
              <a:defRPr sz="1150" b="0">
                <a:solidFill>
                  <a:srgbClr val="8A929C"/>
                </a:solidFill>
                <a:latin typeface="Meiryo"/>
              </a:defRPr>
            </a:pPr>
            <a:r>
              <a:rPr sz="1150" b="0">
                <a:solidFill>
                  <a:srgbClr val="8A929C"/>
                </a:solidFill>
                <a:latin typeface="Meiryo"/>
              </a:rPr>
              <a:t>視察プレー期間の最終月として、期間限定オファーの刈り取りに集中します。</a:t>
            </a:r>
          </a:p>
        </p:txBody>
      </p:sp>
      <p:sp>
        <p:nvSpPr>
          <p:cNvPr id="9" name="Rectangle 8"/>
          <p:cNvSpPr/>
          <p:nvPr/>
        </p:nvSpPr>
        <p:spPr>
          <a:xfrm>
            <a:off x="566928" y="1956815"/>
            <a:ext cx="11064240" cy="402336"/>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956815"/>
            <a:ext cx="2197940" cy="402336"/>
          </a:xfrm>
          <a:prstGeom prst="rect">
            <a:avLst/>
          </a:prstGeom>
          <a:noFill/>
        </p:spPr>
        <p:txBody>
          <a:bodyPr wrap="square" lIns="0" rIns="0" tIns="0" bIns="0" anchor="ctr">
            <a:spAutoFit/>
          </a:bodyPr>
          <a:lstStyle/>
          <a:p>
            <a:pPr algn="l">
              <a:lnSpc>
                <a:spcPct val="100000"/>
              </a:lnSpc>
              <a:spcAft>
                <a:spcPts val="0"/>
              </a:spcAft>
              <a:defRPr sz="1150" b="1">
                <a:solidFill>
                  <a:srgbClr val="FFFFFF"/>
                </a:solidFill>
                <a:latin typeface="Meiryo"/>
              </a:defRPr>
            </a:pPr>
            <a:r>
              <a:rPr sz="1150" b="1">
                <a:solidFill>
                  <a:srgbClr val="FFFFFF"/>
                </a:solidFill>
                <a:latin typeface="Meiryo"/>
              </a:rPr>
              <a:t>媒体</a:t>
            </a:r>
          </a:p>
        </p:txBody>
      </p:sp>
      <p:sp>
        <p:nvSpPr>
          <p:cNvPr id="11" name="TextBox 10"/>
          <p:cNvSpPr txBox="1"/>
          <p:nvPr/>
        </p:nvSpPr>
        <p:spPr>
          <a:xfrm>
            <a:off x="3094052" y="1956815"/>
            <a:ext cx="5266175" cy="402336"/>
          </a:xfrm>
          <a:prstGeom prst="rect">
            <a:avLst/>
          </a:prstGeom>
          <a:noFill/>
        </p:spPr>
        <p:txBody>
          <a:bodyPr wrap="square" lIns="0" rIns="0" tIns="0" bIns="0" anchor="ctr">
            <a:spAutoFit/>
          </a:bodyPr>
          <a:lstStyle/>
          <a:p>
            <a:pPr algn="l">
              <a:lnSpc>
                <a:spcPct val="100000"/>
              </a:lnSpc>
              <a:spcAft>
                <a:spcPts val="0"/>
              </a:spcAft>
              <a:defRPr sz="1150" b="1">
                <a:solidFill>
                  <a:srgbClr val="FFFFFF"/>
                </a:solidFill>
                <a:latin typeface="Meiryo"/>
              </a:defRPr>
            </a:pPr>
            <a:r>
              <a:rPr sz="1150" b="1">
                <a:solidFill>
                  <a:srgbClr val="FFFFFF"/>
                </a:solidFill>
                <a:latin typeface="Meiryo"/>
              </a:rPr>
              <a:t>役割・設定</a:t>
            </a:r>
          </a:p>
        </p:txBody>
      </p:sp>
      <p:sp>
        <p:nvSpPr>
          <p:cNvPr id="12" name="TextBox 11"/>
          <p:cNvSpPr txBox="1"/>
          <p:nvPr/>
        </p:nvSpPr>
        <p:spPr>
          <a:xfrm>
            <a:off x="8579684" y="1956815"/>
            <a:ext cx="1454126" cy="402336"/>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配信費</a:t>
            </a:r>
          </a:p>
        </p:txBody>
      </p:sp>
      <p:sp>
        <p:nvSpPr>
          <p:cNvPr id="13" name="TextBox 12"/>
          <p:cNvSpPr txBox="1"/>
          <p:nvPr/>
        </p:nvSpPr>
        <p:spPr>
          <a:xfrm>
            <a:off x="10253267" y="1956815"/>
            <a:ext cx="1268172" cy="402336"/>
          </a:xfrm>
          <a:prstGeom prst="rect">
            <a:avLst/>
          </a:prstGeom>
          <a:noFill/>
        </p:spPr>
        <p:txBody>
          <a:bodyPr wrap="square" lIns="0" rIns="0" tIns="0" bIns="0" anchor="ctr">
            <a:spAutoFit/>
          </a:bodyPr>
          <a:lstStyle/>
          <a:p>
            <a:pPr algn="r">
              <a:lnSpc>
                <a:spcPct val="100000"/>
              </a:lnSpc>
              <a:spcAft>
                <a:spcPts val="0"/>
              </a:spcAft>
              <a:defRPr sz="1150" b="1">
                <a:solidFill>
                  <a:srgbClr val="FFFFFF"/>
                </a:solidFill>
                <a:latin typeface="Meiryo"/>
              </a:defRPr>
            </a:pPr>
            <a:r>
              <a:rPr sz="1150" b="1">
                <a:solidFill>
                  <a:srgbClr val="FFFFFF"/>
                </a:solidFill>
                <a:latin typeface="Meiryo"/>
              </a:rPr>
              <a:t>構成比</a:t>
            </a:r>
          </a:p>
        </p:txBody>
      </p:sp>
      <p:sp>
        <p:nvSpPr>
          <p:cNvPr id="14" name="Rectangle 13"/>
          <p:cNvSpPr/>
          <p:nvPr/>
        </p:nvSpPr>
        <p:spPr>
          <a:xfrm>
            <a:off x="566928" y="2359151"/>
            <a:ext cx="110642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6656" y="2359151"/>
            <a:ext cx="2197940"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Meta広告</a:t>
            </a:r>
          </a:p>
        </p:txBody>
      </p:sp>
      <p:sp>
        <p:nvSpPr>
          <p:cNvPr id="16" name="TextBox 15"/>
          <p:cNvSpPr txBox="1"/>
          <p:nvPr/>
        </p:nvSpPr>
        <p:spPr>
          <a:xfrm>
            <a:off x="3094052" y="2359151"/>
            <a:ext cx="5266175"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半径50〜80km（55%）／東京別枠（20%）／リターゲティング（25%）</a:t>
            </a:r>
          </a:p>
        </p:txBody>
      </p:sp>
      <p:sp>
        <p:nvSpPr>
          <p:cNvPr id="17" name="TextBox 16"/>
          <p:cNvSpPr txBox="1"/>
          <p:nvPr/>
        </p:nvSpPr>
        <p:spPr>
          <a:xfrm>
            <a:off x="8579684" y="2359151"/>
            <a:ext cx="1454126"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¥200,000</a:t>
            </a:r>
          </a:p>
        </p:txBody>
      </p:sp>
      <p:sp>
        <p:nvSpPr>
          <p:cNvPr id="18" name="TextBox 17"/>
          <p:cNvSpPr txBox="1"/>
          <p:nvPr/>
        </p:nvSpPr>
        <p:spPr>
          <a:xfrm>
            <a:off x="10253267" y="2359151"/>
            <a:ext cx="1268172"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47.6%</a:t>
            </a:r>
          </a:p>
        </p:txBody>
      </p:sp>
      <p:sp>
        <p:nvSpPr>
          <p:cNvPr id="19" name="Rectangle 18"/>
          <p:cNvSpPr/>
          <p:nvPr/>
        </p:nvSpPr>
        <p:spPr>
          <a:xfrm>
            <a:off x="566928" y="2743199"/>
            <a:ext cx="11064240" cy="384048"/>
          </a:xfrm>
          <a:prstGeom prst="rect">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 y="2743199"/>
            <a:ext cx="2197940"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Google広告（P-MAX）</a:t>
            </a:r>
          </a:p>
        </p:txBody>
      </p:sp>
      <p:sp>
        <p:nvSpPr>
          <p:cNvPr id="21" name="TextBox 20"/>
          <p:cNvSpPr txBox="1"/>
          <p:nvPr/>
        </p:nvSpPr>
        <p:spPr>
          <a:xfrm>
            <a:off x="3094052" y="2743199"/>
            <a:ext cx="5266175"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半径50〜80km＋東京別枠／クラブ名検索を除外</a:t>
            </a:r>
          </a:p>
        </p:txBody>
      </p:sp>
      <p:sp>
        <p:nvSpPr>
          <p:cNvPr id="22" name="TextBox 21"/>
          <p:cNvSpPr txBox="1"/>
          <p:nvPr/>
        </p:nvSpPr>
        <p:spPr>
          <a:xfrm>
            <a:off x="8579684" y="2743199"/>
            <a:ext cx="1454126"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¥80,000</a:t>
            </a:r>
          </a:p>
        </p:txBody>
      </p:sp>
      <p:sp>
        <p:nvSpPr>
          <p:cNvPr id="23" name="TextBox 22"/>
          <p:cNvSpPr txBox="1"/>
          <p:nvPr/>
        </p:nvSpPr>
        <p:spPr>
          <a:xfrm>
            <a:off x="10253267" y="2743199"/>
            <a:ext cx="1268172"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19.0%</a:t>
            </a:r>
          </a:p>
        </p:txBody>
      </p:sp>
      <p:sp>
        <p:nvSpPr>
          <p:cNvPr id="24" name="Rectangle 23"/>
          <p:cNvSpPr/>
          <p:nvPr/>
        </p:nvSpPr>
        <p:spPr>
          <a:xfrm>
            <a:off x="566928" y="3127247"/>
            <a:ext cx="110642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76656" y="3127247"/>
            <a:ext cx="2197940"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DV360</a:t>
            </a:r>
          </a:p>
        </p:txBody>
      </p:sp>
      <p:sp>
        <p:nvSpPr>
          <p:cNvPr id="26" name="TextBox 25"/>
          <p:cNvSpPr txBox="1"/>
          <p:nvPr/>
        </p:nvSpPr>
        <p:spPr>
          <a:xfrm>
            <a:off x="3094052" y="3127247"/>
            <a:ext cx="5266175"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競合店GEO／クリック率5%超の65面を除外</a:t>
            </a:r>
          </a:p>
        </p:txBody>
      </p:sp>
      <p:sp>
        <p:nvSpPr>
          <p:cNvPr id="27" name="TextBox 26"/>
          <p:cNvSpPr txBox="1"/>
          <p:nvPr/>
        </p:nvSpPr>
        <p:spPr>
          <a:xfrm>
            <a:off x="8579684" y="3127247"/>
            <a:ext cx="1454126"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¥80,000</a:t>
            </a:r>
          </a:p>
        </p:txBody>
      </p:sp>
      <p:sp>
        <p:nvSpPr>
          <p:cNvPr id="28" name="TextBox 27"/>
          <p:cNvSpPr txBox="1"/>
          <p:nvPr/>
        </p:nvSpPr>
        <p:spPr>
          <a:xfrm>
            <a:off x="10253267" y="3127247"/>
            <a:ext cx="1268172"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19.0%</a:t>
            </a:r>
          </a:p>
        </p:txBody>
      </p:sp>
      <p:sp>
        <p:nvSpPr>
          <p:cNvPr id="29" name="Rectangle 28"/>
          <p:cNvSpPr/>
          <p:nvPr/>
        </p:nvSpPr>
        <p:spPr>
          <a:xfrm>
            <a:off x="566928" y="3511295"/>
            <a:ext cx="11064240" cy="384048"/>
          </a:xfrm>
          <a:prstGeom prst="rect">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76656" y="3511295"/>
            <a:ext cx="2197940"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LINEヤフー広告</a:t>
            </a:r>
          </a:p>
        </p:txBody>
      </p:sp>
      <p:sp>
        <p:nvSpPr>
          <p:cNvPr id="31" name="TextBox 30"/>
          <p:cNvSpPr txBox="1"/>
          <p:nvPr/>
        </p:nvSpPr>
        <p:spPr>
          <a:xfrm>
            <a:off x="3094052" y="3511295"/>
            <a:ext cx="5266175"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長野県東信＋群馬県西部／既存アカウントを再開</a:t>
            </a:r>
          </a:p>
        </p:txBody>
      </p:sp>
      <p:sp>
        <p:nvSpPr>
          <p:cNvPr id="32" name="TextBox 31"/>
          <p:cNvSpPr txBox="1"/>
          <p:nvPr/>
        </p:nvSpPr>
        <p:spPr>
          <a:xfrm>
            <a:off x="8579684" y="3511295"/>
            <a:ext cx="1454126"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¥60,000</a:t>
            </a:r>
          </a:p>
        </p:txBody>
      </p:sp>
      <p:sp>
        <p:nvSpPr>
          <p:cNvPr id="33" name="TextBox 32"/>
          <p:cNvSpPr txBox="1"/>
          <p:nvPr/>
        </p:nvSpPr>
        <p:spPr>
          <a:xfrm>
            <a:off x="10253267" y="3511295"/>
            <a:ext cx="1268172"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14.3%</a:t>
            </a:r>
          </a:p>
        </p:txBody>
      </p:sp>
      <p:sp>
        <p:nvSpPr>
          <p:cNvPr id="34" name="Rectangle 33"/>
          <p:cNvSpPr/>
          <p:nvPr/>
        </p:nvSpPr>
        <p:spPr>
          <a:xfrm>
            <a:off x="566928" y="3895344"/>
            <a:ext cx="110642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76656" y="3895344"/>
            <a:ext cx="2197940"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配信費 小計</a:t>
            </a:r>
          </a:p>
        </p:txBody>
      </p:sp>
      <p:sp>
        <p:nvSpPr>
          <p:cNvPr id="36" name="TextBox 35"/>
          <p:cNvSpPr txBox="1"/>
          <p:nvPr/>
        </p:nvSpPr>
        <p:spPr>
          <a:xfrm>
            <a:off x="3094052" y="3895344"/>
            <a:ext cx="5266175"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p>
        </p:txBody>
      </p:sp>
      <p:sp>
        <p:nvSpPr>
          <p:cNvPr id="37" name="TextBox 36"/>
          <p:cNvSpPr txBox="1"/>
          <p:nvPr/>
        </p:nvSpPr>
        <p:spPr>
          <a:xfrm>
            <a:off x="8579684" y="3895344"/>
            <a:ext cx="1454126"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¥420,000</a:t>
            </a:r>
          </a:p>
        </p:txBody>
      </p:sp>
      <p:sp>
        <p:nvSpPr>
          <p:cNvPr id="38" name="TextBox 37"/>
          <p:cNvSpPr txBox="1"/>
          <p:nvPr/>
        </p:nvSpPr>
        <p:spPr>
          <a:xfrm>
            <a:off x="10253267" y="3895344"/>
            <a:ext cx="1268172"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p>
        </p:txBody>
      </p:sp>
      <p:sp>
        <p:nvSpPr>
          <p:cNvPr id="39" name="Rectangle 38"/>
          <p:cNvSpPr/>
          <p:nvPr/>
        </p:nvSpPr>
        <p:spPr>
          <a:xfrm>
            <a:off x="566928" y="4279392"/>
            <a:ext cx="11064240" cy="384048"/>
          </a:xfrm>
          <a:prstGeom prst="rect">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76656" y="4279392"/>
            <a:ext cx="2197940"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r>
              <a:rPr sz="1150" b="0">
                <a:solidFill>
                  <a:srgbClr val="454B52"/>
                </a:solidFill>
                <a:latin typeface="Meiryo"/>
              </a:rPr>
              <a:t>運用代行費</a:t>
            </a:r>
          </a:p>
        </p:txBody>
      </p:sp>
      <p:sp>
        <p:nvSpPr>
          <p:cNvPr id="41" name="TextBox 40"/>
          <p:cNvSpPr txBox="1"/>
          <p:nvPr/>
        </p:nvSpPr>
        <p:spPr>
          <a:xfrm>
            <a:off x="3094052" y="4279392"/>
            <a:ext cx="5266175"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p>
        </p:txBody>
      </p:sp>
      <p:sp>
        <p:nvSpPr>
          <p:cNvPr id="42" name="TextBox 41"/>
          <p:cNvSpPr txBox="1"/>
          <p:nvPr/>
        </p:nvSpPr>
        <p:spPr>
          <a:xfrm>
            <a:off x="8579684" y="4279392"/>
            <a:ext cx="1454126"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r>
              <a:rPr sz="1150" b="0">
                <a:solidFill>
                  <a:srgbClr val="454B52"/>
                </a:solidFill>
                <a:latin typeface="Meiryo"/>
              </a:rPr>
              <a:t>¥105,000</a:t>
            </a:r>
          </a:p>
        </p:txBody>
      </p:sp>
      <p:sp>
        <p:nvSpPr>
          <p:cNvPr id="43" name="TextBox 42"/>
          <p:cNvSpPr txBox="1"/>
          <p:nvPr/>
        </p:nvSpPr>
        <p:spPr>
          <a:xfrm>
            <a:off x="10253267" y="4279392"/>
            <a:ext cx="1268172" cy="384048"/>
          </a:xfrm>
          <a:prstGeom prst="rect">
            <a:avLst/>
          </a:prstGeom>
          <a:noFill/>
        </p:spPr>
        <p:txBody>
          <a:bodyPr wrap="square" lIns="0" rIns="0" tIns="0" bIns="0" anchor="ctr">
            <a:spAutoFit/>
          </a:bodyPr>
          <a:lstStyle/>
          <a:p>
            <a:pPr algn="r">
              <a:lnSpc>
                <a:spcPct val="100000"/>
              </a:lnSpc>
              <a:spcAft>
                <a:spcPts val="0"/>
              </a:spcAft>
              <a:defRPr sz="1150" b="0">
                <a:solidFill>
                  <a:srgbClr val="454B52"/>
                </a:solidFill>
                <a:latin typeface="Meiryo"/>
              </a:defRPr>
            </a:pPr>
          </a:p>
        </p:txBody>
      </p:sp>
      <p:sp>
        <p:nvSpPr>
          <p:cNvPr id="44" name="Rectangle 43"/>
          <p:cNvSpPr/>
          <p:nvPr/>
        </p:nvSpPr>
        <p:spPr>
          <a:xfrm>
            <a:off x="566928" y="4663440"/>
            <a:ext cx="11064240" cy="3840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76656" y="4663440"/>
            <a:ext cx="2197940" cy="384048"/>
          </a:xfrm>
          <a:prstGeom prst="rect">
            <a:avLst/>
          </a:prstGeom>
          <a:noFill/>
        </p:spPr>
        <p:txBody>
          <a:bodyPr wrap="square" lIns="0" rIns="0" tIns="0" bIns="0" anchor="ctr">
            <a:spAutoFit/>
          </a:bodyPr>
          <a:lstStyle/>
          <a:p>
            <a:pPr algn="l">
              <a:lnSpc>
                <a:spcPct val="100000"/>
              </a:lnSpc>
              <a:spcAft>
                <a:spcPts val="0"/>
              </a:spcAft>
              <a:defRPr sz="1150" b="1">
                <a:solidFill>
                  <a:srgbClr val="405D7B"/>
                </a:solidFill>
                <a:latin typeface="Meiryo"/>
              </a:defRPr>
            </a:pPr>
            <a:r>
              <a:rPr sz="1150" b="1">
                <a:solidFill>
                  <a:srgbClr val="405D7B"/>
                </a:solidFill>
                <a:latin typeface="Meiryo"/>
              </a:rPr>
              <a:t>合計</a:t>
            </a:r>
          </a:p>
        </p:txBody>
      </p:sp>
      <p:sp>
        <p:nvSpPr>
          <p:cNvPr id="46" name="TextBox 45"/>
          <p:cNvSpPr txBox="1"/>
          <p:nvPr/>
        </p:nvSpPr>
        <p:spPr>
          <a:xfrm>
            <a:off x="3094052" y="4663440"/>
            <a:ext cx="5266175" cy="384048"/>
          </a:xfrm>
          <a:prstGeom prst="rect">
            <a:avLst/>
          </a:prstGeom>
          <a:noFill/>
        </p:spPr>
        <p:txBody>
          <a:bodyPr wrap="square" lIns="0" rIns="0" tIns="0" bIns="0" anchor="ctr">
            <a:spAutoFit/>
          </a:bodyPr>
          <a:lstStyle/>
          <a:p>
            <a:pPr algn="l">
              <a:lnSpc>
                <a:spcPct val="100000"/>
              </a:lnSpc>
              <a:spcAft>
                <a:spcPts val="0"/>
              </a:spcAft>
              <a:defRPr sz="1150" b="0">
                <a:solidFill>
                  <a:srgbClr val="454B52"/>
                </a:solidFill>
                <a:latin typeface="Meiryo"/>
              </a:defRPr>
            </a:pPr>
          </a:p>
        </p:txBody>
      </p:sp>
      <p:sp>
        <p:nvSpPr>
          <p:cNvPr id="47" name="TextBox 46"/>
          <p:cNvSpPr txBox="1"/>
          <p:nvPr/>
        </p:nvSpPr>
        <p:spPr>
          <a:xfrm>
            <a:off x="8579684" y="4663440"/>
            <a:ext cx="1454126" cy="384048"/>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¥525,000</a:t>
            </a:r>
          </a:p>
        </p:txBody>
      </p:sp>
      <p:sp>
        <p:nvSpPr>
          <p:cNvPr id="48" name="TextBox 47"/>
          <p:cNvSpPr txBox="1"/>
          <p:nvPr/>
        </p:nvSpPr>
        <p:spPr>
          <a:xfrm>
            <a:off x="10253267" y="4663440"/>
            <a:ext cx="1268172" cy="384048"/>
          </a:xfrm>
          <a:prstGeom prst="rect">
            <a:avLst/>
          </a:prstGeom>
          <a:noFill/>
        </p:spPr>
        <p:txBody>
          <a:bodyPr wrap="square" lIns="0" rIns="0" tIns="0" bIns="0" anchor="ctr">
            <a:spAutoFit/>
          </a:bodyPr>
          <a:lstStyle/>
          <a:p>
            <a:pPr algn="r">
              <a:lnSpc>
                <a:spcPct val="100000"/>
              </a:lnSpc>
              <a:spcAft>
                <a:spcPts val="0"/>
              </a:spcAft>
              <a:defRPr sz="1150" b="1">
                <a:solidFill>
                  <a:srgbClr val="405D7B"/>
                </a:solidFill>
                <a:latin typeface="Meiryo"/>
              </a:defRPr>
            </a:pPr>
            <a:r>
              <a:rPr sz="1150" b="1">
                <a:solidFill>
                  <a:srgbClr val="405D7B"/>
                </a:solidFill>
                <a:latin typeface="Meiryo"/>
              </a:rPr>
              <a:t>対7月 +75%</a:t>
            </a:r>
          </a:p>
        </p:txBody>
      </p:sp>
      <p:sp>
        <p:nvSpPr>
          <p:cNvPr id="49" name="Rectangle 48"/>
          <p:cNvSpPr/>
          <p:nvPr/>
        </p:nvSpPr>
        <p:spPr>
          <a:xfrm>
            <a:off x="566928" y="4992624"/>
            <a:ext cx="5440680" cy="1042415"/>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566928" y="4992624"/>
            <a:ext cx="544068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7240" y="5175504"/>
            <a:ext cx="5020056"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補足</a:t>
            </a:r>
          </a:p>
        </p:txBody>
      </p:sp>
      <p:sp>
        <p:nvSpPr>
          <p:cNvPr id="52" name="TextBox 51"/>
          <p:cNvSpPr txBox="1"/>
          <p:nvPr/>
        </p:nvSpPr>
        <p:spPr>
          <a:xfrm>
            <a:off x="777240" y="5413248"/>
            <a:ext cx="5020056"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Meta広告は減額しません</a:t>
            </a:r>
          </a:p>
        </p:txBody>
      </p:sp>
      <p:sp>
        <p:nvSpPr>
          <p:cNvPr id="53" name="TextBox 52"/>
          <p:cNvSpPr txBox="1"/>
          <p:nvPr/>
        </p:nvSpPr>
        <p:spPr>
          <a:xfrm>
            <a:off x="804672" y="5852160"/>
            <a:ext cx="4965192" cy="18287"/>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内訳を組み替えて、一極集中（83.3%）を47.6%まで下げます。</a:t>
            </a:r>
          </a:p>
        </p:txBody>
      </p:sp>
      <p:sp>
        <p:nvSpPr>
          <p:cNvPr id="54" name="Rectangle 53"/>
          <p:cNvSpPr/>
          <p:nvPr/>
        </p:nvSpPr>
        <p:spPr>
          <a:xfrm>
            <a:off x="6190488" y="4992624"/>
            <a:ext cx="5440680" cy="1042415"/>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6190488" y="4992624"/>
            <a:ext cx="544068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0" y="5175504"/>
            <a:ext cx="5020056"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あわせて実施</a:t>
            </a:r>
          </a:p>
        </p:txBody>
      </p:sp>
      <p:sp>
        <p:nvSpPr>
          <p:cNvPr id="57" name="TextBox 56"/>
          <p:cNvSpPr txBox="1"/>
          <p:nvPr/>
        </p:nvSpPr>
        <p:spPr>
          <a:xfrm>
            <a:off x="6400800" y="5413248"/>
            <a:ext cx="5020056"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追加費用なしの改善</a:t>
            </a:r>
          </a:p>
        </p:txBody>
      </p:sp>
      <p:sp>
        <p:nvSpPr>
          <p:cNvPr id="58" name="TextBox 57"/>
          <p:cNvSpPr txBox="1"/>
          <p:nvPr/>
        </p:nvSpPr>
        <p:spPr>
          <a:xfrm>
            <a:off x="6428232" y="5852160"/>
            <a:ext cx="4965192" cy="18287"/>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視察プレー訴求へのクリエイティブ差し替え／入口は資料請求に設定／コンバージョン計測を各媒体へ接続。</a:t>
            </a:r>
          </a:p>
        </p:txBody>
      </p:sp>
      <p:sp>
        <p:nvSpPr>
          <p:cNvPr id="59" name="TextBox 58"/>
          <p:cNvSpPr txBox="1"/>
          <p:nvPr/>
        </p:nvSpPr>
        <p:spPr>
          <a:xfrm>
            <a:off x="566928" y="6126480"/>
            <a:ext cx="11064240" cy="365760"/>
          </a:xfrm>
          <a:prstGeom prst="rect">
            <a:avLst/>
          </a:prstGeom>
          <a:noFill/>
        </p:spPr>
        <p:txBody>
          <a:bodyPr wrap="square" lIns="0" rIns="0" tIns="0" bIns="0" anchor="t">
            <a:spAutoFit/>
          </a:bodyPr>
          <a:lstStyle/>
          <a:p>
            <a:pPr algn="l">
              <a:lnSpc>
                <a:spcPct val="135000"/>
              </a:lnSpc>
              <a:spcAft>
                <a:spcPts val="300"/>
              </a:spcAft>
              <a:defRPr sz="950" b="0">
                <a:solidFill>
                  <a:srgbClr val="8A929C"/>
                </a:solidFill>
                <a:latin typeface="Meiryo"/>
              </a:defRPr>
            </a:pPr>
            <a:r>
              <a:rPr sz="950" b="0">
                <a:solidFill>
                  <a:srgbClr val="8A929C"/>
                </a:solidFill>
                <a:latin typeface="Meiryo"/>
              </a:rPr>
              <a:t>〈実測〉7月実績＝ご請求データ。〈提案〉8月の構成比は本プランに基づく計画値です。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3 提案</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KPIと進行</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09</a:t>
            </a:r>
          </a:p>
        </p:txBody>
      </p:sp>
      <p:sp>
        <p:nvSpPr>
          <p:cNvPr id="8" name="Rectangle 7"/>
          <p:cNvSpPr/>
          <p:nvPr/>
        </p:nvSpPr>
        <p:spPr>
          <a:xfrm>
            <a:off x="566928" y="1938528"/>
            <a:ext cx="2628900"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938528"/>
            <a:ext cx="262890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2139696"/>
            <a:ext cx="222656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お問い合わせ</a:t>
            </a:r>
          </a:p>
        </p:txBody>
      </p:sp>
      <p:sp>
        <p:nvSpPr>
          <p:cNvPr id="11" name="TextBox 10"/>
          <p:cNvSpPr txBox="1"/>
          <p:nvPr/>
        </p:nvSpPr>
        <p:spPr>
          <a:xfrm>
            <a:off x="768096" y="2432304"/>
            <a:ext cx="2226564" cy="548640"/>
          </a:xfrm>
          <a:prstGeom prst="rect">
            <a:avLst/>
          </a:prstGeom>
          <a:noFill/>
        </p:spPr>
        <p:txBody>
          <a:bodyPr wrap="square" lIns="0" rIns="0" tIns="0" bIns="0" anchor="t">
            <a:spAutoFit/>
          </a:bodyPr>
          <a:lstStyle/>
          <a:p>
            <a:pPr algn="l">
              <a:lnSpc>
                <a:spcPct val="110000"/>
              </a:lnSpc>
              <a:spcAft>
                <a:spcPts val="300"/>
              </a:spcAft>
              <a:defRPr sz="2800" b="1">
                <a:solidFill>
                  <a:srgbClr val="405D7B"/>
                </a:solidFill>
                <a:latin typeface="Meiryo"/>
              </a:defRPr>
            </a:pPr>
            <a:r>
              <a:rPr sz="2800" b="1">
                <a:solidFill>
                  <a:srgbClr val="405D7B"/>
                </a:solidFill>
                <a:latin typeface="Meiryo"/>
              </a:rPr>
              <a:t>3〜5件</a:t>
            </a:r>
          </a:p>
        </p:txBody>
      </p:sp>
      <p:sp>
        <p:nvSpPr>
          <p:cNvPr id="12" name="TextBox 11"/>
          <p:cNvSpPr txBox="1"/>
          <p:nvPr/>
        </p:nvSpPr>
        <p:spPr>
          <a:xfrm>
            <a:off x="768096" y="2889504"/>
            <a:ext cx="222656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第1期の月平均2.4件／最良月5件</a:t>
            </a:r>
          </a:p>
        </p:txBody>
      </p:sp>
      <p:sp>
        <p:nvSpPr>
          <p:cNvPr id="13" name="Rectangle 12"/>
          <p:cNvSpPr/>
          <p:nvPr/>
        </p:nvSpPr>
        <p:spPr>
          <a:xfrm>
            <a:off x="3378708" y="1938528"/>
            <a:ext cx="2628900"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378708" y="1938528"/>
            <a:ext cx="262890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79876" y="2139696"/>
            <a:ext cx="222656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獲得単価</a:t>
            </a:r>
          </a:p>
        </p:txBody>
      </p:sp>
      <p:sp>
        <p:nvSpPr>
          <p:cNvPr id="16" name="TextBox 15"/>
          <p:cNvSpPr txBox="1"/>
          <p:nvPr/>
        </p:nvSpPr>
        <p:spPr>
          <a:xfrm>
            <a:off x="3579876" y="2432304"/>
            <a:ext cx="2226564" cy="548640"/>
          </a:xfrm>
          <a:prstGeom prst="rect">
            <a:avLst/>
          </a:prstGeom>
          <a:noFill/>
        </p:spPr>
        <p:txBody>
          <a:bodyPr wrap="square" lIns="0" rIns="0" tIns="0" bIns="0" anchor="t">
            <a:spAutoFit/>
          </a:bodyPr>
          <a:lstStyle/>
          <a:p>
            <a:pPr algn="l">
              <a:lnSpc>
                <a:spcPct val="110000"/>
              </a:lnSpc>
              <a:spcAft>
                <a:spcPts val="300"/>
              </a:spcAft>
              <a:defRPr sz="2000" b="1">
                <a:solidFill>
                  <a:srgbClr val="405D7B"/>
                </a:solidFill>
                <a:latin typeface="Meiryo"/>
              </a:defRPr>
            </a:pPr>
            <a:r>
              <a:rPr sz="2000" b="1">
                <a:solidFill>
                  <a:srgbClr val="405D7B"/>
                </a:solidFill>
                <a:latin typeface="Meiryo"/>
              </a:rPr>
              <a:t>¥105,000</a:t>
            </a:r>
          </a:p>
          <a:p>
            <a:pPr algn="l">
              <a:lnSpc>
                <a:spcPct val="110000"/>
              </a:lnSpc>
              <a:spcAft>
                <a:spcPts val="300"/>
              </a:spcAft>
              <a:defRPr sz="2000" b="1">
                <a:solidFill>
                  <a:srgbClr val="405D7B"/>
                </a:solidFill>
                <a:latin typeface="Meiryo"/>
              </a:defRPr>
            </a:pPr>
            <a:r>
              <a:rPr sz="2000" b="1">
                <a:solidFill>
                  <a:srgbClr val="405D7B"/>
                </a:solidFill>
                <a:latin typeface="Meiryo"/>
              </a:rPr>
              <a:t>〜175,000</a:t>
            </a:r>
          </a:p>
        </p:txBody>
      </p:sp>
      <p:sp>
        <p:nvSpPr>
          <p:cNvPr id="17" name="TextBox 16"/>
          <p:cNvSpPr txBox="1"/>
          <p:nvPr/>
        </p:nvSpPr>
        <p:spPr>
          <a:xfrm>
            <a:off x="3579876" y="2889504"/>
            <a:ext cx="222656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5件なら第1期平均と同水準</a:t>
            </a:r>
          </a:p>
        </p:txBody>
      </p:sp>
      <p:sp>
        <p:nvSpPr>
          <p:cNvPr id="18" name="Rectangle 17"/>
          <p:cNvSpPr/>
          <p:nvPr/>
        </p:nvSpPr>
        <p:spPr>
          <a:xfrm>
            <a:off x="6190488" y="1938528"/>
            <a:ext cx="2628900"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90488" y="1938528"/>
            <a:ext cx="262890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91656" y="2139696"/>
            <a:ext cx="222656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地元の集客構成比</a:t>
            </a:r>
          </a:p>
        </p:txBody>
      </p:sp>
      <p:sp>
        <p:nvSpPr>
          <p:cNvPr id="21" name="TextBox 20"/>
          <p:cNvSpPr txBox="1"/>
          <p:nvPr/>
        </p:nvSpPr>
        <p:spPr>
          <a:xfrm>
            <a:off x="6391656" y="2432304"/>
            <a:ext cx="2226564" cy="548640"/>
          </a:xfrm>
          <a:prstGeom prst="rect">
            <a:avLst/>
          </a:prstGeom>
          <a:noFill/>
        </p:spPr>
        <p:txBody>
          <a:bodyPr wrap="square" lIns="0" rIns="0" tIns="0" bIns="0" anchor="t">
            <a:spAutoFit/>
          </a:bodyPr>
          <a:lstStyle/>
          <a:p>
            <a:pPr algn="l">
              <a:lnSpc>
                <a:spcPct val="110000"/>
              </a:lnSpc>
              <a:spcAft>
                <a:spcPts val="300"/>
              </a:spcAft>
              <a:defRPr sz="2800" b="1">
                <a:solidFill>
                  <a:srgbClr val="A96933"/>
                </a:solidFill>
                <a:latin typeface="Meiryo"/>
              </a:defRPr>
            </a:pPr>
            <a:r>
              <a:rPr sz="2800" b="1">
                <a:solidFill>
                  <a:srgbClr val="A96933"/>
                </a:solidFill>
                <a:latin typeface="Meiryo"/>
              </a:rPr>
              <a:t>40%以上</a:t>
            </a:r>
          </a:p>
        </p:txBody>
      </p:sp>
      <p:sp>
        <p:nvSpPr>
          <p:cNvPr id="22" name="TextBox 21"/>
          <p:cNvSpPr txBox="1"/>
          <p:nvPr/>
        </p:nvSpPr>
        <p:spPr>
          <a:xfrm>
            <a:off x="6391656" y="2889504"/>
            <a:ext cx="222656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現在19%</a:t>
            </a:r>
          </a:p>
        </p:txBody>
      </p:sp>
      <p:sp>
        <p:nvSpPr>
          <p:cNvPr id="23" name="Rectangle 22"/>
          <p:cNvSpPr/>
          <p:nvPr/>
        </p:nvSpPr>
        <p:spPr>
          <a:xfrm>
            <a:off x="9002268" y="1938528"/>
            <a:ext cx="2628900"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002268" y="1938528"/>
            <a:ext cx="262890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203436" y="2139696"/>
            <a:ext cx="2226564"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DV360のサイト到達率</a:t>
            </a:r>
          </a:p>
        </p:txBody>
      </p:sp>
      <p:sp>
        <p:nvSpPr>
          <p:cNvPr id="26" name="TextBox 25"/>
          <p:cNvSpPr txBox="1"/>
          <p:nvPr/>
        </p:nvSpPr>
        <p:spPr>
          <a:xfrm>
            <a:off x="9203436" y="2432304"/>
            <a:ext cx="2226564" cy="548640"/>
          </a:xfrm>
          <a:prstGeom prst="rect">
            <a:avLst/>
          </a:prstGeom>
          <a:noFill/>
        </p:spPr>
        <p:txBody>
          <a:bodyPr wrap="square" lIns="0" rIns="0" tIns="0" bIns="0" anchor="t">
            <a:spAutoFit/>
          </a:bodyPr>
          <a:lstStyle/>
          <a:p>
            <a:pPr algn="l">
              <a:lnSpc>
                <a:spcPct val="110000"/>
              </a:lnSpc>
              <a:spcAft>
                <a:spcPts val="300"/>
              </a:spcAft>
              <a:defRPr sz="2800" b="1">
                <a:solidFill>
                  <a:srgbClr val="A96933"/>
                </a:solidFill>
                <a:latin typeface="Meiryo"/>
              </a:defRPr>
            </a:pPr>
            <a:r>
              <a:rPr sz="2800" b="1">
                <a:solidFill>
                  <a:srgbClr val="A96933"/>
                </a:solidFill>
                <a:latin typeface="Meiryo"/>
              </a:rPr>
              <a:t>40%以上</a:t>
            </a:r>
          </a:p>
        </p:txBody>
      </p:sp>
      <p:sp>
        <p:nvSpPr>
          <p:cNvPr id="27" name="TextBox 26"/>
          <p:cNvSpPr txBox="1"/>
          <p:nvPr/>
        </p:nvSpPr>
        <p:spPr>
          <a:xfrm>
            <a:off x="9203436" y="2889504"/>
            <a:ext cx="2226564" cy="420624"/>
          </a:xfrm>
          <a:prstGeom prst="rect">
            <a:avLst/>
          </a:prstGeom>
          <a:noFill/>
        </p:spPr>
        <p:txBody>
          <a:bodyPr wrap="square" lIns="0" rIns="0" tIns="0" bIns="0" anchor="t">
            <a:spAutoFit/>
          </a:bodyPr>
          <a:lstStyle/>
          <a:p>
            <a:pPr algn="l">
              <a:lnSpc>
                <a:spcPct val="130000"/>
              </a:lnSpc>
              <a:spcAft>
                <a:spcPts val="300"/>
              </a:spcAft>
              <a:defRPr sz="950" b="0">
                <a:solidFill>
                  <a:srgbClr val="8A929C"/>
                </a:solidFill>
                <a:latin typeface="Meiryo"/>
              </a:defRPr>
            </a:pPr>
            <a:r>
              <a:rPr sz="950" b="0">
                <a:solidFill>
                  <a:srgbClr val="8A929C"/>
                </a:solidFill>
                <a:latin typeface="Meiryo"/>
              </a:rPr>
              <a:t>現在15.9%</a:t>
            </a:r>
          </a:p>
        </p:txBody>
      </p:sp>
      <p:sp>
        <p:nvSpPr>
          <p:cNvPr id="28" name="Rectangle 27"/>
          <p:cNvSpPr/>
          <p:nvPr/>
        </p:nvSpPr>
        <p:spPr>
          <a:xfrm>
            <a:off x="566928" y="3621024"/>
            <a:ext cx="11064240" cy="402336"/>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76656" y="3621024"/>
            <a:ext cx="1243584" cy="402336"/>
          </a:xfrm>
          <a:prstGeom prst="rect">
            <a:avLst/>
          </a:prstGeom>
          <a:noFill/>
        </p:spPr>
        <p:txBody>
          <a:bodyPr wrap="square" lIns="0" rIns="0" tIns="0" bIns="0" anchor="ctr">
            <a:spAutoFit/>
          </a:bodyPr>
          <a:lstStyle/>
          <a:p>
            <a:pPr algn="l">
              <a:lnSpc>
                <a:spcPct val="100000"/>
              </a:lnSpc>
              <a:spcAft>
                <a:spcPts val="0"/>
              </a:spcAft>
              <a:defRPr sz="1100" b="1">
                <a:solidFill>
                  <a:srgbClr val="FFFFFF"/>
                </a:solidFill>
                <a:latin typeface="Meiryo"/>
              </a:defRPr>
            </a:pPr>
            <a:r>
              <a:rPr sz="1100" b="1">
                <a:solidFill>
                  <a:srgbClr val="FFFFFF"/>
                </a:solidFill>
                <a:latin typeface="Meiryo"/>
              </a:rPr>
              <a:t>期日</a:t>
            </a:r>
          </a:p>
        </p:txBody>
      </p:sp>
      <p:sp>
        <p:nvSpPr>
          <p:cNvPr id="30" name="TextBox 29"/>
          <p:cNvSpPr txBox="1"/>
          <p:nvPr/>
        </p:nvSpPr>
        <p:spPr>
          <a:xfrm>
            <a:off x="2139696" y="3621024"/>
            <a:ext cx="9381744" cy="402336"/>
          </a:xfrm>
          <a:prstGeom prst="rect">
            <a:avLst/>
          </a:prstGeom>
          <a:noFill/>
        </p:spPr>
        <p:txBody>
          <a:bodyPr wrap="square" lIns="0" rIns="0" tIns="0" bIns="0" anchor="ctr">
            <a:spAutoFit/>
          </a:bodyPr>
          <a:lstStyle/>
          <a:p>
            <a:pPr algn="l">
              <a:lnSpc>
                <a:spcPct val="100000"/>
              </a:lnSpc>
              <a:spcAft>
                <a:spcPts val="0"/>
              </a:spcAft>
              <a:defRPr sz="1100" b="1">
                <a:solidFill>
                  <a:srgbClr val="FFFFFF"/>
                </a:solidFill>
                <a:latin typeface="Meiryo"/>
              </a:defRPr>
            </a:pPr>
            <a:r>
              <a:rPr sz="1100" b="1">
                <a:solidFill>
                  <a:srgbClr val="FFFFFF"/>
                </a:solidFill>
                <a:latin typeface="Meiryo"/>
              </a:rPr>
              <a:t>内容</a:t>
            </a:r>
          </a:p>
        </p:txBody>
      </p:sp>
      <p:sp>
        <p:nvSpPr>
          <p:cNvPr id="31" name="Rectangle 30"/>
          <p:cNvSpPr/>
          <p:nvPr/>
        </p:nvSpPr>
        <p:spPr>
          <a:xfrm>
            <a:off x="566928" y="4023360"/>
            <a:ext cx="110642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6656" y="4023360"/>
            <a:ext cx="1243584" cy="384048"/>
          </a:xfrm>
          <a:prstGeom prst="rect">
            <a:avLst/>
          </a:prstGeom>
          <a:noFill/>
        </p:spPr>
        <p:txBody>
          <a:bodyPr wrap="square" lIns="0" rIns="0" tIns="0" bIns="0" anchor="ctr">
            <a:spAutoFit/>
          </a:bodyPr>
          <a:lstStyle/>
          <a:p>
            <a:pPr algn="l">
              <a:lnSpc>
                <a:spcPct val="100000"/>
              </a:lnSpc>
              <a:spcAft>
                <a:spcPts val="0"/>
              </a:spcAft>
              <a:defRPr sz="1100" b="0">
                <a:solidFill>
                  <a:srgbClr val="454B52"/>
                </a:solidFill>
                <a:latin typeface="Meiryo"/>
              </a:defRPr>
            </a:pPr>
            <a:r>
              <a:rPr sz="1100" b="0">
                <a:solidFill>
                  <a:srgbClr val="454B52"/>
                </a:solidFill>
                <a:latin typeface="Meiryo"/>
              </a:rPr>
              <a:t>7月下旬</a:t>
            </a:r>
          </a:p>
        </p:txBody>
      </p:sp>
      <p:sp>
        <p:nvSpPr>
          <p:cNvPr id="33" name="TextBox 32"/>
          <p:cNvSpPr txBox="1"/>
          <p:nvPr/>
        </p:nvSpPr>
        <p:spPr>
          <a:xfrm>
            <a:off x="2139696" y="4023360"/>
            <a:ext cx="9381744" cy="384048"/>
          </a:xfrm>
          <a:prstGeom prst="rect">
            <a:avLst/>
          </a:prstGeom>
          <a:noFill/>
        </p:spPr>
        <p:txBody>
          <a:bodyPr wrap="square" lIns="0" rIns="0" tIns="0" bIns="0" anchor="ctr">
            <a:spAutoFit/>
          </a:bodyPr>
          <a:lstStyle/>
          <a:p>
            <a:pPr algn="l">
              <a:lnSpc>
                <a:spcPct val="100000"/>
              </a:lnSpc>
              <a:spcAft>
                <a:spcPts val="0"/>
              </a:spcAft>
              <a:defRPr sz="1100" b="0">
                <a:solidFill>
                  <a:srgbClr val="454B52"/>
                </a:solidFill>
                <a:latin typeface="Meiryo"/>
              </a:defRPr>
            </a:pPr>
            <a:r>
              <a:rPr sz="1100" b="0">
                <a:solidFill>
                  <a:srgbClr val="454B52"/>
                </a:solidFill>
                <a:latin typeface="Meiryo"/>
              </a:rPr>
              <a:t>配信エリアの設定変更／DV360除外リスト作成／クラブ名検索の除外／コンバージョン計測の接続</a:t>
            </a:r>
          </a:p>
        </p:txBody>
      </p:sp>
      <p:sp>
        <p:nvSpPr>
          <p:cNvPr id="34" name="Rectangle 33"/>
          <p:cNvSpPr/>
          <p:nvPr/>
        </p:nvSpPr>
        <p:spPr>
          <a:xfrm>
            <a:off x="566928" y="4407408"/>
            <a:ext cx="11064240" cy="384048"/>
          </a:xfrm>
          <a:prstGeom prst="rect">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76656" y="4407408"/>
            <a:ext cx="1243584" cy="384048"/>
          </a:xfrm>
          <a:prstGeom prst="rect">
            <a:avLst/>
          </a:prstGeom>
          <a:noFill/>
        </p:spPr>
        <p:txBody>
          <a:bodyPr wrap="square" lIns="0" rIns="0" tIns="0" bIns="0" anchor="ctr">
            <a:spAutoFit/>
          </a:bodyPr>
          <a:lstStyle/>
          <a:p>
            <a:pPr algn="l">
              <a:lnSpc>
                <a:spcPct val="100000"/>
              </a:lnSpc>
              <a:spcAft>
                <a:spcPts val="0"/>
              </a:spcAft>
              <a:defRPr sz="1100" b="0">
                <a:solidFill>
                  <a:srgbClr val="454B52"/>
                </a:solidFill>
                <a:latin typeface="Meiryo"/>
              </a:defRPr>
            </a:pPr>
            <a:r>
              <a:rPr sz="1100" b="0">
                <a:solidFill>
                  <a:srgbClr val="454B52"/>
                </a:solidFill>
                <a:latin typeface="Meiryo"/>
              </a:rPr>
              <a:t>7月末</a:t>
            </a:r>
          </a:p>
        </p:txBody>
      </p:sp>
      <p:sp>
        <p:nvSpPr>
          <p:cNvPr id="36" name="TextBox 35"/>
          <p:cNvSpPr txBox="1"/>
          <p:nvPr/>
        </p:nvSpPr>
        <p:spPr>
          <a:xfrm>
            <a:off x="2139696" y="4407408"/>
            <a:ext cx="9381744" cy="384048"/>
          </a:xfrm>
          <a:prstGeom prst="rect">
            <a:avLst/>
          </a:prstGeom>
          <a:noFill/>
        </p:spPr>
        <p:txBody>
          <a:bodyPr wrap="square" lIns="0" rIns="0" tIns="0" bIns="0" anchor="ctr">
            <a:spAutoFit/>
          </a:bodyPr>
          <a:lstStyle/>
          <a:p>
            <a:pPr algn="l">
              <a:lnSpc>
                <a:spcPct val="100000"/>
              </a:lnSpc>
              <a:spcAft>
                <a:spcPts val="0"/>
              </a:spcAft>
              <a:defRPr sz="1100" b="0">
                <a:solidFill>
                  <a:srgbClr val="454B52"/>
                </a:solidFill>
                <a:latin typeface="Meiryo"/>
              </a:defRPr>
            </a:pPr>
            <a:r>
              <a:rPr sz="1100" b="0">
                <a:solidFill>
                  <a:srgbClr val="454B52"/>
                </a:solidFill>
                <a:latin typeface="Meiryo"/>
              </a:rPr>
              <a:t>クリエイティブを視察プレー訴求へ差し替え／LINEヤフー広告の入稿</a:t>
            </a:r>
          </a:p>
        </p:txBody>
      </p:sp>
      <p:sp>
        <p:nvSpPr>
          <p:cNvPr id="37" name="Rectangle 36"/>
          <p:cNvSpPr/>
          <p:nvPr/>
        </p:nvSpPr>
        <p:spPr>
          <a:xfrm>
            <a:off x="566928" y="4791456"/>
            <a:ext cx="11064240" cy="3840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76656" y="4791456"/>
            <a:ext cx="1243584" cy="384048"/>
          </a:xfrm>
          <a:prstGeom prst="rect">
            <a:avLst/>
          </a:prstGeom>
          <a:noFill/>
        </p:spPr>
        <p:txBody>
          <a:bodyPr wrap="square" lIns="0" rIns="0" tIns="0" bIns="0" anchor="ctr">
            <a:spAutoFit/>
          </a:bodyPr>
          <a:lstStyle/>
          <a:p>
            <a:pPr algn="l">
              <a:lnSpc>
                <a:spcPct val="100000"/>
              </a:lnSpc>
              <a:spcAft>
                <a:spcPts val="0"/>
              </a:spcAft>
              <a:defRPr sz="1100" b="1">
                <a:solidFill>
                  <a:srgbClr val="405D7B"/>
                </a:solidFill>
                <a:latin typeface="Meiryo"/>
              </a:defRPr>
            </a:pPr>
            <a:r>
              <a:rPr sz="1100" b="1">
                <a:solidFill>
                  <a:srgbClr val="405D7B"/>
                </a:solidFill>
                <a:latin typeface="Meiryo"/>
              </a:rPr>
              <a:t>8月1日</a:t>
            </a:r>
          </a:p>
        </p:txBody>
      </p:sp>
      <p:sp>
        <p:nvSpPr>
          <p:cNvPr id="39" name="TextBox 38"/>
          <p:cNvSpPr txBox="1"/>
          <p:nvPr/>
        </p:nvSpPr>
        <p:spPr>
          <a:xfrm>
            <a:off x="2139696" y="4791456"/>
            <a:ext cx="9381744" cy="384048"/>
          </a:xfrm>
          <a:prstGeom prst="rect">
            <a:avLst/>
          </a:prstGeom>
          <a:noFill/>
        </p:spPr>
        <p:txBody>
          <a:bodyPr wrap="square" lIns="0" rIns="0" tIns="0" bIns="0" anchor="ctr">
            <a:spAutoFit/>
          </a:bodyPr>
          <a:lstStyle/>
          <a:p>
            <a:pPr algn="l">
              <a:lnSpc>
                <a:spcPct val="100000"/>
              </a:lnSpc>
              <a:spcAft>
                <a:spcPts val="0"/>
              </a:spcAft>
              <a:defRPr sz="1100" b="1">
                <a:solidFill>
                  <a:srgbClr val="405D7B"/>
                </a:solidFill>
                <a:latin typeface="Meiryo"/>
              </a:defRPr>
            </a:pPr>
            <a:r>
              <a:rPr sz="1100" b="1">
                <a:solidFill>
                  <a:srgbClr val="405D7B"/>
                </a:solidFill>
                <a:latin typeface="Meiryo"/>
              </a:rPr>
              <a:t>配信開始</a:t>
            </a:r>
          </a:p>
        </p:txBody>
      </p:sp>
      <p:sp>
        <p:nvSpPr>
          <p:cNvPr id="40" name="Rectangle 39"/>
          <p:cNvSpPr/>
          <p:nvPr/>
        </p:nvSpPr>
        <p:spPr>
          <a:xfrm>
            <a:off x="566928" y="5175504"/>
            <a:ext cx="11064240" cy="384048"/>
          </a:xfrm>
          <a:prstGeom prst="rect">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76656" y="5175504"/>
            <a:ext cx="1243584" cy="384048"/>
          </a:xfrm>
          <a:prstGeom prst="rect">
            <a:avLst/>
          </a:prstGeom>
          <a:noFill/>
        </p:spPr>
        <p:txBody>
          <a:bodyPr wrap="square" lIns="0" rIns="0" tIns="0" bIns="0" anchor="ctr">
            <a:spAutoFit/>
          </a:bodyPr>
          <a:lstStyle/>
          <a:p>
            <a:pPr algn="l">
              <a:lnSpc>
                <a:spcPct val="100000"/>
              </a:lnSpc>
              <a:spcAft>
                <a:spcPts val="0"/>
              </a:spcAft>
              <a:defRPr sz="1100" b="0">
                <a:solidFill>
                  <a:srgbClr val="454B52"/>
                </a:solidFill>
                <a:latin typeface="Meiryo"/>
              </a:defRPr>
            </a:pPr>
            <a:r>
              <a:rPr sz="1100" b="0">
                <a:solidFill>
                  <a:srgbClr val="454B52"/>
                </a:solidFill>
                <a:latin typeface="Meiryo"/>
              </a:rPr>
              <a:t>8月中旬</a:t>
            </a:r>
          </a:p>
        </p:txBody>
      </p:sp>
      <p:sp>
        <p:nvSpPr>
          <p:cNvPr id="42" name="TextBox 41"/>
          <p:cNvSpPr txBox="1"/>
          <p:nvPr/>
        </p:nvSpPr>
        <p:spPr>
          <a:xfrm>
            <a:off x="2139696" y="5175504"/>
            <a:ext cx="9381744" cy="384048"/>
          </a:xfrm>
          <a:prstGeom prst="rect">
            <a:avLst/>
          </a:prstGeom>
          <a:noFill/>
        </p:spPr>
        <p:txBody>
          <a:bodyPr wrap="square" lIns="0" rIns="0" tIns="0" bIns="0" anchor="ctr">
            <a:spAutoFit/>
          </a:bodyPr>
          <a:lstStyle/>
          <a:p>
            <a:pPr algn="l">
              <a:lnSpc>
                <a:spcPct val="100000"/>
              </a:lnSpc>
              <a:spcAft>
                <a:spcPts val="0"/>
              </a:spcAft>
              <a:defRPr sz="1100" b="0">
                <a:solidFill>
                  <a:srgbClr val="454B52"/>
                </a:solidFill>
                <a:latin typeface="Meiryo"/>
              </a:defRPr>
            </a:pPr>
            <a:r>
              <a:rPr sz="1100" b="0">
                <a:solidFill>
                  <a:srgbClr val="454B52"/>
                </a:solidFill>
                <a:latin typeface="Meiryo"/>
              </a:rPr>
              <a:t>中間レポート・配分の見直し</a:t>
            </a:r>
          </a:p>
        </p:txBody>
      </p:sp>
      <p:sp>
        <p:nvSpPr>
          <p:cNvPr id="43" name="Rectangle 42"/>
          <p:cNvSpPr/>
          <p:nvPr/>
        </p:nvSpPr>
        <p:spPr>
          <a:xfrm>
            <a:off x="566928" y="5559552"/>
            <a:ext cx="11064240" cy="3840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76656" y="5559552"/>
            <a:ext cx="1243584" cy="384048"/>
          </a:xfrm>
          <a:prstGeom prst="rect">
            <a:avLst/>
          </a:prstGeom>
          <a:noFill/>
        </p:spPr>
        <p:txBody>
          <a:bodyPr wrap="square" lIns="0" rIns="0" tIns="0" bIns="0" anchor="ctr">
            <a:spAutoFit/>
          </a:bodyPr>
          <a:lstStyle/>
          <a:p>
            <a:pPr algn="l">
              <a:lnSpc>
                <a:spcPct val="100000"/>
              </a:lnSpc>
              <a:spcAft>
                <a:spcPts val="0"/>
              </a:spcAft>
              <a:defRPr sz="1100" b="1">
                <a:solidFill>
                  <a:srgbClr val="405D7B"/>
                </a:solidFill>
                <a:latin typeface="Meiryo"/>
              </a:defRPr>
            </a:pPr>
            <a:r>
              <a:rPr sz="1100" b="1">
                <a:solidFill>
                  <a:srgbClr val="405D7B"/>
                </a:solidFill>
                <a:latin typeface="Meiryo"/>
              </a:rPr>
              <a:t>8月30日</a:t>
            </a:r>
          </a:p>
        </p:txBody>
      </p:sp>
      <p:sp>
        <p:nvSpPr>
          <p:cNvPr id="45" name="TextBox 44"/>
          <p:cNvSpPr txBox="1"/>
          <p:nvPr/>
        </p:nvSpPr>
        <p:spPr>
          <a:xfrm>
            <a:off x="2139696" y="5559552"/>
            <a:ext cx="9381744" cy="384048"/>
          </a:xfrm>
          <a:prstGeom prst="rect">
            <a:avLst/>
          </a:prstGeom>
          <a:noFill/>
        </p:spPr>
        <p:txBody>
          <a:bodyPr wrap="square" lIns="0" rIns="0" tIns="0" bIns="0" anchor="ctr">
            <a:spAutoFit/>
          </a:bodyPr>
          <a:lstStyle/>
          <a:p>
            <a:pPr algn="l">
              <a:lnSpc>
                <a:spcPct val="100000"/>
              </a:lnSpc>
              <a:spcAft>
                <a:spcPts val="0"/>
              </a:spcAft>
              <a:defRPr sz="1100" b="1">
                <a:solidFill>
                  <a:srgbClr val="405D7B"/>
                </a:solidFill>
                <a:latin typeface="Meiryo"/>
              </a:defRPr>
            </a:pPr>
            <a:r>
              <a:rPr sz="1100" b="1">
                <a:solidFill>
                  <a:srgbClr val="405D7B"/>
                </a:solidFill>
                <a:latin typeface="Meiryo"/>
              </a:rPr>
              <a:t>視察プレー受付終了</a:t>
            </a:r>
          </a:p>
        </p:txBody>
      </p:sp>
      <p:sp>
        <p:nvSpPr>
          <p:cNvPr id="46" name="Rectangle 45"/>
          <p:cNvSpPr/>
          <p:nvPr/>
        </p:nvSpPr>
        <p:spPr>
          <a:xfrm>
            <a:off x="566928" y="5943600"/>
            <a:ext cx="11064240" cy="384048"/>
          </a:xfrm>
          <a:prstGeom prst="rect">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76656" y="5943600"/>
            <a:ext cx="1243584" cy="384048"/>
          </a:xfrm>
          <a:prstGeom prst="rect">
            <a:avLst/>
          </a:prstGeom>
          <a:noFill/>
        </p:spPr>
        <p:txBody>
          <a:bodyPr wrap="square" lIns="0" rIns="0" tIns="0" bIns="0" anchor="ctr">
            <a:spAutoFit/>
          </a:bodyPr>
          <a:lstStyle/>
          <a:p>
            <a:pPr algn="l">
              <a:lnSpc>
                <a:spcPct val="100000"/>
              </a:lnSpc>
              <a:spcAft>
                <a:spcPts val="0"/>
              </a:spcAft>
              <a:defRPr sz="1100" b="0">
                <a:solidFill>
                  <a:srgbClr val="454B52"/>
                </a:solidFill>
                <a:latin typeface="Meiryo"/>
              </a:defRPr>
            </a:pPr>
            <a:r>
              <a:rPr sz="1100" b="0">
                <a:solidFill>
                  <a:srgbClr val="454B52"/>
                </a:solidFill>
                <a:latin typeface="Meiryo"/>
              </a:rPr>
              <a:t>9月上旬</a:t>
            </a:r>
          </a:p>
        </p:txBody>
      </p:sp>
      <p:sp>
        <p:nvSpPr>
          <p:cNvPr id="48" name="TextBox 47"/>
          <p:cNvSpPr txBox="1"/>
          <p:nvPr/>
        </p:nvSpPr>
        <p:spPr>
          <a:xfrm>
            <a:off x="2139696" y="5943600"/>
            <a:ext cx="9381744" cy="384048"/>
          </a:xfrm>
          <a:prstGeom prst="rect">
            <a:avLst/>
          </a:prstGeom>
          <a:noFill/>
        </p:spPr>
        <p:txBody>
          <a:bodyPr wrap="square" lIns="0" rIns="0" tIns="0" bIns="0" anchor="ctr">
            <a:spAutoFit/>
          </a:bodyPr>
          <a:lstStyle/>
          <a:p>
            <a:pPr algn="l">
              <a:lnSpc>
                <a:spcPct val="100000"/>
              </a:lnSpc>
              <a:spcAft>
                <a:spcPts val="0"/>
              </a:spcAft>
              <a:defRPr sz="1100" b="0">
                <a:solidFill>
                  <a:srgbClr val="454B52"/>
                </a:solidFill>
                <a:latin typeface="Meiryo"/>
              </a:defRPr>
            </a:pPr>
            <a:r>
              <a:rPr sz="1100" b="0">
                <a:solidFill>
                  <a:srgbClr val="454B52"/>
                </a:solidFill>
                <a:latin typeface="Meiryo"/>
              </a:rPr>
              <a:t>8月実績のご報告・9月以降のご提案</a:t>
            </a:r>
          </a:p>
        </p:txBody>
      </p:sp>
      <p:sp>
        <p:nvSpPr>
          <p:cNvPr id="49" name="TextBox 48"/>
          <p:cNvSpPr txBox="1"/>
          <p:nvPr/>
        </p:nvSpPr>
        <p:spPr>
          <a:xfrm>
            <a:off x="566928" y="5833872"/>
            <a:ext cx="11064240" cy="365760"/>
          </a:xfrm>
          <a:prstGeom prst="rect">
            <a:avLst/>
          </a:prstGeom>
          <a:noFill/>
        </p:spPr>
        <p:txBody>
          <a:bodyPr wrap="square" lIns="0" rIns="0" tIns="0" bIns="0" anchor="t">
            <a:spAutoFit/>
          </a:bodyPr>
          <a:lstStyle/>
          <a:p>
            <a:pPr algn="l">
              <a:lnSpc>
                <a:spcPct val="135000"/>
              </a:lnSpc>
              <a:spcAft>
                <a:spcPts val="300"/>
              </a:spcAft>
              <a:defRPr sz="950" b="0">
                <a:solidFill>
                  <a:srgbClr val="8A929C"/>
                </a:solidFill>
                <a:latin typeface="Meiryo"/>
              </a:defRPr>
            </a:pPr>
            <a:r>
              <a:rPr sz="950" b="0">
                <a:solidFill>
                  <a:srgbClr val="8A929C"/>
                </a:solidFill>
                <a:latin typeface="Meiryo"/>
              </a:rPr>
              <a:t>〈当社仮説〉KPIは第1期の実績水準を根拠とした目標値であり、達成を保証するものではありません。</a:t>
            </a:r>
          </a:p>
          <a:p>
            <a:pPr algn="l">
              <a:lnSpc>
                <a:spcPct val="135000"/>
              </a:lnSpc>
              <a:spcAft>
                <a:spcPts val="300"/>
              </a:spcAft>
              <a:defRPr sz="950" b="0">
                <a:solidFill>
                  <a:srgbClr val="8A929C"/>
                </a:solidFill>
                <a:latin typeface="Meiryo"/>
              </a:defRPr>
            </a:pPr>
            <a:r>
              <a:rPr sz="950" b="0">
                <a:solidFill>
                  <a:srgbClr val="8A929C"/>
                </a:solidFill>
                <a:latin typeface="Meiryo"/>
              </a:rPr>
              <a:t>週次でご報告し、8月中旬に配分を見直します。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82296" cy="237744"/>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438912"/>
            <a:ext cx="10515600" cy="274320"/>
          </a:xfrm>
          <a:prstGeom prst="rect">
            <a:avLst/>
          </a:prstGeom>
          <a:noFill/>
        </p:spPr>
        <p:txBody>
          <a:bodyPr wrap="square" lIns="0" rIns="0" tIns="0" bIns="0" anchor="t">
            <a:spAutoFit/>
          </a:bodyPr>
          <a:lstStyle/>
          <a:p>
            <a:pPr algn="l">
              <a:lnSpc>
                <a:spcPct val="140000"/>
              </a:lnSpc>
              <a:spcAft>
                <a:spcPts val="300"/>
              </a:spcAft>
              <a:defRPr sz="1150" b="1">
                <a:solidFill>
                  <a:srgbClr val="405D7B"/>
                </a:solidFill>
                <a:latin typeface="Meiryo"/>
              </a:defRPr>
            </a:pPr>
            <a:r>
              <a:rPr sz="1150" b="1">
                <a:solidFill>
                  <a:srgbClr val="405D7B"/>
                </a:solidFill>
                <a:latin typeface="Meiryo"/>
              </a:rPr>
              <a:t>4 依頼</a:t>
            </a:r>
          </a:p>
        </p:txBody>
      </p:sp>
      <p:sp>
        <p:nvSpPr>
          <p:cNvPr id="4" name="TextBox 3"/>
          <p:cNvSpPr txBox="1"/>
          <p:nvPr/>
        </p:nvSpPr>
        <p:spPr>
          <a:xfrm>
            <a:off x="530352" y="731520"/>
            <a:ext cx="10972800" cy="566928"/>
          </a:xfrm>
          <a:prstGeom prst="rect">
            <a:avLst/>
          </a:prstGeom>
          <a:noFill/>
        </p:spPr>
        <p:txBody>
          <a:bodyPr wrap="square" lIns="0" rIns="0" tIns="0" bIns="0" anchor="t">
            <a:spAutoFit/>
          </a:bodyPr>
          <a:lstStyle/>
          <a:p>
            <a:pPr algn="l">
              <a:lnSpc>
                <a:spcPct val="115000"/>
              </a:lnSpc>
              <a:spcAft>
                <a:spcPts val="300"/>
              </a:spcAft>
              <a:defRPr sz="2700" b="1">
                <a:solidFill>
                  <a:srgbClr val="2A2E33"/>
                </a:solidFill>
                <a:latin typeface="Meiryo"/>
              </a:defRPr>
            </a:pPr>
            <a:r>
              <a:rPr sz="2700" b="1">
                <a:solidFill>
                  <a:srgbClr val="2A2E33"/>
                </a:solidFill>
                <a:latin typeface="Meiryo"/>
              </a:rPr>
              <a:t>ご依頼事項</a:t>
            </a:r>
          </a:p>
        </p:txBody>
      </p:sp>
      <p:sp>
        <p:nvSpPr>
          <p:cNvPr id="5" name="Rectangle 4"/>
          <p:cNvSpPr/>
          <p:nvPr/>
        </p:nvSpPr>
        <p:spPr>
          <a:xfrm>
            <a:off x="566928" y="1399032"/>
            <a:ext cx="1600200" cy="45720"/>
          </a:xfrm>
          <a:prstGeom prst="rect">
            <a:avLst/>
          </a:prstGeom>
          <a:solidFill>
            <a:srgbClr val="33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417320"/>
            <a:ext cx="11064240" cy="9144"/>
          </a:xfrm>
          <a:prstGeom prst="rect">
            <a:avLst/>
          </a:prstGeom>
          <a:solidFill>
            <a:srgbClr val="E2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0" y="6510528"/>
            <a:ext cx="640080" cy="274320"/>
          </a:xfrm>
          <a:prstGeom prst="rect">
            <a:avLst/>
          </a:prstGeom>
          <a:noFill/>
        </p:spPr>
        <p:txBody>
          <a:bodyPr wrap="square" lIns="0" rIns="0" tIns="0" bIns="0" anchor="t">
            <a:spAutoFit/>
          </a:bodyPr>
          <a:lstStyle/>
          <a:p>
            <a:pPr algn="r">
              <a:lnSpc>
                <a:spcPct val="140000"/>
              </a:lnSpc>
              <a:spcAft>
                <a:spcPts val="300"/>
              </a:spcAft>
              <a:defRPr sz="1050" b="0">
                <a:solidFill>
                  <a:srgbClr val="8A929C"/>
                </a:solidFill>
                <a:latin typeface="Meiryo"/>
              </a:defRPr>
            </a:pPr>
            <a:r>
              <a:rPr sz="1050" b="0">
                <a:solidFill>
                  <a:srgbClr val="8A929C"/>
                </a:solidFill>
                <a:latin typeface="Meiryo"/>
              </a:rPr>
              <a:t>10</a:t>
            </a:r>
          </a:p>
        </p:txBody>
      </p:sp>
      <p:sp>
        <p:nvSpPr>
          <p:cNvPr id="8" name="Rectangle 7"/>
          <p:cNvSpPr/>
          <p:nvPr/>
        </p:nvSpPr>
        <p:spPr>
          <a:xfrm>
            <a:off x="566928" y="1737360"/>
            <a:ext cx="11064240" cy="12070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737360"/>
            <a:ext cx="11064240" cy="45720"/>
          </a:xfrm>
          <a:prstGeom prst="rect">
            <a:avLst/>
          </a:prstGeom>
          <a:solidFill>
            <a:srgbClr val="A96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1920240"/>
            <a:ext cx="10643615"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お願い</a:t>
            </a:r>
          </a:p>
        </p:txBody>
      </p:sp>
      <p:sp>
        <p:nvSpPr>
          <p:cNvPr id="11" name="TextBox 10"/>
          <p:cNvSpPr txBox="1"/>
          <p:nvPr/>
        </p:nvSpPr>
        <p:spPr>
          <a:xfrm>
            <a:off x="777240" y="2157984"/>
            <a:ext cx="10643615" cy="347472"/>
          </a:xfrm>
          <a:prstGeom prst="rect">
            <a:avLst/>
          </a:prstGeom>
          <a:noFill/>
        </p:spPr>
        <p:txBody>
          <a:bodyPr wrap="square" lIns="0" rIns="0" tIns="0" bIns="0" anchor="t">
            <a:spAutoFit/>
          </a:bodyPr>
          <a:lstStyle/>
          <a:p>
            <a:pPr algn="l">
              <a:lnSpc>
                <a:spcPct val="140000"/>
              </a:lnSpc>
              <a:spcAft>
                <a:spcPts val="300"/>
              </a:spcAft>
              <a:defRPr sz="1550" b="1">
                <a:solidFill>
                  <a:srgbClr val="2A2E33"/>
                </a:solidFill>
                <a:latin typeface="Meiryo"/>
              </a:defRPr>
            </a:pPr>
            <a:r>
              <a:rPr sz="1550" b="1">
                <a:solidFill>
                  <a:srgbClr val="2A2E33"/>
                </a:solidFill>
                <a:latin typeface="Meiryo"/>
              </a:rPr>
              <a:t>公式サイト経由のお問い合わせ実績をご共有ください</a:t>
            </a:r>
          </a:p>
        </p:txBody>
      </p:sp>
      <p:sp>
        <p:nvSpPr>
          <p:cNvPr id="12" name="TextBox 11"/>
          <p:cNvSpPr txBox="1"/>
          <p:nvPr/>
        </p:nvSpPr>
        <p:spPr>
          <a:xfrm>
            <a:off x="804672" y="2596896"/>
            <a:ext cx="10588752" cy="182880"/>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月別・「会員権について 知ったきっかけ」別で、2024年10月以降をいただけますと幸いです。</a:t>
            </a:r>
          </a:p>
        </p:txBody>
      </p:sp>
      <p:sp>
        <p:nvSpPr>
          <p:cNvPr id="13" name="TextBox 12"/>
          <p:cNvSpPr txBox="1"/>
          <p:nvPr/>
        </p:nvSpPr>
        <p:spPr>
          <a:xfrm>
            <a:off x="566928" y="3218688"/>
            <a:ext cx="11064240" cy="274320"/>
          </a:xfrm>
          <a:prstGeom prst="rect">
            <a:avLst/>
          </a:prstGeom>
          <a:noFill/>
        </p:spPr>
        <p:txBody>
          <a:bodyPr wrap="square" lIns="0" rIns="0" tIns="0" bIns="0" anchor="t">
            <a:spAutoFit/>
          </a:bodyPr>
          <a:lstStyle/>
          <a:p>
            <a:pPr algn="l">
              <a:lnSpc>
                <a:spcPct val="140000"/>
              </a:lnSpc>
              <a:spcAft>
                <a:spcPts val="300"/>
              </a:spcAft>
              <a:defRPr sz="1300" b="1">
                <a:solidFill>
                  <a:srgbClr val="2A2E33"/>
                </a:solidFill>
                <a:latin typeface="Meiryo"/>
              </a:defRPr>
            </a:pPr>
            <a:r>
              <a:rPr sz="1300" b="1">
                <a:solidFill>
                  <a:srgbClr val="2A2E33"/>
                </a:solidFill>
                <a:latin typeface="Meiryo"/>
              </a:rPr>
              <a:t>背景</a:t>
            </a:r>
          </a:p>
        </p:txBody>
      </p:sp>
      <p:sp>
        <p:nvSpPr>
          <p:cNvPr id="14" name="TextBox 13"/>
          <p:cNvSpPr txBox="1"/>
          <p:nvPr/>
        </p:nvSpPr>
        <p:spPr>
          <a:xfrm>
            <a:off x="566928" y="3547872"/>
            <a:ext cx="11064240" cy="1371600"/>
          </a:xfrm>
          <a:prstGeom prst="rect">
            <a:avLst/>
          </a:prstGeom>
          <a:noFill/>
        </p:spPr>
        <p:txBody>
          <a:bodyPr wrap="square" lIns="0" rIns="0" tIns="0" bIns="0" anchor="t">
            <a:spAutoFit/>
          </a:bodyPr>
          <a:lstStyle/>
          <a:p>
            <a:pPr algn="l">
              <a:lnSpc>
                <a:spcPct val="160000"/>
              </a:lnSpc>
              <a:spcAft>
                <a:spcPts val="300"/>
              </a:spcAft>
              <a:defRPr sz="1200" b="0">
                <a:solidFill>
                  <a:srgbClr val="454B52"/>
                </a:solidFill>
                <a:latin typeface="Meiryo"/>
              </a:defRPr>
            </a:pPr>
            <a:r>
              <a:rPr sz="1200" b="0">
                <a:solidFill>
                  <a:srgbClr val="454B52"/>
                </a:solidFill>
                <a:latin typeface="Meiryo"/>
              </a:rPr>
              <a:t>･  LPから公式サイトへ、全期間で1,430件の遷移が発生しています（2026年7月は75%が広告経由）</a:t>
            </a:r>
          </a:p>
          <a:p>
            <a:pPr algn="l">
              <a:lnSpc>
                <a:spcPct val="160000"/>
              </a:lnSpc>
              <a:spcAft>
                <a:spcPts val="300"/>
              </a:spcAft>
              <a:defRPr sz="1200" b="0">
                <a:solidFill>
                  <a:srgbClr val="454B52"/>
                </a:solidFill>
                <a:latin typeface="Meiryo"/>
              </a:defRPr>
            </a:pPr>
            <a:r>
              <a:rPr sz="1200" b="0">
                <a:solidFill>
                  <a:srgbClr val="454B52"/>
                </a:solidFill>
                <a:latin typeface="Meiryo"/>
              </a:rPr>
              <a:t>･  公式サイトのフォームには「知ったきっかけ」が必須項目としてあり、「Googleの広告」「Facebook/Instagram等の広告」が選択肢に含まれています</a:t>
            </a:r>
          </a:p>
          <a:p>
            <a:pPr algn="l">
              <a:lnSpc>
                <a:spcPct val="160000"/>
              </a:lnSpc>
              <a:spcAft>
                <a:spcPts val="300"/>
              </a:spcAft>
              <a:defRPr sz="1200" b="0">
                <a:solidFill>
                  <a:srgbClr val="454B52"/>
                </a:solidFill>
                <a:latin typeface="Meiryo"/>
              </a:defRPr>
            </a:pPr>
            <a:r>
              <a:rPr sz="1200" b="0">
                <a:solidFill>
                  <a:srgbClr val="454B52"/>
                </a:solidFill>
                <a:latin typeface="Meiryo"/>
              </a:rPr>
              <a:t>･  広告経由のお問い合わせが公式サイト側で受け付けられている可能性があり、現時点の集計（LP経由のみ）は実際の成果を過小評価している可能性があります</a:t>
            </a:r>
          </a:p>
        </p:txBody>
      </p:sp>
      <p:sp>
        <p:nvSpPr>
          <p:cNvPr id="15" name="Rectangle 14"/>
          <p:cNvSpPr/>
          <p:nvPr/>
        </p:nvSpPr>
        <p:spPr>
          <a:xfrm>
            <a:off x="566928" y="5047488"/>
            <a:ext cx="11064240" cy="96926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047488"/>
            <a:ext cx="11064240" cy="45720"/>
          </a:xfrm>
          <a:prstGeom prst="rect">
            <a:avLst/>
          </a:prstGeom>
          <a:solidFill>
            <a:srgbClr val="405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5230368"/>
            <a:ext cx="10643615" cy="256032"/>
          </a:xfrm>
          <a:prstGeom prst="rect">
            <a:avLst/>
          </a:prstGeom>
          <a:noFill/>
        </p:spPr>
        <p:txBody>
          <a:bodyPr wrap="square" lIns="0" rIns="0" tIns="0" bIns="0" anchor="t">
            <a:spAutoFit/>
          </a:bodyPr>
          <a:lstStyle/>
          <a:p>
            <a:pPr algn="l">
              <a:lnSpc>
                <a:spcPct val="140000"/>
              </a:lnSpc>
              <a:spcAft>
                <a:spcPts val="300"/>
              </a:spcAft>
              <a:defRPr sz="1050" b="1">
                <a:solidFill>
                  <a:srgbClr val="6C7582"/>
                </a:solidFill>
                <a:latin typeface="Meiryo"/>
              </a:defRPr>
            </a:pPr>
            <a:r>
              <a:rPr sz="1050" b="1">
                <a:solidFill>
                  <a:srgbClr val="6C7582"/>
                </a:solidFill>
                <a:latin typeface="Meiryo"/>
              </a:rPr>
              <a:t>このデータで確定すること</a:t>
            </a:r>
          </a:p>
        </p:txBody>
      </p:sp>
      <p:sp>
        <p:nvSpPr>
          <p:cNvPr id="18" name="TextBox 17"/>
          <p:cNvSpPr txBox="1"/>
          <p:nvPr/>
        </p:nvSpPr>
        <p:spPr>
          <a:xfrm>
            <a:off x="804672" y="5468112"/>
            <a:ext cx="10588752" cy="384048"/>
          </a:xfrm>
          <a:prstGeom prst="rect">
            <a:avLst/>
          </a:prstGeom>
          <a:noFill/>
        </p:spPr>
        <p:txBody>
          <a:bodyPr wrap="square" lIns="0" rIns="0" tIns="0" bIns="0" anchor="t">
            <a:spAutoFit/>
          </a:bodyPr>
          <a:lstStyle/>
          <a:p>
            <a:pPr algn="l">
              <a:lnSpc>
                <a:spcPct val="155000"/>
              </a:lnSpc>
              <a:spcAft>
                <a:spcPts val="300"/>
              </a:spcAft>
              <a:defRPr sz="1200" b="0">
                <a:solidFill>
                  <a:srgbClr val="454B52"/>
                </a:solidFill>
                <a:latin typeface="Meiryo"/>
              </a:defRPr>
            </a:pPr>
            <a:r>
              <a:rPr sz="1200" b="0">
                <a:solidFill>
                  <a:srgbClr val="454B52"/>
                </a:solidFill>
                <a:latin typeface="Meiryo"/>
              </a:rPr>
              <a:t>広告の実際の成果（LP＋公式サイトの合算）　／　LPと公式サイトの導線を一本化すべきか　／　第1期・第2期比較の精度</a:t>
            </a:r>
          </a:p>
        </p:txBody>
      </p:sp>
      <p:sp>
        <p:nvSpPr>
          <p:cNvPr id="19" name="TextBox 18"/>
          <p:cNvSpPr txBox="1"/>
          <p:nvPr/>
        </p:nvSpPr>
        <p:spPr>
          <a:xfrm>
            <a:off x="566928" y="6144768"/>
            <a:ext cx="11064240" cy="365760"/>
          </a:xfrm>
          <a:prstGeom prst="rect">
            <a:avLst/>
          </a:prstGeom>
          <a:noFill/>
        </p:spPr>
        <p:txBody>
          <a:bodyPr wrap="square" lIns="0" rIns="0" tIns="0" bIns="0" anchor="t">
            <a:spAutoFit/>
          </a:bodyPr>
          <a:lstStyle/>
          <a:p>
            <a:pPr algn="l">
              <a:lnSpc>
                <a:spcPct val="135000"/>
              </a:lnSpc>
              <a:spcAft>
                <a:spcPts val="300"/>
              </a:spcAft>
              <a:defRPr sz="950" b="0">
                <a:solidFill>
                  <a:srgbClr val="8A929C"/>
                </a:solidFill>
                <a:latin typeface="Meiryo"/>
              </a:defRPr>
            </a:pPr>
            <a:r>
              <a:rPr sz="950" b="0">
                <a:solidFill>
                  <a:srgbClr val="8A929C"/>
                </a:solidFill>
                <a:latin typeface="Meiryo"/>
              </a:rPr>
              <a:t>本提案の出典：お問い合わせ通知メールの実データ／Google Analytics 4／Google Ads API／Meta Marketing API／DV360 Bid Manager API／LINEヤフー広告API／弊社基幹システム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