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お問い合わせ件数</c:v>
                </c:pt>
              </c:strCache>
            </c:strRef>
          </c:tx>
          <c:spPr>
            <a:solidFill>
              <a:srgbClr val="526B5E"/>
            </a:solidFill>
          </c:spPr>
          <c:dPt>
            <c:idx val="7"/>
            <c:spPr>
              <a:solidFill>
                <a:srgbClr val="A8895C"/>
              </a:solidFill>
            </c:spPr>
          </c:dPt>
          <c:cat>
            <c:strRef>
              <c:f>Sheet1!$A$2:$A$12</c:f>
              <c:strCache>
                <c:ptCount val="11"/>
                <c:pt idx="0">
                  <c:v>25/8</c:v>
                </c:pt>
                <c:pt idx="1">
                  <c:v>25/9</c:v>
                </c:pt>
                <c:pt idx="2">
                  <c:v>25/10</c:v>
                </c:pt>
                <c:pt idx="3">
                  <c:v>25/11</c:v>
                </c:pt>
                <c:pt idx="4">
                  <c:v>25/12</c:v>
                </c:pt>
                <c:pt idx="5">
                  <c:v>26/1</c:v>
                </c:pt>
                <c:pt idx="6">
                  <c:v>26/2</c:v>
                </c:pt>
                <c:pt idx="7">
                  <c:v>26/3</c:v>
                </c:pt>
                <c:pt idx="8">
                  <c:v>26/5</c:v>
                </c:pt>
                <c:pt idx="9">
                  <c:v>26/6</c:v>
                </c:pt>
                <c:pt idx="10">
                  <c:v>26/7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33333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526B5E"/>
            </a:solidFill>
          </c:spPr>
          <c:dPt>
            <c:idx val="0"/>
            <c:spPr>
              <a:solidFill>
                <a:srgbClr val="A8895C"/>
              </a:solidFill>
            </c:spPr>
          </c:dPt>
          <c:dPt>
            <c:idx val="1"/>
            <c:spPr>
              <a:solidFill>
                <a:srgbClr val="A8895C"/>
              </a:solidFill>
            </c:spPr>
          </c:dPt>
          <c:dPt>
            <c:idx val="2"/>
            <c:spPr>
              <a:solidFill>
                <a:srgbClr val="A8895C"/>
              </a:solidFill>
            </c:spPr>
          </c:dPt>
          <c:cat>
            <c:strRef>
              <c:f>Sheet1!$A$2:$A$6</c:f>
              <c:strCache>
                <c:ptCount val="5"/>
                <c:pt idx="0">
                  <c:v>概ね30km圏
佐久・小諸・軽井沢・御代田</c:v>
                </c:pt>
                <c:pt idx="1">
                  <c:v>概ね40km圏
上田市</c:v>
                </c:pt>
                <c:pt idx="2">
                  <c:v>概ね70km圏
群馬県高崎市</c:v>
                </c:pt>
                <c:pt idx="3">
                  <c:v>概ね90km圏
長野県松本市</c:v>
                </c:pt>
                <c:pt idx="4">
                  <c:v>首都圏
東京・神奈川・千葉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333333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第1期の成果構成比</c:v>
                </c:pt>
              </c:strCache>
            </c:strRef>
          </c:tx>
          <c:spPr>
            <a:solidFill>
              <a:srgbClr val="1A3328"/>
            </a:solidFill>
          </c:spPr>
          <c:cat>
            <c:strRef>
              <c:f>Sheet1!$A$2:$A$5</c:f>
              <c:strCache>
                <c:ptCount val="4"/>
                <c:pt idx="0">
                  <c:v>長野県</c:v>
                </c:pt>
                <c:pt idx="1">
                  <c:v>群馬県</c:v>
                </c:pt>
                <c:pt idx="2">
                  <c:v>東京都</c:v>
                </c:pt>
                <c:pt idx="3">
                  <c:v>神奈川県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5</c:v>
                </c:pt>
                <c:pt idx="2">
                  <c:v>32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2026年7月の集客構成比</c:v>
                </c:pt>
              </c:strCache>
            </c:strRef>
          </c:tx>
          <c:spPr>
            <a:solidFill>
              <a:srgbClr val="E0E0E0"/>
            </a:solidFill>
          </c:spPr>
          <c:cat>
            <c:strRef>
              <c:f>Sheet1!$A$2:$A$5</c:f>
              <c:strCache>
                <c:ptCount val="4"/>
                <c:pt idx="0">
                  <c:v>長野県</c:v>
                </c:pt>
                <c:pt idx="1">
                  <c:v>群馬県</c:v>
                </c:pt>
                <c:pt idx="2">
                  <c:v>東京都</c:v>
                </c:pt>
                <c:pt idx="3">
                  <c:v>神奈川県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16.7</c:v>
                </c:pt>
                <c:pt idx="1">
                  <c:v>2.6</c:v>
                </c:pt>
                <c:pt idx="2">
                  <c:v>35.7</c:v>
                </c:pt>
                <c:pt idx="3">
                  <c:v>13.6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333333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Google広告</c:v>
                </c:pt>
              </c:strCache>
            </c:strRef>
          </c:tx>
          <c:spPr>
            <a:solidFill>
              <a:srgbClr val="1A3328"/>
            </a:solidFill>
          </c:spPr>
          <c:cat>
            <c:strRef>
              <c:f>Sheet1!$A$2:$A$8</c:f>
              <c:strCache>
                <c:ptCount val="7"/>
                <c:pt idx="0">
                  <c:v>25年9月
3件</c:v>
                </c:pt>
                <c:pt idx="1">
                  <c:v>25年10月
3件</c:v>
                </c:pt>
                <c:pt idx="2">
                  <c:v>26年2月
3件</c:v>
                </c:pt>
                <c:pt idx="3">
                  <c:v>26年3月
5件</c:v>
                </c:pt>
                <c:pt idx="4">
                  <c:v>26年5月
1件</c:v>
                </c:pt>
                <c:pt idx="5">
                  <c:v>26年6月
1件</c:v>
                </c:pt>
                <c:pt idx="6">
                  <c:v>26年7月
0件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</c:v>
                </c:pt>
                <c:pt idx="1">
                  <c:v>40</c:v>
                </c:pt>
                <c:pt idx="2">
                  <c:v>50</c:v>
                </c:pt>
                <c:pt idx="3">
                  <c:v>40</c:v>
                </c:pt>
                <c:pt idx="4">
                  <c:v>17</c:v>
                </c:pt>
                <c:pt idx="5">
                  <c:v>14</c:v>
                </c:pt>
                <c:pt idx="6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Meta広告</c:v>
                </c:pt>
              </c:strCache>
            </c:strRef>
          </c:tx>
          <c:spPr>
            <a:solidFill>
              <a:srgbClr val="A8895C"/>
            </a:solidFill>
          </c:spPr>
          <c:cat>
            <c:strRef>
              <c:f>Sheet1!$A$2:$A$8</c:f>
              <c:strCache>
                <c:ptCount val="7"/>
                <c:pt idx="0">
                  <c:v>25年9月
3件</c:v>
                </c:pt>
                <c:pt idx="1">
                  <c:v>25年10月
3件</c:v>
                </c:pt>
                <c:pt idx="2">
                  <c:v>26年2月
3件</c:v>
                </c:pt>
                <c:pt idx="3">
                  <c:v>26年3月
5件</c:v>
                </c:pt>
                <c:pt idx="4">
                  <c:v>26年5月
1件</c:v>
                </c:pt>
                <c:pt idx="5">
                  <c:v>26年6月
1件</c:v>
                </c:pt>
                <c:pt idx="6">
                  <c:v>26年7月
0件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</c:v>
                </c:pt>
                <c:pt idx="1">
                  <c:v>40</c:v>
                </c:pt>
                <c:pt idx="2">
                  <c:v>33</c:v>
                </c:pt>
                <c:pt idx="3">
                  <c:v>20</c:v>
                </c:pt>
                <c:pt idx="4">
                  <c:v>33</c:v>
                </c:pt>
                <c:pt idx="5">
                  <c:v>14</c:v>
                </c:pt>
                <c:pt idx="6">
                  <c:v>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DV360</c:v>
                </c:pt>
              </c:strCache>
            </c:strRef>
          </c:tx>
          <c:spPr>
            <a:solidFill>
              <a:srgbClr val="526B5E"/>
            </a:solidFill>
          </c:spPr>
          <c:cat>
            <c:strRef>
              <c:f>Sheet1!$A$2:$A$8</c:f>
              <c:strCache>
                <c:ptCount val="7"/>
                <c:pt idx="0">
                  <c:v>25年9月
3件</c:v>
                </c:pt>
                <c:pt idx="1">
                  <c:v>25年10月
3件</c:v>
                </c:pt>
                <c:pt idx="2">
                  <c:v>26年2月
3件</c:v>
                </c:pt>
                <c:pt idx="3">
                  <c:v>26年3月
5件</c:v>
                </c:pt>
                <c:pt idx="4">
                  <c:v>26年5月
1件</c:v>
                </c:pt>
                <c:pt idx="5">
                  <c:v>26年6月
1件</c:v>
                </c:pt>
                <c:pt idx="6">
                  <c:v>26年7月
0件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33</c:v>
                </c:pt>
                <c:pt idx="1">
                  <c:v>20</c:v>
                </c:pt>
                <c:pt idx="2">
                  <c:v>17</c:v>
                </c:pt>
                <c:pt idx="3">
                  <c:v>40</c:v>
                </c:pt>
                <c:pt idx="4">
                  <c:v>50</c:v>
                </c:pt>
                <c:pt idx="5">
                  <c:v>71</c:v>
                </c:pt>
                <c:pt idx="6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950">
          <a:solidFill>
            <a:srgbClr val="333333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192024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250" b="1">
                <a:solidFill>
                  <a:srgbClr val="A8895C"/>
                </a:solidFill>
                <a:latin typeface="Arial"/>
              </a:defRPr>
            </a:pPr>
            <a:r>
              <a:t>MOCHIZUKI RESOL GOLF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59152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  <a:defRPr sz="4000" b="1">
                <a:solidFill>
                  <a:srgbClr val="FFFFFF"/>
                </a:solidFill>
                <a:latin typeface="Yu Gothic"/>
              </a:defRPr>
            </a:pPr>
            <a:r>
              <a:t>第2期会員募集</a:t>
            </a:r>
          </a:p>
          <a:p>
            <a:pPr algn="l">
              <a:lnSpc>
                <a:spcPct val="118000"/>
              </a:lnSpc>
              <a:spcAft>
                <a:spcPts val="400"/>
              </a:spcAft>
              <a:defRPr sz="4000" b="1">
                <a:solidFill>
                  <a:srgbClr val="FFFFFF"/>
                </a:solidFill>
                <a:latin typeface="Yu Gothic"/>
              </a:defRPr>
            </a:pPr>
            <a:r>
              <a:t>WEB広告 運用分析レポート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078224"/>
            <a:ext cx="1371600" cy="4572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43000" y="437083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  <a:latin typeface="Yu Gothic"/>
              </a:defRPr>
            </a:pPr>
            <a:r>
              <a:t>および 2026年8月 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7607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200" b="0">
                <a:solidFill>
                  <a:srgbClr val="A8895C"/>
                </a:solidFill>
                <a:latin typeface="Arial"/>
              </a:defRPr>
            </a:pPr>
            <a:r>
              <a:t>2026年7月23日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60533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250" b="0">
                <a:solidFill>
                  <a:srgbClr val="FFFFFF"/>
                </a:solidFill>
                <a:latin typeface="Yu Gothic"/>
              </a:defRPr>
            </a:pPr>
            <a:r>
              <a:t>ゲンダイエージェンシー株式会社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本レポートについて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成果が伸びていない要因を特定するため、第1期にさかのぼって全データを検証しました。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0728655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220126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調査対象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7105" y="1828800"/>
            <a:ext cx="210956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期間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9553" y="1828800"/>
            <a:ext cx="586918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76272"/>
            <a:ext cx="22012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お問い合わせ実データ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7105" y="2176272"/>
            <a:ext cx="21095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2025年8月〜2026年7月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9553" y="2176272"/>
            <a:ext cx="58691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通知メールを1件ずつ精査。スパム・テスト送信を除外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42032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31520" y="2542032"/>
            <a:ext cx="10728655" cy="36576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542032"/>
            <a:ext cx="22012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Google Analytics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7105" y="2542032"/>
            <a:ext cx="21095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2024年10月〜2026年7月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9553" y="2542032"/>
            <a:ext cx="58691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セッション・地域・デバイス・流入元・遷移先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07791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2907791"/>
            <a:ext cx="22012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Google広告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7105" y="2907791"/>
            <a:ext cx="21095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2025年6月〜2026年7月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9553" y="2907791"/>
            <a:ext cx="58691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キャンペーン別実績、検索テーマ、エリア設定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1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31520" y="3273551"/>
            <a:ext cx="10728655" cy="36576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3273551"/>
            <a:ext cx="22012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Meta広告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7105" y="3273551"/>
            <a:ext cx="21095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2024年10月〜2026年7月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99553" y="3273551"/>
            <a:ext cx="58691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月別のエリア設定の変遷、オーディエンス別成績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639311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3639311"/>
            <a:ext cx="22012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DV360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7105" y="3639311"/>
            <a:ext cx="21095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2024年11月〜2026年7月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99553" y="3639311"/>
            <a:ext cx="58691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全キャンペーン実績、配信面別データ 9,833行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005072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31520" y="4005072"/>
            <a:ext cx="10728655" cy="36576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960" y="4005072"/>
            <a:ext cx="22012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LINEヤフー広告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7105" y="4005072"/>
            <a:ext cx="21095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2024年10月〜2025年6月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99553" y="4005072"/>
            <a:ext cx="58691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配信実績（表示・クリック・クリック率）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370832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4370832"/>
            <a:ext cx="22012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ご請求データ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7105" y="4370832"/>
            <a:ext cx="210956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2024年9月〜2026年7月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99553" y="4370832"/>
            <a:ext cx="586918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50" b="0">
                <a:solidFill>
                  <a:srgbClr val="333333"/>
                </a:solidFill>
                <a:latin typeface="Yu Gothic"/>
              </a:defRPr>
            </a:pPr>
            <a:r>
              <a:t>媒体別・月別の費用構成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736592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731520" y="5577840"/>
            <a:ext cx="10728655" cy="713232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31520" y="5577840"/>
            <a:ext cx="54864" cy="71323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69264" y="5705855"/>
            <a:ext cx="1030803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推測で数字を埋めていません。確認できなかった項目は「未確認」と明記し、件数が少ない項目は断定せず「方向性」として扱っています。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分析で分かったこと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ご予算を30%増やし集客を1.8倍にしたにもかかわらず、お問い合わせは1/3以下に減少しました。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38528"/>
            <a:ext cx="3393338" cy="137160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1938528"/>
            <a:ext cx="3393338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7552" y="221284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 b="1">
                <a:solidFill>
                  <a:srgbClr val="A8895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596896"/>
            <a:ext cx="28812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成果の53%は、ゴルフ場から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概ね70km圏内の方でした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9178" y="1938528"/>
            <a:ext cx="3393338" cy="137160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9178" y="1938528"/>
            <a:ext cx="3393338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55210" y="221284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 b="1">
                <a:solidFill>
                  <a:srgbClr val="A8895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2596896"/>
            <a:ext cx="28812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配信エリアと成果は、月単位で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きれいに対応していました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938528"/>
            <a:ext cx="3393338" cy="137160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66836" y="1938528"/>
            <a:ext cx="3393338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2868" y="221284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 b="1">
                <a:solidFill>
                  <a:srgbClr val="A8895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2868" y="2596896"/>
            <a:ext cx="28812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成果が出ていた時期は、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3媒体がバランスしていました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84448"/>
            <a:ext cx="3393338" cy="137160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31520" y="3584448"/>
            <a:ext cx="3393338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385876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 b="1">
                <a:solidFill>
                  <a:srgbClr val="A8895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242816"/>
            <a:ext cx="28812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媒体によってクリックがサイトに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届く割合が2.7倍違います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9178" y="3584448"/>
            <a:ext cx="3393338" cy="137160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9178" y="3584448"/>
            <a:ext cx="3393338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55210" y="385876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 b="1">
                <a:solidFill>
                  <a:srgbClr val="A8895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5210" y="4242816"/>
            <a:ext cx="28812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検索クリックの70%が、すでに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貴クラブをご存知の方でした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6836" y="3584448"/>
            <a:ext cx="3393338" cy="137160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66836" y="3584448"/>
            <a:ext cx="3393338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22868" y="3858768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600" b="1">
                <a:solidFill>
                  <a:srgbClr val="A8895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2868" y="4242816"/>
            <a:ext cx="288127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じっくり読まれているのはPC。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350" b="1">
                <a:solidFill>
                  <a:srgbClr val="1A3328"/>
                </a:solidFill>
                <a:latin typeface="Yu Gothic"/>
              </a:defRPr>
            </a:pPr>
            <a:r>
              <a:t>しかし流入の96%はスマホです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5332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証拠クラス〈実測〉：全項目が各媒体API・GA4・お問い合わせ実データからの実測値です。業界一般値・当社仮説は含みません。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31520" y="2395728"/>
            <a:ext cx="1280160" cy="4572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724912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1">
                <a:solidFill>
                  <a:srgbClr val="A8895C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27248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200" b="1">
                <a:solidFill>
                  <a:srgbClr val="FFFFFF"/>
                </a:solidFill>
                <a:latin typeface="Yu Gothic"/>
              </a:defRPr>
            </a:pPr>
            <a:r>
              <a:t>成果の全体像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68496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600" b="0">
                <a:solidFill>
                  <a:srgbClr val="E9EFEB"/>
                </a:solidFill>
                <a:latin typeface="Yu Gothic"/>
              </a:defRPr>
            </a:pPr>
            <a:r>
              <a:t>第1期（2025年8月〜2026年3月）と第2期（2026年5月〜7月）を、同じ基準で比較します。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第1部　成果の全体像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第1期・第2期の比較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83664"/>
            <a:ext cx="2476423" cy="178308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1520" y="1883664"/>
            <a:ext cx="2476423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139696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月あたりご請求額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50592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400" b="1">
                <a:solidFill>
                  <a:srgbClr val="1A3328"/>
                </a:solidFill>
                <a:latin typeface="Arial"/>
              </a:defRPr>
            </a:pPr>
            <a:r>
              <a:t>+30.0%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99815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¥251,250 → ¥326,667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2263" y="1883664"/>
            <a:ext cx="2476423" cy="178308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482263" y="1883664"/>
            <a:ext cx="2476423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01719" y="2139696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月あたりサイト集客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1719" y="2450592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400" b="1">
                <a:solidFill>
                  <a:srgbClr val="1A3328"/>
                </a:solidFill>
                <a:latin typeface="Arial"/>
              </a:defRPr>
            </a:pPr>
            <a:r>
              <a:t>1.8倍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1719" y="3099815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6,427 → 11,715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883664"/>
            <a:ext cx="2476423" cy="1783080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3007" y="1883664"/>
            <a:ext cx="2476423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52463" y="2139696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お問い合わせ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2450592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400" b="1">
                <a:solidFill>
                  <a:srgbClr val="B0454F"/>
                </a:solidFill>
                <a:latin typeface="Arial"/>
              </a:defRPr>
            </a:pPr>
            <a:r>
              <a:t>−89%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3099815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19件 → 2件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751" y="1883664"/>
            <a:ext cx="2476423" cy="1783080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983751" y="1883664"/>
            <a:ext cx="2476423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03207" y="2139696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獲得単価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3207" y="2450592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400" b="1">
                <a:solidFill>
                  <a:srgbClr val="B0454F"/>
                </a:solidFill>
                <a:latin typeface="Arial"/>
              </a:defRPr>
            </a:pPr>
            <a:r>
              <a:t>4.63倍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3207" y="3099815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¥105,789 → ¥490,000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13632"/>
            <a:ext cx="10728655" cy="786384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31520" y="3913632"/>
            <a:ext cx="54864" cy="786384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4041648"/>
            <a:ext cx="1030803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集客量は増えています。増えた集客が、お問い合わせに結びついていません。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82896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〈実測〉ご請求額＝弊社基幹システムの売上データ／集客＝GA4／お問い合わせ＝通知メールの実件数（スパム・テスト送信を除外）。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比較期間はお問い合わせの実データが確認できている期間に揃えています。2026年4月はLP刷新期間のため除外。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第1部　成果の全体像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月次推移 ── 最良月は2026年3月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第1期は月を追うごとに改善していました。2026年1月2件 → 2月3件 → 3月5件。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2029967"/>
          <a:ext cx="10728655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956048"/>
            <a:ext cx="10728655" cy="310896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4956048"/>
            <a:ext cx="18224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8316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25/8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343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25/9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4370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25/10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397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25/11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424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25/12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452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26/1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6479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26/2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9506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26/3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2533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26/5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5560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26/6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8588" y="4956048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26/7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66944"/>
            <a:ext cx="18224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ご請求額（千円）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8316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343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4370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280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7397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0424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3452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6479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9506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250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2533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5560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58588" y="5266944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77840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31520" y="5577840"/>
            <a:ext cx="10728655" cy="310896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2960" y="5577840"/>
            <a:ext cx="18224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獲得単価（千円）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28316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21343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4370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7397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00424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452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165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6479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9506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2533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5560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58588" y="5577840"/>
            <a:ext cx="6101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8887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31520" y="596188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〈実測〉ゴールドは全期間で最良の月。〈両論併記〉2025年11月の0件は予算を¥100,000に縮小した月である点を付記します。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第1部　成果の全体像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件数だけでなく、見込み度も下がっています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フォーム「会員権について」のご回答内訳です。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5227167" cy="192024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227167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176272"/>
            <a:ext cx="47882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第1期（19件）｜具体的に検討している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487168"/>
            <a:ext cx="478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5200" b="1">
                <a:solidFill>
                  <a:srgbClr val="1A3328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73552"/>
            <a:ext cx="4788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13件が「具体的に検討している」と回答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920240"/>
            <a:ext cx="5227167" cy="1920240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3007" y="1920240"/>
            <a:ext cx="5227167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52463" y="2176272"/>
            <a:ext cx="47882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第2期（2件）｜具体的に検討している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2487168"/>
            <a:ext cx="478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5200" b="1">
                <a:solidFill>
                  <a:srgbClr val="B0454F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3273552"/>
            <a:ext cx="4788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「興味がある」1件、来場予定の方からのご連絡1件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59936"/>
            <a:ext cx="10728655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4059936"/>
            <a:ext cx="4860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会員権について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6344" y="4059936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第1期（19件）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8980" y="4059936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第2期（2件）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07408"/>
            <a:ext cx="10728655" cy="347472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4407408"/>
            <a:ext cx="4860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具体的に検討している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6344" y="4407408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13件（68%）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8980" y="4407408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0件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54880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31520" y="4754880"/>
            <a:ext cx="10728655" cy="347472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4860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興味がある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6344" y="4754880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7件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8980" y="4754880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102352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5102352"/>
            <a:ext cx="48605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未選択・その他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6344" y="5102352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8980" y="5102352"/>
            <a:ext cx="26597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449824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〈実測〉お問い合わせ通知メールの回答項目を1件ずつ分類。母集団は第1期19件・第2期2件（いずれも全件）。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〈方向性〉第2期は母数が2件と少なく、比率は断定ではなく方向性としてご理解ください。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31520" y="2395728"/>
            <a:ext cx="1280160" cy="4572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724912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1">
                <a:solidFill>
                  <a:srgbClr val="A8895C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27248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200" b="1">
                <a:solidFill>
                  <a:srgbClr val="FFFFFF"/>
                </a:solidFill>
                <a:latin typeface="Yu Gothic"/>
              </a:defRPr>
            </a:pPr>
            <a:r>
              <a:t>誰が申し込んでいるのか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68496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600" b="0">
                <a:solidFill>
                  <a:srgbClr val="E9EFEB"/>
                </a:solidFill>
                <a:latin typeface="Yu Gothic"/>
              </a:defRPr>
            </a:pPr>
            <a:r>
              <a:t>第1期のお問い合わせ19件を、1件ずつ内容を確認して分類しました。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第2部　お問い合わせ19件の分析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入口は「資料請求」です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38528"/>
            <a:ext cx="3749039" cy="228600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1520" y="1938528"/>
            <a:ext cx="3749039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194560"/>
            <a:ext cx="3310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お問い合わせ種別｜資料のご請求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05456"/>
            <a:ext cx="3310127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6200" b="1">
                <a:solidFill>
                  <a:srgbClr val="A8895C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657600"/>
            <a:ext cx="33101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19件中18件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1938528"/>
            <a:ext cx="6705295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46319" y="1938528"/>
            <a:ext cx="38040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お問い合わせ種別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252" y="1938528"/>
            <a:ext cx="117630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件数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2433" y="1938528"/>
            <a:ext cx="117630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比率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286000"/>
            <a:ext cx="6705295" cy="420624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46319" y="2286000"/>
            <a:ext cx="38040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資料のご請求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252" y="2286000"/>
            <a:ext cx="117630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18件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2433" y="2286000"/>
            <a:ext cx="117630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95%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2706624"/>
            <a:ext cx="670529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754879" y="2706624"/>
            <a:ext cx="6705295" cy="420624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46319" y="2706624"/>
            <a:ext cx="38040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視察プレーのお問い合わせ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252" y="2706624"/>
            <a:ext cx="117630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3件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2433" y="2706624"/>
            <a:ext cx="117630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79" y="3127248"/>
            <a:ext cx="670529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46319" y="3127248"/>
            <a:ext cx="38040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その他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252" y="3127248"/>
            <a:ext cx="117630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2433" y="3127248"/>
            <a:ext cx="117630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79" y="3547872"/>
            <a:ext cx="670529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754879" y="3858768"/>
            <a:ext cx="6705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※ 複数選択のため合計は100%を超えます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407408"/>
            <a:ext cx="10728655" cy="1060704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31520" y="4407408"/>
            <a:ext cx="54864" cy="1060704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9264" y="4535424"/>
            <a:ext cx="10308031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示唆　視察プレーの直接お申し込みは3件のみ。大半の方は、まず資料を請求し、そこから検討に入られています。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8月に視察プレーを訴求する場合も、入口は「資料請求」に置いたほうが実際の行動に沿います。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9846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〈実測〉母集団＝第1期のお問い合わせ全19件。〈当社仮説〉示唆部分は実測の解釈であり、検証はこれからです。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第2部　お問い合わせ19件の分析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成果の53%は、ゴルフ場から概ね70km圏内でした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83664"/>
          <a:ext cx="67665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1883664"/>
            <a:ext cx="3687775" cy="1572768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0" y="1883664"/>
            <a:ext cx="3687775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91856" y="2139696"/>
            <a:ext cx="3248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概ね70km圏内の累計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2450592"/>
            <a:ext cx="324886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5000" b="1">
                <a:solidFill>
                  <a:srgbClr val="A8895C"/>
                </a:solidFill>
                <a:latin typeface="Arial"/>
              </a:defRPr>
            </a:pPr>
            <a: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2889504"/>
            <a:ext cx="32488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19件中10件。佐久市内2件・隣接町村5件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621024"/>
            <a:ext cx="3687775" cy="27432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0" y="3621024"/>
            <a:ext cx="180284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距離帯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9565" y="3621024"/>
            <a:ext cx="66814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件数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00590" y="3621024"/>
            <a:ext cx="66814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累計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895344"/>
            <a:ext cx="18028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概ね30km圏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9565" y="3895344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7件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00590" y="3895344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37%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160520"/>
            <a:ext cx="3687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772400" y="4160520"/>
            <a:ext cx="3687775" cy="265176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63840" y="4160520"/>
            <a:ext cx="18028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概ね40km圏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9565" y="4160520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00590" y="4160520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47%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425696"/>
            <a:ext cx="3687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0" y="4425696"/>
            <a:ext cx="18028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概ね70km圏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9565" y="4425696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1件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00590" y="4425696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53%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4690872"/>
            <a:ext cx="3687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772400" y="4690872"/>
            <a:ext cx="3687775" cy="265176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63840" y="4690872"/>
            <a:ext cx="18028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概ね90km圏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9565" y="4690872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00590" y="4690872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58%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956048"/>
            <a:ext cx="3687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63840" y="4956048"/>
            <a:ext cx="18028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首都圏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9565" y="4956048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8件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00590" y="4956048"/>
            <a:ext cx="66814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5221224"/>
            <a:ext cx="3687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〈実測〉距離帯はお問い合わせ記載の郵便番号・住所から分類。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〈両論併記〉首都圏も8件（42%）あり、次ページの通り検討度はむしろ高い水準です。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第2部　お問い合わせ19件の分析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地元は件数、首都圏は検討度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地元と首都圏では役割が違います。一律に扱うべきではありません。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83664"/>
            <a:ext cx="5227167" cy="246888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1883664"/>
            <a:ext cx="5227167" cy="508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2139696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500" b="1">
                <a:solidFill>
                  <a:srgbClr val="526B5E"/>
                </a:solidFill>
                <a:latin typeface="Yu Gothic"/>
              </a:defRPr>
            </a:pPr>
            <a:r>
              <a:t>地元（長野・群馬）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2374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400" b="1">
                <a:solidFill>
                  <a:srgbClr val="1A3328"/>
                </a:solidFill>
                <a:latin typeface="Arial"/>
              </a:defRPr>
            </a:pPr>
            <a:r>
              <a:t>11件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27248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うち「具体的に検討している」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64991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000" b="1">
                <a:solidFill>
                  <a:srgbClr val="1A3328"/>
                </a:solidFill>
                <a:latin typeface="Arial"/>
              </a:defRPr>
            </a:pPr>
            <a:r>
              <a:t>64%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77056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件数が多い。ゴルフ場のすぐ近くから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着実にお問い合わせが来ています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883664"/>
            <a:ext cx="5227167" cy="246888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33007" y="1883664"/>
            <a:ext cx="5227167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07327" y="2139696"/>
            <a:ext cx="46785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500" b="1">
                <a:solidFill>
                  <a:srgbClr val="526B5E"/>
                </a:solidFill>
                <a:latin typeface="Yu Gothic"/>
              </a:defRPr>
            </a:pPr>
            <a:r>
              <a:t>首都圏（東京・神奈川・千葉）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252374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400" b="1">
                <a:solidFill>
                  <a:srgbClr val="1A3328"/>
                </a:solidFill>
                <a:latin typeface="Arial"/>
              </a:defRPr>
            </a:pPr>
            <a:r>
              <a:t>8件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3127248"/>
            <a:ext cx="46785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うち「具体的に検討している」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3364991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000" b="1">
                <a:solidFill>
                  <a:srgbClr val="A8895C"/>
                </a:solidFill>
                <a:latin typeface="Arial"/>
              </a:defRPr>
            </a:pPr>
            <a: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877056"/>
            <a:ext cx="46785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件数は少ないが、検討度が高い。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「遠い」ことを自覚したうえでご検討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53712"/>
            <a:ext cx="10728655" cy="950976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31520" y="4553712"/>
            <a:ext cx="54864" cy="950976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9264" y="4681727"/>
            <a:ext cx="10308031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唯一の遠方からの資料請求（神奈川県茅ヶ崎市）は「自宅から遠方のため、まずは資料をもとに検討を始めたい」と述べられていました。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地元は件数、首都圏は検討度。別枠に分けて成果を測るべきです。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6188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〈実測〉母集団＝19件（地元11件・首都圏8件）。〈方向性〉母数が少ないため、比率の差は断定ではなく方向性です。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31520" y="2395728"/>
            <a:ext cx="1280160" cy="4572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724912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1">
                <a:solidFill>
                  <a:srgbClr val="A8895C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27248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200" b="1">
                <a:solidFill>
                  <a:srgbClr val="FFFFFF"/>
                </a:solidFill>
                <a:latin typeface="Yu Gothic"/>
              </a:defRPr>
            </a:pPr>
            <a:r>
              <a:t>配信の分析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68496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600" b="0">
                <a:solidFill>
                  <a:srgbClr val="E9EFEB"/>
                </a:solidFill>
                <a:latin typeface="Yu Gothic"/>
              </a:defRPr>
            </a:pPr>
            <a:r>
              <a:t>エリア設定・媒体構成が、成果とどう対応していたかを月単位で検証しました。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第3部　配信の分析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成果を生む地域に、集客が向いていません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47088"/>
          <a:ext cx="66751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680960" y="1847088"/>
            <a:ext cx="3779215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1847088"/>
            <a:ext cx="11668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地域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2119" y="1847088"/>
            <a:ext cx="58196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86960" y="1847088"/>
            <a:ext cx="6269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集客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6792" y="1847088"/>
            <a:ext cx="67194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194560"/>
            <a:ext cx="3779215" cy="347472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0" y="2194560"/>
            <a:ext cx="11668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長野県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2119" y="2194560"/>
            <a:ext cx="58196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53%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6960" y="2194560"/>
            <a:ext cx="6269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16.7%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6792" y="2194560"/>
            <a:ext cx="67194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−36pt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542032"/>
            <a:ext cx="377921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680960" y="2542032"/>
            <a:ext cx="3779215" cy="347472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0" y="2542032"/>
            <a:ext cx="11668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群馬県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2119" y="2542032"/>
            <a:ext cx="58196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6960" y="2542032"/>
            <a:ext cx="6269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6792" y="2542032"/>
            <a:ext cx="67194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−2pt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2889503"/>
            <a:ext cx="377921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0" y="2889503"/>
            <a:ext cx="11668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東京都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2119" y="2889503"/>
            <a:ext cx="58196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32%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960" y="2889503"/>
            <a:ext cx="6269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35.7%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6792" y="2889503"/>
            <a:ext cx="67194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+4pt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3236975"/>
            <a:ext cx="377921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680960" y="3236975"/>
            <a:ext cx="3779215" cy="347472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0" y="3236975"/>
            <a:ext cx="11668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神奈川県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2119" y="3236975"/>
            <a:ext cx="58196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6960" y="3236975"/>
            <a:ext cx="6269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13.6%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6792" y="3236975"/>
            <a:ext cx="67194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+9pt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3584447"/>
            <a:ext cx="377921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7680960" y="3621024"/>
            <a:ext cx="3779215" cy="1517904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80960" y="3621024"/>
            <a:ext cx="54864" cy="1517904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918704" y="3749039"/>
            <a:ext cx="3358591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成果の半分以上を生む長野県に、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集客の2割弱しか向けていません。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〈実測〉成果構成比＝第1期19件の居住地分布／集客構成比＝GA4の2026年7月セッション。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分母が異なるため同一指標の比較ではなく、「向き先のズレ」を示すものです。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第3部　配信の分析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長野からの流入は、最も質が高い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第2期（2026年5月〜7月）の地域別。集客量が最も少ない長野が、最も読まれています。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01952"/>
            <a:ext cx="10728655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901952"/>
            <a:ext cx="284315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地域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8990" y="1901952"/>
            <a:ext cx="18344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セッション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6344" y="1901952"/>
            <a:ext cx="165107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構成比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0303" y="1901952"/>
            <a:ext cx="18344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エンゲージ率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657" y="1901952"/>
            <a:ext cx="165107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平均滞在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249424"/>
            <a:ext cx="284315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東京都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8990" y="2249424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10,262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6344" y="2249424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35.7%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0303" y="2249424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21.1%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657" y="2249424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3.2秒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70048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31520" y="2670048"/>
            <a:ext cx="10728655" cy="420624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2670048"/>
            <a:ext cx="284315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長野県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8990" y="2670048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4,802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6344" y="2670048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16.7%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0303" y="2670048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25.2%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7657" y="2670048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5.8秒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090672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3090672"/>
            <a:ext cx="284315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神奈川県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8990" y="3090672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3,895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6344" y="3090672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13.6%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0303" y="3090672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22.9%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7657" y="3090672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2.8秒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51129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31520" y="3511296"/>
            <a:ext cx="10728655" cy="420624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3511296"/>
            <a:ext cx="284315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埼玉県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8990" y="3511296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1,918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6344" y="3511296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6.7%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0303" y="3511296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22.7%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7657" y="3511296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2.5秒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931920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60" y="3931920"/>
            <a:ext cx="284315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大阪府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8990" y="3931920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1,360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6344" y="3931920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4.7%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00303" y="3931920"/>
            <a:ext cx="18344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24.0%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7657" y="3931920"/>
            <a:ext cx="165107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2.5秒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352544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731520" y="4572000"/>
            <a:ext cx="10728655" cy="914400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31520" y="4572000"/>
            <a:ext cx="54864" cy="9144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69264" y="4700016"/>
            <a:ext cx="103080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長野県は集客構成比では東京の半分以下。しかし平均滞在は東京の1.8倍、エンゲージ率も最も高い水準です。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6188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〈実測〉GA4（2026年5月1日〜7月21日）。平均滞在は総エンゲージメント時間÷セッション数で算出。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第3部　配信の分析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配信エリアの設定と成果は、月単位で対応していました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47088"/>
            <a:ext cx="6675120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16459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47088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Meta広告の配信エリア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4708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お問い合わせ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94560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2025年9月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94560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東京23区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3件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19172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31520" y="2519172"/>
            <a:ext cx="6675120" cy="324612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2519172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2025年10月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519172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ゴルフ場から半径40km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19172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3件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43784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2843784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2025年11月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843784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Meta配信なし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843784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0件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168396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31520" y="3168396"/>
            <a:ext cx="6675120" cy="324612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3168396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2025年12月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168396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東京23区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168396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93008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3493008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2026年1月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493008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半径24km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493008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817620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31520" y="3817620"/>
            <a:ext cx="6675120" cy="324612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3817620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2026年2月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817620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半径48〜49km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817620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3件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142231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31520" y="4142231"/>
            <a:ext cx="6675120" cy="324612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4142231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2026年3月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142231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半径48〜49km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142231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5件（最良）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466844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31520" y="4466844"/>
            <a:ext cx="6675120" cy="324612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2960" y="4466844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2026年6月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466844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半径50km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466844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791456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22960" y="4791456"/>
            <a:ext cx="16459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2026年7月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791456"/>
            <a:ext cx="310896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東京・神奈川・長野の3都県に拡大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791456"/>
            <a:ext cx="137160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0件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116068"/>
            <a:ext cx="66751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7680960" y="1847088"/>
            <a:ext cx="3779215" cy="1353312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680960" y="1847088"/>
            <a:ext cx="3779215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900416" y="2103120"/>
            <a:ext cx="33403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半径24〜50km圏で運用していた月の合計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0416" y="2414016"/>
            <a:ext cx="334030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800" b="1">
                <a:solidFill>
                  <a:srgbClr val="1A3328"/>
                </a:solidFill>
                <a:latin typeface="Arial"/>
              </a:defRPr>
            </a:pPr>
            <a:r>
              <a:t>12件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80960" y="3328415"/>
            <a:ext cx="3779215" cy="1353312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680960" y="3328415"/>
            <a:ext cx="3779215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900416" y="3584448"/>
            <a:ext cx="33403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3都県に広げた2026年7月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0416" y="3895344"/>
            <a:ext cx="334030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800" b="1">
                <a:solidFill>
                  <a:srgbClr val="B0454F"/>
                </a:solidFill>
                <a:latin typeface="Arial"/>
              </a:defRPr>
            </a:pPr>
            <a:r>
              <a:t>0件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80960" y="4809744"/>
            <a:ext cx="3779215" cy="1133856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680960" y="4809744"/>
            <a:ext cx="54864" cy="1133856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918704" y="4937759"/>
            <a:ext cx="3358591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留保　7月1日にはエリア拡大に加え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Google広告のP-MAX移行・DV360停止も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同時に発生。エリア単独の因果は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統計的には証明できません。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605332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〈実測〉Meta Marketing API から月別の広告セット設定を取得。〈両論併記〉因果の留保を右下に明記しています。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第3部　配信の分析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成果が出ていた時期は、3媒体がバランスしていました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47088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955280" y="1847088"/>
            <a:ext cx="3504895" cy="329184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9477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77331" y="1847088"/>
            <a:ext cx="38242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2637" y="1847088"/>
            <a:ext cx="34473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Meta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0255" y="1847088"/>
            <a:ext cx="4201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DV360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73248" y="1847088"/>
            <a:ext cx="49548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950" b="1">
                <a:solidFill>
                  <a:srgbClr val="FFFFFF"/>
                </a:solidFill>
                <a:latin typeface="Yu Gothic"/>
              </a:defRPr>
            </a:pPr>
            <a:r>
              <a:t>件数/月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76272"/>
            <a:ext cx="94773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第1期 月平均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7331" y="2176272"/>
            <a:ext cx="38242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38%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2637" y="2176272"/>
            <a:ext cx="34473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0255" y="2176272"/>
            <a:ext cx="4201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3248" y="2176272"/>
            <a:ext cx="49548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2.4件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578608"/>
            <a:ext cx="350489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55280" y="2578608"/>
            <a:ext cx="3504895" cy="402336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46720" y="2578608"/>
            <a:ext cx="94773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第2期 月平均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7331" y="2578608"/>
            <a:ext cx="38242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16%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2637" y="2578608"/>
            <a:ext cx="34473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42%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0255" y="2578608"/>
            <a:ext cx="4201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0">
                <a:solidFill>
                  <a:srgbClr val="333333"/>
                </a:solidFill>
                <a:latin typeface="Yu Gothic"/>
              </a:defRPr>
            </a:pPr>
            <a:r>
              <a:t>42%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73248" y="2578608"/>
            <a:ext cx="49548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A3328"/>
                </a:solidFill>
                <a:latin typeface="Yu Gothic"/>
              </a:defRPr>
            </a:pPr>
            <a:r>
              <a:t>0.67件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980944"/>
            <a:ext cx="350489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955280" y="3017520"/>
            <a:ext cx="3504895" cy="2121408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955280" y="3017520"/>
            <a:ext cx="54864" cy="2121408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93024" y="3145536"/>
            <a:ext cx="3084271" cy="1865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Google広告が月¥75,000から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¥40,000へ約半減しました。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2026年7月はMeta広告に83%が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集中し、0件でした。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最良月でさえMeta広告は¥40,000です。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〈実測〉構成比＝ご請求データの配信費ベース。金額の多寡ではなく、媒体の組み合わせが成果に対応していました。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31520" y="2395728"/>
            <a:ext cx="1280160" cy="4572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724912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1">
                <a:solidFill>
                  <a:srgbClr val="A8895C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27248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200" b="1">
                <a:solidFill>
                  <a:srgbClr val="FFFFFF"/>
                </a:solidFill>
                <a:latin typeface="Yu Gothic"/>
              </a:defRPr>
            </a:pPr>
            <a:r>
              <a:t>配信品質の分析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68496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600" b="0">
                <a:solidFill>
                  <a:srgbClr val="E9EFEB"/>
                </a:solidFill>
                <a:latin typeface="Yu Gothic"/>
              </a:defRPr>
            </a:pPr>
            <a:r>
              <a:t>買ったクリックは、本当にサイトに届いているか。新しい評価軸で媒体を比較します。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第4部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新しい評価軸 ── サイト到達率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92224"/>
            <a:ext cx="10728655" cy="731520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1520" y="1792224"/>
            <a:ext cx="10728655" cy="508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956816"/>
            <a:ext cx="1072865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  <a:defRPr sz="1700" b="1">
                <a:solidFill>
                  <a:srgbClr val="1A3328"/>
                </a:solidFill>
                <a:latin typeface="Yu Gothic"/>
              </a:defRPr>
            </a:pPr>
            <a:r>
              <a:t>サイト到達率　＝　GA4のセッション数　÷　広告のクリック数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526B5E"/>
                </a:solidFill>
                <a:latin typeface="Yu Gothic"/>
              </a:defRPr>
            </a:pPr>
            <a:r>
              <a:t>広告レポートの「クリック数」は、そのままサイト訪問数にはなりません。誤タップや、読み込み前の離脱があるためです。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82112"/>
            <a:ext cx="5227167" cy="1874519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1520" y="3182112"/>
            <a:ext cx="5227167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438144"/>
            <a:ext cx="47882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LINEヤフー広告（2024年10月〜2025年5月）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749039"/>
            <a:ext cx="478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5200" b="1">
                <a:solidFill>
                  <a:srgbClr val="1A3328"/>
                </a:solidFill>
                <a:latin typeface="Arial"/>
              </a:defRPr>
            </a:pPr>
            <a:r>
              <a:t>43.0%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489703"/>
            <a:ext cx="4788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クリック率 0.12%　／　健全な水準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182112"/>
            <a:ext cx="5227167" cy="1874519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33007" y="3182112"/>
            <a:ext cx="5227167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52463" y="3438144"/>
            <a:ext cx="47882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DV360（2026年5〜6月）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2463" y="3749039"/>
            <a:ext cx="478825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5200" b="1">
                <a:solidFill>
                  <a:srgbClr val="B0454F"/>
                </a:solidFill>
                <a:latin typeface="Arial"/>
              </a:defRPr>
            </a:pPr>
            <a:r>
              <a:t>15.9%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4489703"/>
            <a:ext cx="4788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クリック率 11.30%　／　誤タップ主体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7900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〈実測〉クリック数＝各媒体API／セッション数＝GA4。〈業界一般〉ディスプレイ広告のクリック率は通常0.1〜0.5%程度とされます。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〈両論併記〉DV360にも良質な配信面は存在します（次ページ）。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第4部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DV360の配信面を1面ずつ分析しました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2026年5〜6月の全配信面 9,833行を取得し、GA4と突き合わせました。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83664"/>
            <a:ext cx="10728655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83664"/>
            <a:ext cx="281552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配信面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1361" y="1883664"/>
            <a:ext cx="14100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4262" y="1883664"/>
            <a:ext cx="1316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クリック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3462" y="1883664"/>
            <a:ext cx="1316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クリック率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663" y="1883664"/>
            <a:ext cx="155057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サイト到達率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6114" y="1883664"/>
            <a:ext cx="12226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平均滞在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231136"/>
            <a:ext cx="281552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trilltrill.jp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1361" y="2231136"/>
            <a:ext cx="14100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88,947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4262" y="2231136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7,574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3462" y="2231136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663" y="2231136"/>
            <a:ext cx="155057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6114" y="2231136"/>
            <a:ext cx="12226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0.0秒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569464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31520" y="2569464"/>
            <a:ext cx="10728655" cy="338328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2569464"/>
            <a:ext cx="281552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SmartNews（iOSアプリ）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1361" y="2569464"/>
            <a:ext cx="14100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23,728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4262" y="2569464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4,261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3462" y="2569464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18.0%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663" y="2569464"/>
            <a:ext cx="155057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77.6%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6114" y="2569464"/>
            <a:ext cx="12226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0.9秒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2907792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2907792"/>
            <a:ext cx="281552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nlab.itmedia.co.jp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1361" y="2907792"/>
            <a:ext cx="14100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25,312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4262" y="2907792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1,564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3462" y="2907792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6.2%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663" y="2907792"/>
            <a:ext cx="155057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12.6%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6114" y="2907792"/>
            <a:ext cx="12226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0.8秒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246120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31520" y="3246120"/>
            <a:ext cx="10728655" cy="338328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960" y="3246120"/>
            <a:ext cx="281552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mamastar.jp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21361" y="3246120"/>
            <a:ext cx="14100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23,619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14262" y="3246120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1,206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3462" y="3246120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5.1%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663" y="3246120"/>
            <a:ext cx="155057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4.1%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6114" y="3246120"/>
            <a:ext cx="12226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0.3秒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584448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31520" y="3584448"/>
            <a:ext cx="10728655" cy="338328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2960" y="3584448"/>
            <a:ext cx="281552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MILE mobile（Androidアプリ）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21361" y="3584448"/>
            <a:ext cx="14100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14262" y="3584448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3462" y="3584448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663" y="3584448"/>
            <a:ext cx="155057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6114" y="3584448"/>
            <a:ext cx="12226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28.7秒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92277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31520" y="3922776"/>
            <a:ext cx="10728655" cy="338328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" y="3922776"/>
            <a:ext cx="281552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全体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21361" y="3922776"/>
            <a:ext cx="14100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672,105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14262" y="3922776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43,723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13462" y="3922776"/>
            <a:ext cx="131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6.51%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663" y="3922776"/>
            <a:ext cx="155057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15.9%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6114" y="3922776"/>
            <a:ext cx="12226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4261104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731520" y="4443984"/>
            <a:ext cx="10728655" cy="950976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731520" y="4443984"/>
            <a:ext cx="54864" cy="950976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69264" y="4572000"/>
            <a:ext cx="10308031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クリック率5%超の配信面が65面あり、クリックの61%・配信費の47%を占めています。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一方でMILE mobileは平均滞在28.7秒と良質。アプリ面が一律に悪いわけではなく、面ごとの選別が有効です。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90702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〈実測〉DV360 Bid Manager API の配信面別レポート（9,833行）をGA4と突合。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※アプリ内ブラウザでは滞在時間が過少計測されうるため、判断の主軸は到達率に置いています。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第4部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LINEヤフー広告は、最も質の高い到達を実現していました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83664"/>
            <a:ext cx="6400800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883664"/>
            <a:ext cx="171031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配信月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6154" y="1883664"/>
            <a:ext cx="162016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表示回数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9196" y="1883664"/>
            <a:ext cx="116940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クリック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1478" y="1883664"/>
            <a:ext cx="116940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クリック率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31136"/>
            <a:ext cx="171031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2024年10月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6154" y="2231136"/>
            <a:ext cx="16201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1,657,045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9196" y="2231136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2,944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1478" y="2231136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0.18%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33472"/>
            <a:ext cx="640080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1520" y="2633472"/>
            <a:ext cx="6400800" cy="402336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2633472"/>
            <a:ext cx="171031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2024年11月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6154" y="2633472"/>
            <a:ext cx="16201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1,397,408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9196" y="2633472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2,544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1478" y="2633472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0.18%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35808"/>
            <a:ext cx="640080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3035808"/>
            <a:ext cx="171031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2025年5月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6154" y="3035808"/>
            <a:ext cx="16201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3,738,868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9196" y="3035808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2,772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1478" y="3035808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0.07%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38144"/>
            <a:ext cx="640080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31520" y="3438144"/>
            <a:ext cx="6400800" cy="402336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3438144"/>
            <a:ext cx="171031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合計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16154" y="3438144"/>
            <a:ext cx="16201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6,793,326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9196" y="3438144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8,260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1478" y="3438144"/>
            <a:ext cx="116940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0.12%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840480"/>
            <a:ext cx="640080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406640" y="1883664"/>
            <a:ext cx="4053535" cy="146304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406640" y="1883664"/>
            <a:ext cx="4053535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26096" y="2139696"/>
            <a:ext cx="36146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サイト到達率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2450592"/>
            <a:ext cx="361462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4400" b="1">
                <a:solidFill>
                  <a:srgbClr val="1A3328"/>
                </a:solidFill>
                <a:latin typeface="Arial"/>
              </a:defRPr>
            </a:pPr>
            <a:r>
              <a:t>43.0%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2779776"/>
            <a:ext cx="36146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DV360（15.9%）の2.7倍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3474720"/>
            <a:ext cx="4053535" cy="128016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406640" y="3474720"/>
            <a:ext cx="4053535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26096" y="3730752"/>
            <a:ext cx="361462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累計表示回数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4041648"/>
            <a:ext cx="361462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200" b="1">
                <a:solidFill>
                  <a:srgbClr val="1A3328"/>
                </a:solidFill>
                <a:latin typeface="Arial"/>
              </a:defRPr>
            </a:pPr>
            <a:r>
              <a:t>680万回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023360"/>
            <a:ext cx="6400800" cy="1280160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31520" y="4023360"/>
            <a:ext cx="54864" cy="128016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69264" y="4151376"/>
            <a:ext cx="5980176" cy="10241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貴クラブ専用アカウントが稼働可能な状態で残っており、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開設手続きなしで再開できます。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870448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〈実測〉LINEヤフー広告API。〈両論併記〉この期間のコンバージョンは0件でした。ただし当時コンバージョン計測が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設定されていたかは未確認のため、成果の有無は断定できません。再開時は計測を設定したうえで配信します。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第4部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検索クリックの70%が、すでに貴クラブをご存知の方でした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83664"/>
            <a:ext cx="6309360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883664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検索テーマ（2026年7月・Google広告）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883664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クリック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1883664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比率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31136"/>
            <a:ext cx="6309360" cy="384048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2231136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望月 リソル ゴルフ クラブ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23113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23113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44%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615184"/>
            <a:ext cx="630936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31520" y="2615184"/>
            <a:ext cx="6309360" cy="384048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615184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リソル 望月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61518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61518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99232"/>
            <a:ext cx="630936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31520" y="2999232"/>
            <a:ext cx="6309360" cy="384048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2999232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望月 東急（旧名称）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299923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2999232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11%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383279"/>
            <a:ext cx="630936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1520" y="3383279"/>
            <a:ext cx="6309360" cy="384048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3383279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その他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383279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59" y="3383279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30%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67328"/>
            <a:ext cx="630936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315200" y="1883664"/>
            <a:ext cx="1935327" cy="2194560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315200" y="1883664"/>
            <a:ext cx="1935327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34656" y="2139696"/>
            <a:ext cx="1496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クラブ名での検索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6" y="2450592"/>
            <a:ext cx="14964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4600" b="1">
                <a:solidFill>
                  <a:srgbClr val="B0454F"/>
                </a:solidFill>
                <a:latin typeface="Arial"/>
              </a:defRPr>
            </a:pPr>
            <a:r>
              <a:t>70%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3511296"/>
            <a:ext cx="1496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検索クリックに占める比率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4847" y="1883664"/>
            <a:ext cx="1935327" cy="219456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524847" y="1883664"/>
            <a:ext cx="1935327" cy="50800"/>
          </a:xfrm>
          <a:prstGeom prst="rect">
            <a:avLst/>
          </a:prstGeom>
          <a:solidFill>
            <a:srgbClr val="52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744303" y="2139696"/>
            <a:ext cx="1496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「ゴルフ 会員権」へのクリック（第1期）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4303" y="2450592"/>
            <a:ext cx="1496415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4600" b="1">
                <a:solidFill>
                  <a:srgbClr val="526B5E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4303" y="3511296"/>
            <a:ext cx="1496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本命の検索にはほとんど出せていません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334256"/>
            <a:ext cx="10728655" cy="1042415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31520" y="4334256"/>
            <a:ext cx="54864" cy="1042415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69264" y="4462272"/>
            <a:ext cx="10308031" cy="786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第1期の検索広告では近隣ゴルフ場の名称にも出稿していましたが、そこからのお問い合わせは0件でした。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クラブ名での検索は広告を出さなくても自然検索で到達できます。その分を、会員権をお探しの方への配信に振り向ける余地があります。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〈実測〉Google Ads API の検索テーマレポート。第1期は検索語句ベースで費用の55.8%がクラブ名検索でした。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第4部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サイト内行動の分析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デバイス・導線・再接触の3点から、クリック後に何が起きているかを確認しました。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① じっくり読まれているのはパソコン。しかし流入の96%はスマートフォンです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6583680" cy="310896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デバイス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19456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セッション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194560"/>
            <a:ext cx="8705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構成比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8732" y="219456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エンゲージ率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5468" y="2194560"/>
            <a:ext cx="9582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平均滞在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0545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スマートフォン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250545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30,377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5344" y="2505456"/>
            <a:ext cx="8705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95.9%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8732" y="250545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468" y="2505456"/>
            <a:ext cx="9582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2.5秒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816351"/>
            <a:ext cx="658368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31520" y="2816351"/>
            <a:ext cx="6583680" cy="310896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2816351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パソコン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2816351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964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5344" y="2816351"/>
            <a:ext cx="8705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3.0%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8732" y="2816351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47.5%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5468" y="2816351"/>
            <a:ext cx="9582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28.5秒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127247"/>
            <a:ext cx="658368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3127247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タブレット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3127247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326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344" y="3127247"/>
            <a:ext cx="8705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48732" y="3127247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18.7%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5468" y="3127247"/>
            <a:ext cx="9582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5.5秒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438143"/>
            <a:ext cx="658368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7589520" y="2194560"/>
            <a:ext cx="3870655" cy="1243584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89520" y="2194560"/>
            <a:ext cx="54864" cy="1243584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827264" y="2322576"/>
            <a:ext cx="3450031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パソコンは流入の3%ですが、平均滞在は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スマートフォンの11.4倍。「スマートフォンの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流入品質が低い」ということです。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675887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② 会員募集の導線が二重になっています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041648"/>
            <a:ext cx="5120640" cy="310896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4041648"/>
            <a:ext cx="16639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期間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9748" y="4041648"/>
            <a:ext cx="1831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LPから公式サイトへの遷移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4426" y="4041648"/>
            <a:ext cx="10762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お問い合わせ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352544"/>
            <a:ext cx="16639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第1期（8ヶ月）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69748" y="4352544"/>
            <a:ext cx="1831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767件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4426" y="4352544"/>
            <a:ext cx="10762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19件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663440"/>
            <a:ext cx="512064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31520" y="4663440"/>
            <a:ext cx="5120640" cy="310896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22960" y="4663440"/>
            <a:ext cx="16639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第2期（3ヶ月）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69748" y="4663440"/>
            <a:ext cx="1831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84件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84426" y="4663440"/>
            <a:ext cx="10762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4974336"/>
            <a:ext cx="512064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31520" y="4974336"/>
            <a:ext cx="5120640" cy="310896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22960" y="4974336"/>
            <a:ext cx="16639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全期間累計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69748" y="4974336"/>
            <a:ext cx="1831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1,430件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84426" y="4974336"/>
            <a:ext cx="10762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285231"/>
            <a:ext cx="512064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126479" y="4041648"/>
            <a:ext cx="5333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LPと公式サイトで同じ会員募集を掲載しており、リンクは一方通行です。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ただし公式サイトにもお問い合わせフォームがあり、そちらで成果が発生している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可能性があります。「損失」とは決めつけられません。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394959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③ 検討中の方への再接触が不足しています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760720"/>
            <a:ext cx="10728655" cy="292608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22960" y="5760720"/>
            <a:ext cx="302654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Meta広告（直近30日）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32386" y="5760720"/>
            <a:ext cx="1742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予算構成比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58042" y="5760720"/>
            <a:ext cx="165107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クリック率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92000" y="5760720"/>
            <a:ext cx="165107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LP到達率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25959" y="5760720"/>
            <a:ext cx="1742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接触回数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6053328"/>
            <a:ext cx="302654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興味関心（新規開拓）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32386" y="6053328"/>
            <a:ext cx="1742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91.0%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58042" y="6053328"/>
            <a:ext cx="165107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1.84%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92000" y="6053328"/>
            <a:ext cx="165107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82.3%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25959" y="6053328"/>
            <a:ext cx="1742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1.87回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63459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731520" y="6345936"/>
            <a:ext cx="10728655" cy="292608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22960" y="6345936"/>
            <a:ext cx="302654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リターゲティング（検討層）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32386" y="6345936"/>
            <a:ext cx="1742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9.0%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58042" y="6345936"/>
            <a:ext cx="165107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2.89%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92000" y="6345936"/>
            <a:ext cx="165107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1A3328"/>
                </a:solidFill>
                <a:latin typeface="Yu Gothic"/>
              </a:defRPr>
            </a:pPr>
            <a:r>
              <a:t>85.7%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25959" y="6345936"/>
            <a:ext cx="1742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Yu Gothic"/>
              </a:defRPr>
            </a:pPr>
            <a:r>
              <a:t>2.12回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6638544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31520" y="2395728"/>
            <a:ext cx="1280160" cy="4572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724912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1">
                <a:solidFill>
                  <a:srgbClr val="A8895C"/>
                </a:solidFill>
                <a:latin typeface="Arial"/>
              </a:defRPr>
            </a:pPr>
            <a: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27248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200" b="1">
                <a:solidFill>
                  <a:srgbClr val="FFFFFF"/>
                </a:solidFill>
                <a:latin typeface="Yu Gothic"/>
              </a:defRPr>
            </a:pPr>
            <a:r>
              <a:t>2026年8月 配信提案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68496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600" b="0">
                <a:solidFill>
                  <a:srgbClr val="E9EFEB"/>
                </a:solidFill>
                <a:latin typeface="Yu Gothic"/>
              </a:defRPr>
            </a:pPr>
            <a:r>
              <a:t>分析から導かれた3つの課題と、視察プレー最終月に向けた打ち手をご提案します。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第5部　配信提案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3つの課題と打ち手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いずれも「広告を増やす／減らす」ではなく、「向き先を変える」ことで対応できます。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56816"/>
            <a:ext cx="4937760" cy="1243584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1956816"/>
            <a:ext cx="4937760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9264" y="21945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B0454F"/>
                </a:solidFill>
                <a:latin typeface="Arial"/>
              </a:defRPr>
            </a:pPr>
            <a:r>
              <a:t>課題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450592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配信エリアが広すぎる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798064"/>
            <a:ext cx="4462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成果の53%が概ね70km圏／長野の集客は16.7%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2395728"/>
            <a:ext cx="402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  <a:defRPr sz="1500" b="1">
                <a:solidFill>
                  <a:srgbClr val="A8895C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56816"/>
            <a:ext cx="5242255" cy="1243584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0" y="1956816"/>
            <a:ext cx="5242255" cy="508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55664" y="2249424"/>
            <a:ext cx="4766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配信エリアを半径50〜80km圏へ戻す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615184"/>
            <a:ext cx="47667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東京は停止せず別枠に分離し、エリア別に成果を測る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64992"/>
            <a:ext cx="4937760" cy="1243584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31520" y="3364992"/>
            <a:ext cx="4937760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360273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B0454F"/>
                </a:solidFill>
                <a:latin typeface="Arial"/>
              </a:defRPr>
            </a:pPr>
            <a:r>
              <a:t>課題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858768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検討層への再接触が足りていない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206240"/>
            <a:ext cx="4462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クリック率は1.57倍なのに予算9%・接触2.12回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3803904"/>
            <a:ext cx="402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  <a:defRPr sz="1500" b="1">
                <a:solidFill>
                  <a:srgbClr val="A8895C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64992"/>
            <a:ext cx="5242255" cy="1243584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17920" y="3364992"/>
            <a:ext cx="5242255" cy="508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55664" y="3657600"/>
            <a:ext cx="4766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リターゲティングを強化する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023360"/>
            <a:ext cx="47667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比率を9%→20〜25%、接触回数4〜5回／オーディエンス拡張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73168"/>
            <a:ext cx="4937760" cy="1243584"/>
          </a:xfrm>
          <a:prstGeom prst="roundRect">
            <a:avLst>
              <a:gd name="adj" fmla="val 3000"/>
            </a:avLst>
          </a:prstGeom>
          <a:solidFill>
            <a:srgbClr val="F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31520" y="4773168"/>
            <a:ext cx="4937760" cy="50800"/>
          </a:xfrm>
          <a:prstGeom prst="rect">
            <a:avLst/>
          </a:prstGeom>
          <a:solidFill>
            <a:srgbClr val="B0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69264" y="50109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B0454F"/>
                </a:solidFill>
                <a:latin typeface="Arial"/>
              </a:defRPr>
            </a:pPr>
            <a:r>
              <a:t>課題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5266944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配信面と媒体構成に偏りがある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" y="5614416"/>
            <a:ext cx="4462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DV360の到達率15.9%／7月はMeta83%の一極集中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42432" y="5212080"/>
            <a:ext cx="402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  <a:defRPr sz="1500" b="1">
                <a:solidFill>
                  <a:srgbClr val="A8895C"/>
                </a:solidFill>
                <a:latin typeface="Yu Gothic"/>
              </a:defRPr>
            </a:pPr>
            <a: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773168"/>
            <a:ext cx="5242255" cy="1243584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17920" y="4773168"/>
            <a:ext cx="5242255" cy="508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55664" y="5065776"/>
            <a:ext cx="4766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配信面を整理し、媒体構成を戻す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5431536"/>
            <a:ext cx="47667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050" b="0">
                <a:solidFill>
                  <a:srgbClr val="999999"/>
                </a:solidFill>
                <a:latin typeface="Yu Gothic"/>
              </a:defRPr>
            </a:pPr>
            <a:r>
              <a:t>65面を除外して再開／Google広告を第1期水準へ／LINEヤフー再開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第5部　配信提案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2026年8月 配信プラン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44751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50" b="0">
                <a:solidFill>
                  <a:srgbClr val="526B5E"/>
                </a:solidFill>
                <a:latin typeface="Yu Gothic"/>
              </a:defRPr>
            </a:pPr>
            <a:r>
              <a:t>視察プレー期間（7月11日〜8月30日）の最終月。期間限定オファーの刈り取り月として設計します。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83664"/>
            <a:ext cx="10728655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83664"/>
            <a:ext cx="220126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媒体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7105" y="1883664"/>
            <a:ext cx="51355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役割・設定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5584" y="1883664"/>
            <a:ext cx="142183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配信費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0297" y="1883664"/>
            <a:ext cx="123843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構成比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31136"/>
            <a:ext cx="22012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Meta広告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7105" y="2231136"/>
            <a:ext cx="51355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半径50〜80km（55%）／東京別枠（20%）／リターゲティング（25%）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5584" y="2231136"/>
            <a:ext cx="14218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¥200,000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0297" y="2231136"/>
            <a:ext cx="1238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47.6%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5740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31520" y="2574036"/>
            <a:ext cx="10728655" cy="3429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2574036"/>
            <a:ext cx="22012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Google広告（P-MAX）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7105" y="2574036"/>
            <a:ext cx="51355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半径50〜80km＋東京別枠／クラブ名検索を除外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5584" y="2574036"/>
            <a:ext cx="14218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¥80,000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0297" y="2574036"/>
            <a:ext cx="1238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19.0%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9169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2916936"/>
            <a:ext cx="22012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DV360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7105" y="2916936"/>
            <a:ext cx="51355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競合店GEO／クリック率5%超の65面を除外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5584" y="2916936"/>
            <a:ext cx="14218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¥80,000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0297" y="2916936"/>
            <a:ext cx="1238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19.0%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2598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31520" y="3259836"/>
            <a:ext cx="10728655" cy="3429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3259836"/>
            <a:ext cx="22012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LINEヤフー広告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7105" y="3259836"/>
            <a:ext cx="51355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長野県東信＋群馬県西部／既存アカウントを再開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5584" y="3259836"/>
            <a:ext cx="14218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¥60,000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0297" y="3259836"/>
            <a:ext cx="1238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14.3%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6027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960" y="3602736"/>
            <a:ext cx="22012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配信費 小計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7105" y="3602736"/>
            <a:ext cx="51355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525584" y="3602736"/>
            <a:ext cx="14218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¥420,000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0297" y="3602736"/>
            <a:ext cx="1238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</a:p>
        </p:txBody>
      </p:sp>
      <p:sp>
        <p:nvSpPr>
          <p:cNvPr id="41" name="Rectangle 40"/>
          <p:cNvSpPr/>
          <p:nvPr/>
        </p:nvSpPr>
        <p:spPr>
          <a:xfrm>
            <a:off x="731520" y="3945635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31520" y="3945635"/>
            <a:ext cx="10728655" cy="3429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2960" y="3945635"/>
            <a:ext cx="22012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運用代行費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7105" y="3945635"/>
            <a:ext cx="51355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525584" y="3945635"/>
            <a:ext cx="14218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  <a:r>
              <a:t>¥105,000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0297" y="3945635"/>
            <a:ext cx="1238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</a:p>
        </p:txBody>
      </p:sp>
      <p:sp>
        <p:nvSpPr>
          <p:cNvPr id="47" name="Rectangle 46"/>
          <p:cNvSpPr/>
          <p:nvPr/>
        </p:nvSpPr>
        <p:spPr>
          <a:xfrm>
            <a:off x="731520" y="42885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31520" y="4288536"/>
            <a:ext cx="10728655" cy="34290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22960" y="4288536"/>
            <a:ext cx="220126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合計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7105" y="4288536"/>
            <a:ext cx="51355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Yu Gothic"/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8525584" y="4288536"/>
            <a:ext cx="1421833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¥525,000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30297" y="4288536"/>
            <a:ext cx="1238437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200" b="1">
                <a:solidFill>
                  <a:srgbClr val="1A3328"/>
                </a:solidFill>
                <a:latin typeface="Yu Gothic"/>
              </a:defRPr>
            </a:pPr>
            <a:r>
              <a:t>対7月 +75%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631436"/>
            <a:ext cx="1072865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31520" y="4681728"/>
            <a:ext cx="6035040" cy="3017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22960" y="4681728"/>
            <a:ext cx="168088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2686722" y="4681728"/>
            <a:ext cx="83775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Meta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07354" y="4681728"/>
            <a:ext cx="83775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Google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7985" y="4681728"/>
            <a:ext cx="79337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DV360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04242" y="4681728"/>
            <a:ext cx="97087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LINEヤフー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4983480"/>
            <a:ext cx="168088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2026年7月（実績）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86722" y="4983480"/>
            <a:ext cx="8377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1">
                <a:solidFill>
                  <a:srgbClr val="1A3328"/>
                </a:solidFill>
                <a:latin typeface="Yu Gothic"/>
              </a:defRPr>
            </a:pPr>
            <a:r>
              <a:t>83.3%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7354" y="4983480"/>
            <a:ext cx="8377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16.7%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7985" y="4983480"/>
            <a:ext cx="7933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04242" y="4983480"/>
            <a:ext cx="97087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303520"/>
            <a:ext cx="603504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731520" y="5303520"/>
            <a:ext cx="6035040" cy="32004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22960" y="5303520"/>
            <a:ext cx="168088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1">
                <a:solidFill>
                  <a:srgbClr val="1A3328"/>
                </a:solidFill>
                <a:latin typeface="Yu Gothic"/>
              </a:defRPr>
            </a:pPr>
            <a:r>
              <a:t>2026年8月（提案）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86722" y="5303520"/>
            <a:ext cx="8377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1">
                <a:solidFill>
                  <a:srgbClr val="1A3328"/>
                </a:solidFill>
                <a:latin typeface="Yu Gothic"/>
              </a:defRPr>
            </a:pPr>
            <a:r>
              <a:t>47.6%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07354" y="5303520"/>
            <a:ext cx="8377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19.0%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27985" y="5303520"/>
            <a:ext cx="79337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19.0%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04242" y="5303520"/>
            <a:ext cx="97087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14.3%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" y="5623559"/>
            <a:ext cx="603504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7040879" y="4681728"/>
            <a:ext cx="4419295" cy="941832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7040879" y="4681728"/>
            <a:ext cx="54864" cy="94183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278623" y="4809744"/>
            <a:ext cx="3998671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Meta広告は減額しません。内訳を組み替えて</a:t>
            </a:r>
          </a:p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一極集中（83.3%）を47.6%まで下げます。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99846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〈実測〉7月実績＝ご請求データ。〈提案〉8月の構成比は本プランに基づく計画値です。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第5部　配信提案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8月のKPI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38528"/>
            <a:ext cx="2476423" cy="196596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1520" y="1938528"/>
            <a:ext cx="2476423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194560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お問い合わせ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05456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600" b="1">
                <a:solidFill>
                  <a:srgbClr val="1A3328"/>
                </a:solidFill>
                <a:latin typeface="Arial"/>
              </a:defRPr>
            </a:pPr>
            <a:r>
              <a:t>3〜5件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337559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第1期の月平均2.4件／最良月5件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2263" y="1938528"/>
            <a:ext cx="2476423" cy="196596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482263" y="1938528"/>
            <a:ext cx="2476423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01719" y="2194560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獲得単価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1719" y="2505456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2600" b="1">
                <a:solidFill>
                  <a:srgbClr val="1A3328"/>
                </a:solidFill>
                <a:latin typeface="Arial"/>
              </a:defRPr>
            </a:pPr>
            <a:r>
              <a:t>¥105,000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2600" b="1">
                <a:solidFill>
                  <a:srgbClr val="1A3328"/>
                </a:solidFill>
                <a:latin typeface="Arial"/>
              </a:defRPr>
            </a:pPr>
            <a:r>
              <a:t>〜175,000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1719" y="3337559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5件なら第1期平均と同水準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938528"/>
            <a:ext cx="2476423" cy="196596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33007" y="1938528"/>
            <a:ext cx="2476423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52463" y="2194560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地元の集客構成比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2505456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600" b="1">
                <a:solidFill>
                  <a:srgbClr val="1A3328"/>
                </a:solidFill>
                <a:latin typeface="Arial"/>
              </a:defRPr>
            </a:pPr>
            <a:r>
              <a:t>40%以上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3337559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現在19%。成果構成比53%に近づける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3751" y="1938528"/>
            <a:ext cx="2476423" cy="1965960"/>
          </a:xfrm>
          <a:prstGeom prst="roundRect">
            <a:avLst>
              <a:gd name="adj" fmla="val 3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983751" y="1938528"/>
            <a:ext cx="2476423" cy="50800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03207" y="2194560"/>
            <a:ext cx="2037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150" b="1">
                <a:solidFill>
                  <a:srgbClr val="526B5E"/>
                </a:solidFill>
                <a:latin typeface="Yu Gothic"/>
              </a:defRPr>
            </a:pPr>
            <a:r>
              <a:t>DV360のサイト到達率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3207" y="2505456"/>
            <a:ext cx="203751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3600" b="1">
                <a:solidFill>
                  <a:srgbClr val="1A3328"/>
                </a:solidFill>
                <a:latin typeface="Arial"/>
              </a:defRPr>
            </a:pPr>
            <a:r>
              <a:t>40%以上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3207" y="3337559"/>
            <a:ext cx="20375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Yu Gothic"/>
              </a:defRPr>
            </a:pPr>
            <a:r>
              <a:t>現在15.9%。配信面の除外による改善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14800"/>
            <a:ext cx="10728655" cy="822960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31520" y="4114800"/>
            <a:ext cx="54864" cy="82296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424281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週次でご報告し、8月中旬に配分を見直します。8月30日の視察プレー受付終了に向け、月内で調整します。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02352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〈当社仮説〉KPIは第1期の実績水準を根拠とした目標値であり、達成を保証するものではありません。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〈両論併記〉7月1日の3変更が同時発生していたため、施策単独の効果は8月の実測で検証します。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050" b="1">
                <a:solidFill>
                  <a:srgbClr val="A8895C"/>
                </a:solidFill>
                <a:latin typeface="Yu Gothic"/>
              </a:defRPr>
            </a:pPr>
            <a:r>
              <a:t>第5部　配信提案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400" b="1">
                <a:solidFill>
                  <a:srgbClr val="1A3328"/>
                </a:solidFill>
                <a:latin typeface="Yu Gothic"/>
              </a:defRPr>
            </a:pPr>
            <a:r>
              <a:t>スケジュールとご依頼事項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77724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31520" y="6419088"/>
            <a:ext cx="10728655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Yu Gothic"/>
              </a:defRPr>
            </a:pPr>
            <a: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9224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5000"/>
              </a:lnSpc>
              <a:spcAft>
                <a:spcPts val="400"/>
              </a:spcAft>
              <a:defRPr sz="850" b="0">
                <a:solidFill>
                  <a:srgbClr val="999999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スケジュール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57984"/>
            <a:ext cx="5760720" cy="347472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57984"/>
            <a:ext cx="10972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期日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57984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FFFFFF"/>
                </a:solidFill>
                <a:latin typeface="Yu Gothic"/>
              </a:defRPr>
            </a:pPr>
            <a:r>
              <a:t>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1097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7月下旬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0545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配信エリアの設定変更／DV360除外リスト作成／クラブ名検索の除外／コンバージョン計測の接続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16936"/>
            <a:ext cx="57607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31520" y="2916936"/>
            <a:ext cx="5760720" cy="41148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2916936"/>
            <a:ext cx="1097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7月末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91693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クリエイティブを視察プレー訴求へ差し替え／LINEヤフー広告の入稿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28416"/>
            <a:ext cx="57607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31520" y="3328416"/>
            <a:ext cx="5760720" cy="41148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328416"/>
            <a:ext cx="1097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1">
                <a:solidFill>
                  <a:srgbClr val="1A3328"/>
                </a:solidFill>
                <a:latin typeface="Yu Gothic"/>
              </a:defRPr>
            </a:pPr>
            <a:r>
              <a:t>8月1日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32841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1">
                <a:solidFill>
                  <a:srgbClr val="1A3328"/>
                </a:solidFill>
                <a:latin typeface="Yu Gothic"/>
              </a:defRPr>
            </a:pPr>
            <a:r>
              <a:t>配信開始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39896"/>
            <a:ext cx="57607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31520" y="3739896"/>
            <a:ext cx="5760720" cy="41148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3739896"/>
            <a:ext cx="1097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8月中旬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73989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中間レポート・配分の見直し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51376"/>
            <a:ext cx="57607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1520" y="4151376"/>
            <a:ext cx="5760720" cy="41148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4151376"/>
            <a:ext cx="1097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1">
                <a:solidFill>
                  <a:srgbClr val="1A3328"/>
                </a:solidFill>
                <a:latin typeface="Yu Gothic"/>
              </a:defRPr>
            </a:pPr>
            <a:r>
              <a:t>8月30日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15137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1">
                <a:solidFill>
                  <a:srgbClr val="1A3328"/>
                </a:solidFill>
                <a:latin typeface="Yu Gothic"/>
              </a:defRPr>
            </a:pPr>
            <a:r>
              <a:t>視察プレー受付終了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62856"/>
            <a:ext cx="57607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31520" y="4562856"/>
            <a:ext cx="5760720" cy="41148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4562856"/>
            <a:ext cx="1097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9月上旬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562856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050" b="0">
                <a:solidFill>
                  <a:srgbClr val="333333"/>
                </a:solidFill>
                <a:latin typeface="Yu Gothic"/>
              </a:defRPr>
            </a:pPr>
            <a:r>
              <a:t>8月実績のご報告・9月以降のご提案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974336"/>
            <a:ext cx="5760720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66559" y="1792224"/>
            <a:ext cx="4693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  <a:defRPr sz="1400" b="1">
                <a:solidFill>
                  <a:srgbClr val="1A3328"/>
                </a:solidFill>
                <a:latin typeface="Yu Gothic"/>
              </a:defRPr>
            </a:pPr>
            <a:r>
              <a:t>ご依頼事項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59" y="2157984"/>
            <a:ext cx="4693615" cy="3145536"/>
          </a:xfrm>
          <a:prstGeom prst="roundRect">
            <a:avLst>
              <a:gd name="adj" fmla="val 3000"/>
            </a:avLst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766559" y="2157984"/>
            <a:ext cx="4693615" cy="50800"/>
          </a:xfrm>
          <a:prstGeom prst="rect">
            <a:avLst/>
          </a:prstGeom>
          <a:solidFill>
            <a:srgbClr val="1A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40879" y="2432304"/>
            <a:ext cx="414497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公式サイト経由のお問い合わせ実績を、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月別・「知ったきっかけ」別でご共有ください。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公式サイトのお問い合わせフォームには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「知ったきっかけ」が必須項目としてあり、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「Googleの広告」「Facebook/Instagram等の広告」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が選択肢に含まれています。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LPから公式サイトへ1,430件の遷移が発生して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おり、広告経由のお問い合わせが公式サイト側で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受け付けられている可能性があります。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現時点の集計はLP経由のみです。実際の成果を</a:t>
            </a:r>
          </a:p>
          <a:p>
            <a:pPr algn="l">
              <a:lnSpc>
                <a:spcPct val="142000"/>
              </a:lnSpc>
              <a:spcAft>
                <a:spcPts val="400"/>
              </a:spcAft>
              <a:defRPr sz="1100" b="0">
                <a:solidFill>
                  <a:srgbClr val="999999"/>
                </a:solidFill>
                <a:latin typeface="Yu Gothic"/>
              </a:defRPr>
            </a:pPr>
            <a:r>
              <a:t>過小評価している可能性があります。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  <a:defRPr sz="950" b="0">
                <a:solidFill>
                  <a:srgbClr val="999999"/>
                </a:solidFill>
                <a:latin typeface="Yu Gothic"/>
              </a:defRPr>
            </a:pPr>
            <a:r>
              <a:t>本レポートの出典：お問い合わせ通知メールの実データ／Google Analytics 4／Google Ads API／Meta Marketing API／DV360 Bid Manager API／LINEヤフー広告API／弊社基幹システム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