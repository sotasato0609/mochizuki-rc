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お問い合わせ件数</c:v>
                </c:pt>
              </c:strCache>
            </c:strRef>
          </c:tx>
          <c:spPr>
            <a:solidFill>
              <a:srgbClr val="405D7B"/>
            </a:solidFill>
          </c:spPr>
          <c:dPt>
            <c:idx val="7"/>
            <c:spPr>
              <a:solidFill>
                <a:srgbClr val="A96933"/>
              </a:solidFill>
            </c:spPr>
          </c:dPt>
          <c:cat>
            <c:strRef>
              <c:f>Sheet1!$A$2:$A$12</c:f>
              <c:strCache>
                <c:ptCount val="11"/>
                <c:pt idx="0">
                  <c:v>25/8</c:v>
                </c:pt>
                <c:pt idx="1">
                  <c:v>25/9</c:v>
                </c:pt>
                <c:pt idx="2">
                  <c:v>25/10</c:v>
                </c:pt>
                <c:pt idx="3">
                  <c:v>25/11</c:v>
                </c:pt>
                <c:pt idx="4">
                  <c:v>25/12</c:v>
                </c:pt>
                <c:pt idx="5">
                  <c:v>26/1</c:v>
                </c:pt>
                <c:pt idx="6">
                  <c:v>26/2</c:v>
                </c:pt>
                <c:pt idx="7">
                  <c:v>26/3</c:v>
                </c:pt>
                <c:pt idx="8">
                  <c:v>26/5</c:v>
                </c:pt>
                <c:pt idx="9">
                  <c:v>26/6</c:v>
                </c:pt>
                <c:pt idx="10">
                  <c:v>26/7</c:v>
                </c:pt>
              </c:strCache>
            </c:strRef>
          </c:cat>
          <c:val>
            <c:numRef>
              <c:f>Sheet1!$B$2:$B$12</c:f>
              <c:numCache>
                <c:formatCode>General</c:formatCode>
                <c:ptCount val="11"/>
                <c:pt idx="0">
                  <c:v>1</c:v>
                </c:pt>
                <c:pt idx="1">
                  <c:v>3</c:v>
                </c:pt>
                <c:pt idx="2">
                  <c:v>3</c:v>
                </c:pt>
                <c:pt idx="3">
                  <c:v>0</c:v>
                </c:pt>
                <c:pt idx="4">
                  <c:v>2</c:v>
                </c:pt>
                <c:pt idx="5">
                  <c:v>2</c:v>
                </c:pt>
                <c:pt idx="6">
                  <c:v>3</c:v>
                </c:pt>
                <c:pt idx="7">
                  <c:v>5</c:v>
                </c:pt>
                <c:pt idx="8">
                  <c:v>1</c:v>
                </c:pt>
                <c:pt idx="9">
                  <c:v>1</c:v>
                </c:pt>
                <c:pt idx="10">
                  <c:v>0</c:v>
                </c:pt>
              </c:numCache>
            </c:numRef>
          </c:val>
        </c:ser>
        <c:dLbls>
          <c:txPr>
            <a:bodyPr/>
            <a:lstStyle/>
            <a:p>
              <a:pPr>
                <a:defRPr sz="1100" b="1">
                  <a:solidFill>
                    <a:srgbClr val="2A2E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E2E6EB"/>
            </a:solidFill>
          </a:ln>
        </c:spPr>
        <c:txPr>
          <a:bodyPr/>
          <a:lstStyle/>
          <a:p>
            <a:pPr>
              <a:defRPr sz="950"/>
            </a:pPr>
          </a:p>
        </c:txPr>
        <c:crossAx val="-2113994440"/>
        <c:crosses val="autoZero"/>
        <c:auto val="1"/>
        <c:lblAlgn val="ctr"/>
        <c:lblOffset val="100"/>
        <c:noMultiLvlLbl val="0"/>
      </c:catAx>
      <c:valAx>
        <c:axId val="-2113994440"/>
        <c:scaling/>
        <c:delete val="0"/>
        <c:axPos val="l"/>
        <c:majorGridlines>
          <c:spPr>
            <a:ln w="6350">
              <a:solidFill>
                <a:srgbClr val="E2E6EB"/>
              </a:solidFill>
            </a:ln>
          </c:spPr>
        </c:majorGridlines>
        <c:majorTickMark val="out"/>
        <c:minorTickMark val="none"/>
        <c:tickLblPos val="nextTo"/>
        <c:spPr>
          <a:ln>
            <a:noFill/>
          </a:ln>
        </c:spPr>
        <c:txPr>
          <a:bodyPr/>
          <a:lstStyle/>
          <a:p>
            <a:pPr>
              <a:defRPr sz="950"/>
            </a:pPr>
          </a:p>
        </c:txPr>
        <c:crossAx val="-2068027336"/>
        <c:crosses val="autoZero"/>
      </c:valAx>
    </c:plotArea>
    <c:dispBlanksAs val="gap"/>
  </c:chart>
  <c:txPr>
    <a:bodyPr/>
    <a:lstStyle/>
    <a:p>
      <a:pPr>
        <a:defRPr sz="1000">
          <a:solidFill>
            <a:srgbClr val="454B52"/>
          </a:solidFill>
          <a:latin typeface="Meiry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件数</c:v>
                </c:pt>
              </c:strCache>
            </c:strRef>
          </c:tx>
          <c:spPr>
            <a:solidFill>
              <a:srgbClr val="405D7B"/>
            </a:solidFill>
          </c:spPr>
          <c:dPt>
            <c:idx val="0"/>
            <c:spPr>
              <a:solidFill>
                <a:srgbClr val="A96933"/>
              </a:solidFill>
            </c:spPr>
          </c:dPt>
          <c:dPt>
            <c:idx val="1"/>
            <c:spPr>
              <a:solidFill>
                <a:srgbClr val="A96933"/>
              </a:solidFill>
            </c:spPr>
          </c:dPt>
          <c:dPt>
            <c:idx val="2"/>
            <c:spPr>
              <a:solidFill>
                <a:srgbClr val="A96933"/>
              </a:solidFill>
            </c:spPr>
          </c:dPt>
          <c:cat>
            <c:strRef>
              <c:f>Sheet1!$A$2:$A$6</c:f>
              <c:strCache>
                <c:ptCount val="5"/>
                <c:pt idx="0">
                  <c:v>概ね30km圏
佐久・小諸・軽井沢・御代田</c:v>
                </c:pt>
                <c:pt idx="1">
                  <c:v>概ね40km圏
上田市</c:v>
                </c:pt>
                <c:pt idx="2">
                  <c:v>概ね70km圏
群馬県高崎市</c:v>
                </c:pt>
                <c:pt idx="3">
                  <c:v>概ね90km圏
長野県松本市</c:v>
                </c:pt>
                <c:pt idx="4">
                  <c:v>首都圏
東京・神奈川・千葉</c:v>
                </c:pt>
              </c:strCache>
            </c:strRef>
          </c:cat>
          <c:val>
            <c:numRef>
              <c:f>Sheet1!$B$2:$B$6</c:f>
              <c:numCache>
                <c:formatCode>General</c:formatCode>
                <c:ptCount val="5"/>
                <c:pt idx="0">
                  <c:v>7</c:v>
                </c:pt>
                <c:pt idx="1">
                  <c:v>2</c:v>
                </c:pt>
                <c:pt idx="2">
                  <c:v>1</c:v>
                </c:pt>
                <c:pt idx="3">
                  <c:v>1</c:v>
                </c:pt>
                <c:pt idx="4">
                  <c:v>8</c:v>
                </c:pt>
              </c:numCache>
            </c:numRef>
          </c:val>
        </c:ser>
        <c:dLbls>
          <c:txPr>
            <a:bodyPr/>
            <a:lstStyle/>
            <a:p>
              <a:pPr>
                <a:defRPr sz="1200" b="1">
                  <a:solidFill>
                    <a:srgbClr val="2A2E33"/>
                  </a:solidFill>
                </a:defRPr>
              </a:pPr>
            </a:p>
          </c:txPr>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E2E6EB"/>
            </a:solidFill>
          </a:ln>
        </c:spPr>
        <c:txPr>
          <a:bodyPr/>
          <a:lstStyle/>
          <a:p>
            <a:pPr>
              <a:defRPr sz="950"/>
            </a:pPr>
          </a:p>
        </c:txPr>
        <c:crossAx val="-2113994440"/>
        <c:crosses val="autoZero"/>
        <c:auto val="1"/>
        <c:lblAlgn val="ctr"/>
        <c:lblOffset val="100"/>
        <c:noMultiLvlLbl val="0"/>
      </c:catAx>
      <c:valAx>
        <c:axId val="-2113994440"/>
        <c:scaling/>
        <c:delete val="0"/>
        <c:axPos val="b"/>
        <c:majorGridlines>
          <c:spPr>
            <a:ln w="6350">
              <a:solidFill>
                <a:srgbClr val="E2E6EB"/>
              </a:solidFill>
            </a:ln>
          </c:spPr>
        </c:majorGridlines>
        <c:majorTickMark val="out"/>
        <c:minorTickMark val="none"/>
        <c:tickLblPos val="nextTo"/>
        <c:spPr>
          <a:ln>
            <a:noFill/>
          </a:ln>
        </c:spPr>
        <c:txPr>
          <a:bodyPr/>
          <a:lstStyle/>
          <a:p>
            <a:pPr>
              <a:defRPr sz="950"/>
            </a:pPr>
          </a:p>
        </c:txPr>
        <c:crossAx val="-2068027336"/>
        <c:crosses val="autoZero"/>
      </c:valAx>
    </c:plotArea>
    <c:dispBlanksAs val="gap"/>
  </c:chart>
  <c:txPr>
    <a:bodyPr/>
    <a:lstStyle/>
    <a:p>
      <a:pPr>
        <a:defRPr sz="1000">
          <a:solidFill>
            <a:srgbClr val="454B52"/>
          </a:solidFill>
          <a:latin typeface="Meiry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第1期の成果構成比</c:v>
                </c:pt>
              </c:strCache>
            </c:strRef>
          </c:tx>
          <c:spPr>
            <a:solidFill>
              <a:srgbClr val="405D7B"/>
            </a:solidFill>
          </c:spPr>
          <c:cat>
            <c:strRef>
              <c:f>Sheet1!$A$2:$A$5</c:f>
              <c:strCache>
                <c:ptCount val="4"/>
                <c:pt idx="0">
                  <c:v>長野県</c:v>
                </c:pt>
                <c:pt idx="1">
                  <c:v>群馬県</c:v>
                </c:pt>
                <c:pt idx="2">
                  <c:v>東京都</c:v>
                </c:pt>
                <c:pt idx="3">
                  <c:v>神奈川県</c:v>
                </c:pt>
              </c:strCache>
            </c:strRef>
          </c:cat>
          <c:val>
            <c:numRef>
              <c:f>Sheet1!$B$2:$B$5</c:f>
              <c:numCache>
                <c:formatCode>General</c:formatCode>
                <c:ptCount val="4"/>
                <c:pt idx="0">
                  <c:v>53</c:v>
                </c:pt>
                <c:pt idx="1">
                  <c:v>5</c:v>
                </c:pt>
                <c:pt idx="2">
                  <c:v>32</c:v>
                </c:pt>
                <c:pt idx="3">
                  <c:v>5</c:v>
                </c:pt>
              </c:numCache>
            </c:numRef>
          </c:val>
        </c:ser>
        <c:ser>
          <c:idx val="1"/>
          <c:order val="1"/>
          <c:tx>
            <c:strRef>
              <c:f>Sheet1!$C$1</c:f>
              <c:strCache>
                <c:ptCount val="1"/>
                <c:pt idx="0">
                  <c:v>2026年7月の集客構成比</c:v>
                </c:pt>
              </c:strCache>
            </c:strRef>
          </c:tx>
          <c:spPr>
            <a:solidFill>
              <a:srgbClr val="E2E6EB"/>
            </a:solidFill>
          </c:spPr>
          <c:cat>
            <c:strRef>
              <c:f>Sheet1!$A$2:$A$5</c:f>
              <c:strCache>
                <c:ptCount val="4"/>
                <c:pt idx="0">
                  <c:v>長野県</c:v>
                </c:pt>
                <c:pt idx="1">
                  <c:v>群馬県</c:v>
                </c:pt>
                <c:pt idx="2">
                  <c:v>東京都</c:v>
                </c:pt>
                <c:pt idx="3">
                  <c:v>神奈川県</c:v>
                </c:pt>
              </c:strCache>
            </c:strRef>
          </c:cat>
          <c:val>
            <c:numRef>
              <c:f>Sheet1!$C$2:$C$5</c:f>
              <c:numCache>
                <c:formatCode>General</c:formatCode>
                <c:ptCount val="4"/>
                <c:pt idx="0">
                  <c:v>16.7</c:v>
                </c:pt>
                <c:pt idx="1">
                  <c:v>2.6</c:v>
                </c:pt>
                <c:pt idx="2">
                  <c:v>35.7</c:v>
                </c:pt>
                <c:pt idx="3">
                  <c:v>13.6</c:v>
                </c:pt>
              </c:numCache>
            </c:numRef>
          </c:val>
        </c:ser>
        <c:dLbls>
          <c:txPr>
            <a:bodyPr/>
            <a:lstStyle/>
            <a:p>
              <a:pPr>
                <a:defRPr sz="1000" b="1">
                  <a:solidFill>
                    <a:srgbClr val="2A2E33"/>
                  </a:solidFill>
                </a:defRPr>
              </a:pPr>
            </a:p>
          </c:txPr>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E2E6EB"/>
            </a:solidFill>
          </a:ln>
        </c:spPr>
        <c:txPr>
          <a:bodyPr/>
          <a:lstStyle/>
          <a:p>
            <a:pPr>
              <a:defRPr sz="950"/>
            </a:pPr>
          </a:p>
        </c:txPr>
        <c:crossAx val="-2113994440"/>
        <c:crosses val="autoZero"/>
        <c:auto val="1"/>
        <c:lblAlgn val="ctr"/>
        <c:lblOffset val="100"/>
        <c:noMultiLvlLbl val="0"/>
      </c:catAx>
      <c:valAx>
        <c:axId val="-2113994440"/>
        <c:scaling/>
        <c:delete val="0"/>
        <c:axPos val="l"/>
        <c:majorGridlines>
          <c:spPr>
            <a:ln w="6350">
              <a:solidFill>
                <a:srgbClr val="E2E6EB"/>
              </a:solidFill>
            </a:ln>
          </c:spPr>
        </c:majorGridlines>
        <c:majorTickMark val="out"/>
        <c:minorTickMark val="none"/>
        <c:tickLblPos val="nextTo"/>
        <c:spPr>
          <a:ln>
            <a:noFill/>
          </a:ln>
        </c:spPr>
        <c:txPr>
          <a:bodyPr/>
          <a:lstStyle/>
          <a:p>
            <a:pPr>
              <a:defRPr sz="950"/>
            </a:pPr>
          </a:p>
        </c:txPr>
        <c:crossAx val="-2068027336"/>
        <c:crosses val="autoZero"/>
      </c:valAx>
    </c:plotArea>
    <c:legend>
      <c:legendPos val="b"/>
      <c:overlay val="0"/>
      <c:txPr>
        <a:bodyPr/>
        <a:lstStyle/>
        <a:p>
          <a:pPr>
            <a:defRPr sz="1000"/>
          </a:pPr>
        </a:p>
      </c:txPr>
    </c:legend>
    <c:dispBlanksAs val="gap"/>
  </c:chart>
  <c:txPr>
    <a:bodyPr/>
    <a:lstStyle/>
    <a:p>
      <a:pPr>
        <a:defRPr sz="1000">
          <a:solidFill>
            <a:srgbClr val="454B52"/>
          </a:solidFill>
          <a:latin typeface="Meiry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Google広告</c:v>
                </c:pt>
              </c:strCache>
            </c:strRef>
          </c:tx>
          <c:spPr>
            <a:solidFill>
              <a:srgbClr val="405D7B"/>
            </a:solidFill>
          </c:spPr>
          <c:cat>
            <c:strRef>
              <c:f>Sheet1!$A$2:$A$8</c:f>
              <c:strCache>
                <c:ptCount val="7"/>
                <c:pt idx="0">
                  <c:v>25年9月
3件</c:v>
                </c:pt>
                <c:pt idx="1">
                  <c:v>25年10月
3件</c:v>
                </c:pt>
                <c:pt idx="2">
                  <c:v>26年2月
3件</c:v>
                </c:pt>
                <c:pt idx="3">
                  <c:v>26年3月
5件</c:v>
                </c:pt>
                <c:pt idx="4">
                  <c:v>26年5月
1件</c:v>
                </c:pt>
                <c:pt idx="5">
                  <c:v>26年6月
1件</c:v>
                </c:pt>
                <c:pt idx="6">
                  <c:v>26年7月
0件</c:v>
                </c:pt>
              </c:strCache>
            </c:strRef>
          </c:cat>
          <c:val>
            <c:numRef>
              <c:f>Sheet1!$B$2:$B$8</c:f>
              <c:numCache>
                <c:formatCode>General</c:formatCode>
                <c:ptCount val="7"/>
                <c:pt idx="0">
                  <c:v>33</c:v>
                </c:pt>
                <c:pt idx="1">
                  <c:v>40</c:v>
                </c:pt>
                <c:pt idx="2">
                  <c:v>50</c:v>
                </c:pt>
                <c:pt idx="3">
                  <c:v>40</c:v>
                </c:pt>
                <c:pt idx="4">
                  <c:v>17</c:v>
                </c:pt>
                <c:pt idx="5">
                  <c:v>14</c:v>
                </c:pt>
                <c:pt idx="6">
                  <c:v>17</c:v>
                </c:pt>
              </c:numCache>
            </c:numRef>
          </c:val>
        </c:ser>
        <c:ser>
          <c:idx val="1"/>
          <c:order val="1"/>
          <c:tx>
            <c:strRef>
              <c:f>Sheet1!$C$1</c:f>
              <c:strCache>
                <c:ptCount val="1"/>
                <c:pt idx="0">
                  <c:v>Meta広告</c:v>
                </c:pt>
              </c:strCache>
            </c:strRef>
          </c:tx>
          <c:spPr>
            <a:solidFill>
              <a:srgbClr val="A96933"/>
            </a:solidFill>
          </c:spPr>
          <c:cat>
            <c:strRef>
              <c:f>Sheet1!$A$2:$A$8</c:f>
              <c:strCache>
                <c:ptCount val="7"/>
                <c:pt idx="0">
                  <c:v>25年9月
3件</c:v>
                </c:pt>
                <c:pt idx="1">
                  <c:v>25年10月
3件</c:v>
                </c:pt>
                <c:pt idx="2">
                  <c:v>26年2月
3件</c:v>
                </c:pt>
                <c:pt idx="3">
                  <c:v>26年3月
5件</c:v>
                </c:pt>
                <c:pt idx="4">
                  <c:v>26年5月
1件</c:v>
                </c:pt>
                <c:pt idx="5">
                  <c:v>26年6月
1件</c:v>
                </c:pt>
                <c:pt idx="6">
                  <c:v>26年7月
0件</c:v>
                </c:pt>
              </c:strCache>
            </c:strRef>
          </c:cat>
          <c:val>
            <c:numRef>
              <c:f>Sheet1!$C$2:$C$8</c:f>
              <c:numCache>
                <c:formatCode>General</c:formatCode>
                <c:ptCount val="7"/>
                <c:pt idx="0">
                  <c:v>33</c:v>
                </c:pt>
                <c:pt idx="1">
                  <c:v>40</c:v>
                </c:pt>
                <c:pt idx="2">
                  <c:v>33</c:v>
                </c:pt>
                <c:pt idx="3">
                  <c:v>20</c:v>
                </c:pt>
                <c:pt idx="4">
                  <c:v>33</c:v>
                </c:pt>
                <c:pt idx="5">
                  <c:v>14</c:v>
                </c:pt>
                <c:pt idx="6">
                  <c:v>83</c:v>
                </c:pt>
              </c:numCache>
            </c:numRef>
          </c:val>
        </c:ser>
        <c:ser>
          <c:idx val="2"/>
          <c:order val="2"/>
          <c:tx>
            <c:strRef>
              <c:f>Sheet1!$D$1</c:f>
              <c:strCache>
                <c:ptCount val="1"/>
                <c:pt idx="0">
                  <c:v>DV360</c:v>
                </c:pt>
              </c:strCache>
            </c:strRef>
          </c:tx>
          <c:spPr>
            <a:solidFill>
              <a:srgbClr val="6C7582"/>
            </a:solidFill>
          </c:spPr>
          <c:cat>
            <c:strRef>
              <c:f>Sheet1!$A$2:$A$8</c:f>
              <c:strCache>
                <c:ptCount val="7"/>
                <c:pt idx="0">
                  <c:v>25年9月
3件</c:v>
                </c:pt>
                <c:pt idx="1">
                  <c:v>25年10月
3件</c:v>
                </c:pt>
                <c:pt idx="2">
                  <c:v>26年2月
3件</c:v>
                </c:pt>
                <c:pt idx="3">
                  <c:v>26年3月
5件</c:v>
                </c:pt>
                <c:pt idx="4">
                  <c:v>26年5月
1件</c:v>
                </c:pt>
                <c:pt idx="5">
                  <c:v>26年6月
1件</c:v>
                </c:pt>
                <c:pt idx="6">
                  <c:v>26年7月
0件</c:v>
                </c:pt>
              </c:strCache>
            </c:strRef>
          </c:cat>
          <c:val>
            <c:numRef>
              <c:f>Sheet1!$D$2:$D$8</c:f>
              <c:numCache>
                <c:formatCode>General</c:formatCode>
                <c:ptCount val="7"/>
                <c:pt idx="0">
                  <c:v>33</c:v>
                </c:pt>
                <c:pt idx="1">
                  <c:v>20</c:v>
                </c:pt>
                <c:pt idx="2">
                  <c:v>17</c:v>
                </c:pt>
                <c:pt idx="3">
                  <c:v>40</c:v>
                </c:pt>
                <c:pt idx="4">
                  <c:v>50</c:v>
                </c:pt>
                <c:pt idx="5">
                  <c:v>71</c:v>
                </c:pt>
                <c:pt idx="6">
                  <c:v>0</c:v>
                </c:pt>
              </c:numCache>
            </c:numRef>
          </c:val>
        </c:ser>
        <c:dLbls>
          <c:txPr>
            <a:bodyPr/>
            <a:lstStyle/>
            <a:p>
              <a:pPr>
                <a:defRPr sz="900" b="1">
                  <a:solidFill>
                    <a:srgbClr val="FFFFFF"/>
                  </a:solidFill>
                </a:defRPr>
              </a:pPr>
            </a:p>
          </c:txPr>
          <c:showLegendKey val="0"/>
          <c:showVal val="1"/>
          <c:showCatName val="0"/>
          <c:showSerName val="0"/>
          <c:showPercent val="0"/>
          <c:showBubbleSize val="0"/>
          <c:showLeaderLines val="1"/>
        </c:dLbls>
        <c:gapWidth val="55"/>
        <c:overlap val="100"/>
        <c:axId val="-2068027336"/>
        <c:axId val="-2113994440"/>
      </c:barChart>
      <c:catAx>
        <c:axId val="-2068027336"/>
        <c:scaling>
          <c:orientation val="minMax"/>
        </c:scaling>
        <c:delete val="0"/>
        <c:axPos val="b"/>
        <c:majorTickMark val="out"/>
        <c:minorTickMark val="none"/>
        <c:tickLblPos val="nextTo"/>
        <c:spPr>
          <a:ln>
            <a:solidFill>
              <a:srgbClr val="E2E6EB"/>
            </a:solidFill>
          </a:ln>
        </c:spPr>
        <c:txPr>
          <a:bodyPr/>
          <a:lstStyle/>
          <a:p>
            <a:pPr>
              <a:defRPr sz="950"/>
            </a:pPr>
          </a:p>
        </c:txPr>
        <c:crossAx val="-2113994440"/>
        <c:crosses val="autoZero"/>
        <c:auto val="1"/>
        <c:lblAlgn val="ctr"/>
        <c:lblOffset val="100"/>
        <c:noMultiLvlLbl val="0"/>
      </c:catAx>
      <c:valAx>
        <c:axId val="-2113994440"/>
        <c:scaling/>
        <c:delete val="0"/>
        <c:axPos val="l"/>
        <c:majorGridlines>
          <c:spPr>
            <a:ln w="6350">
              <a:solidFill>
                <a:srgbClr val="E2E6EB"/>
              </a:solidFill>
            </a:ln>
          </c:spPr>
        </c:majorGridlines>
        <c:majorTickMark val="out"/>
        <c:minorTickMark val="none"/>
        <c:tickLblPos val="nextTo"/>
        <c:spPr>
          <a:ln>
            <a:noFill/>
          </a:ln>
        </c:spPr>
        <c:txPr>
          <a:bodyPr/>
          <a:lstStyle/>
          <a:p>
            <a:pPr>
              <a:defRPr sz="950"/>
            </a:pPr>
          </a:p>
        </c:txPr>
        <c:crossAx val="-2068027336"/>
        <c:crosses val="autoZero"/>
      </c:valAx>
    </c:plotArea>
    <c:legend>
      <c:legendPos val="b"/>
      <c:overlay val="0"/>
      <c:txPr>
        <a:bodyPr/>
        <a:lstStyle/>
        <a:p>
          <a:pPr>
            <a:defRPr sz="1000"/>
          </a:pPr>
        </a:p>
      </c:txPr>
    </c:legend>
    <c:dispBlanksAs val="gap"/>
  </c:chart>
  <c:txPr>
    <a:bodyPr/>
    <a:lstStyle/>
    <a:p>
      <a:pPr>
        <a:defRPr sz="1000">
          <a:solidFill>
            <a:srgbClr val="454B52"/>
          </a:solidFill>
          <a:latin typeface="Meiryo"/>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001000" y="0"/>
            <a:ext cx="4187952" cy="6858000"/>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8001000" y="0"/>
            <a:ext cx="54864" cy="6858000"/>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822960"/>
            <a:ext cx="4572000" cy="365760"/>
          </a:xfrm>
          <a:prstGeom prst="rect">
            <a:avLst/>
          </a:prstGeom>
          <a:noFill/>
        </p:spPr>
        <p:txBody>
          <a:bodyPr wrap="square" lIns="0" rIns="0" tIns="0" bIns="0" anchor="t">
            <a:spAutoFit/>
          </a:bodyPr>
          <a:lstStyle/>
          <a:p>
            <a:pPr algn="l">
              <a:lnSpc>
                <a:spcPct val="135000"/>
              </a:lnSpc>
              <a:spcAft>
                <a:spcPts val="300"/>
              </a:spcAft>
              <a:defRPr sz="1300" b="1">
                <a:solidFill>
                  <a:srgbClr val="405D7B"/>
                </a:solidFill>
                <a:latin typeface="Meiryo"/>
              </a:defRPr>
            </a:pPr>
            <a:r>
              <a:rPr sz="1300" b="1">
                <a:solidFill>
                  <a:srgbClr val="405D7B"/>
                </a:solidFill>
                <a:latin typeface="Meiryo"/>
              </a:rPr>
              <a:t>望月リソルゴルフクラブ 第2期会員募集</a:t>
            </a:r>
          </a:p>
        </p:txBody>
      </p:sp>
      <p:sp>
        <p:nvSpPr>
          <p:cNvPr id="5" name="Rectangle 4"/>
          <p:cNvSpPr/>
          <p:nvPr/>
        </p:nvSpPr>
        <p:spPr>
          <a:xfrm>
            <a:off x="868680" y="1417320"/>
            <a:ext cx="6309360" cy="18288"/>
          </a:xfrm>
          <a:prstGeom prst="rect">
            <a:avLst/>
          </a:prstGeom>
          <a:solidFill>
            <a:srgbClr val="D6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60" y="2148840"/>
            <a:ext cx="6766560" cy="1554480"/>
          </a:xfrm>
          <a:prstGeom prst="rect">
            <a:avLst/>
          </a:prstGeom>
          <a:noFill/>
        </p:spPr>
        <p:txBody>
          <a:bodyPr wrap="square" lIns="0" rIns="0" tIns="0" bIns="0" anchor="t">
            <a:spAutoFit/>
          </a:bodyPr>
          <a:lstStyle/>
          <a:p>
            <a:pPr algn="l">
              <a:lnSpc>
                <a:spcPct val="120000"/>
              </a:lnSpc>
              <a:spcAft>
                <a:spcPts val="300"/>
              </a:spcAft>
              <a:defRPr sz="3300" b="1">
                <a:solidFill>
                  <a:srgbClr val="2A2E33"/>
                </a:solidFill>
                <a:latin typeface="Meiryo"/>
              </a:defRPr>
            </a:pPr>
            <a:r>
              <a:rPr sz="3300" b="1">
                <a:solidFill>
                  <a:srgbClr val="2A2E33"/>
                </a:solidFill>
                <a:latin typeface="Meiryo"/>
              </a:rPr>
              <a:t>WEB広告</a:t>
            </a:r>
          </a:p>
          <a:p>
            <a:pPr algn="l">
              <a:lnSpc>
                <a:spcPct val="120000"/>
              </a:lnSpc>
              <a:spcAft>
                <a:spcPts val="300"/>
              </a:spcAft>
              <a:defRPr sz="3300" b="1">
                <a:solidFill>
                  <a:srgbClr val="2A2E33"/>
                </a:solidFill>
                <a:latin typeface="Meiryo"/>
              </a:defRPr>
            </a:pPr>
            <a:r>
              <a:rPr sz="3300" b="1">
                <a:solidFill>
                  <a:srgbClr val="2A2E33"/>
                </a:solidFill>
                <a:latin typeface="Meiryo"/>
              </a:rPr>
              <a:t>運用分析レポート</a:t>
            </a:r>
          </a:p>
        </p:txBody>
      </p:sp>
      <p:sp>
        <p:nvSpPr>
          <p:cNvPr id="7" name="TextBox 6"/>
          <p:cNvSpPr txBox="1"/>
          <p:nvPr/>
        </p:nvSpPr>
        <p:spPr>
          <a:xfrm>
            <a:off x="8366760" y="2651760"/>
            <a:ext cx="3291840" cy="1645920"/>
          </a:xfrm>
          <a:prstGeom prst="rect">
            <a:avLst/>
          </a:prstGeom>
          <a:noFill/>
        </p:spPr>
        <p:txBody>
          <a:bodyPr wrap="square" lIns="0" rIns="0" tIns="0" bIns="0" anchor="t">
            <a:spAutoFit/>
          </a:bodyPr>
          <a:lstStyle/>
          <a:p>
            <a:pPr algn="l">
              <a:lnSpc>
                <a:spcPct val="135000"/>
              </a:lnSpc>
              <a:spcAft>
                <a:spcPts val="300"/>
              </a:spcAft>
              <a:defRPr sz="2200" b="1">
                <a:solidFill>
                  <a:srgbClr val="FFFFFF"/>
                </a:solidFill>
                <a:latin typeface="Meiryo"/>
              </a:defRPr>
            </a:pPr>
            <a:r>
              <a:rPr sz="2200" b="1">
                <a:solidFill>
                  <a:srgbClr val="FFFFFF"/>
                </a:solidFill>
                <a:latin typeface="Meiryo"/>
              </a:rPr>
              <a:t>Mochizuki Resol</a:t>
            </a:r>
          </a:p>
          <a:p>
            <a:pPr algn="l">
              <a:lnSpc>
                <a:spcPct val="135000"/>
              </a:lnSpc>
              <a:spcAft>
                <a:spcPts val="300"/>
              </a:spcAft>
              <a:defRPr sz="2200" b="1">
                <a:solidFill>
                  <a:srgbClr val="FFFFFF"/>
                </a:solidFill>
                <a:latin typeface="Meiryo"/>
              </a:defRPr>
            </a:pPr>
            <a:r>
              <a:rPr sz="2200" b="1">
                <a:solidFill>
                  <a:srgbClr val="FFFFFF"/>
                </a:solidFill>
                <a:latin typeface="Meiryo"/>
              </a:rPr>
              <a:t>Golf Club</a:t>
            </a:r>
          </a:p>
          <a:p>
            <a:pPr algn="l">
              <a:lnSpc>
                <a:spcPct val="135000"/>
              </a:lnSpc>
              <a:spcAft>
                <a:spcPts val="300"/>
              </a:spcAft>
              <a:defRPr sz="2200" b="1">
                <a:solidFill>
                  <a:srgbClr val="FFFFFF"/>
                </a:solidFill>
                <a:latin typeface="Meiryo"/>
              </a:defRPr>
            </a:pPr>
          </a:p>
          <a:p>
            <a:pPr algn="l">
              <a:lnSpc>
                <a:spcPct val="135000"/>
              </a:lnSpc>
              <a:spcAft>
                <a:spcPts val="300"/>
              </a:spcAft>
              <a:defRPr sz="2200" b="1">
                <a:solidFill>
                  <a:srgbClr val="FFFFFF"/>
                </a:solidFill>
                <a:latin typeface="Meiryo"/>
              </a:defRPr>
            </a:pPr>
            <a:r>
              <a:rPr sz="2200" b="1">
                <a:solidFill>
                  <a:srgbClr val="FFFFFF"/>
                </a:solidFill>
                <a:latin typeface="Meiryo"/>
              </a:rPr>
              <a:t>運用分析 ＆</a:t>
            </a:r>
          </a:p>
          <a:p>
            <a:pPr algn="l">
              <a:lnSpc>
                <a:spcPct val="135000"/>
              </a:lnSpc>
              <a:spcAft>
                <a:spcPts val="300"/>
              </a:spcAft>
              <a:defRPr sz="2200" b="1">
                <a:solidFill>
                  <a:srgbClr val="FFFFFF"/>
                </a:solidFill>
                <a:latin typeface="Meiryo"/>
              </a:defRPr>
            </a:pPr>
            <a:r>
              <a:rPr sz="2200" b="1">
                <a:solidFill>
                  <a:srgbClr val="FFFFFF"/>
                </a:solidFill>
                <a:latin typeface="Meiryo"/>
              </a:rPr>
              <a:t>8月配信提案</a:t>
            </a:r>
          </a:p>
        </p:txBody>
      </p:sp>
      <p:sp>
        <p:nvSpPr>
          <p:cNvPr id="8" name="TextBox 7"/>
          <p:cNvSpPr txBox="1"/>
          <p:nvPr/>
        </p:nvSpPr>
        <p:spPr>
          <a:xfrm>
            <a:off x="841248" y="3840480"/>
            <a:ext cx="6400800" cy="548640"/>
          </a:xfrm>
          <a:prstGeom prst="rect">
            <a:avLst/>
          </a:prstGeom>
          <a:noFill/>
        </p:spPr>
        <p:txBody>
          <a:bodyPr wrap="square" lIns="0" rIns="0" tIns="0" bIns="0" anchor="t">
            <a:spAutoFit/>
          </a:bodyPr>
          <a:lstStyle/>
          <a:p>
            <a:pPr algn="l">
              <a:lnSpc>
                <a:spcPct val="135000"/>
              </a:lnSpc>
              <a:spcAft>
                <a:spcPts val="300"/>
              </a:spcAft>
              <a:defRPr sz="1500" b="0">
                <a:solidFill>
                  <a:srgbClr val="454B52"/>
                </a:solidFill>
                <a:latin typeface="Meiryo"/>
              </a:defRPr>
            </a:pPr>
            <a:r>
              <a:rPr sz="1500" b="0">
                <a:solidFill>
                  <a:srgbClr val="454B52"/>
                </a:solidFill>
                <a:latin typeface="Meiryo"/>
              </a:rPr>
              <a:t>および 2026年8月 配信提案</a:t>
            </a:r>
          </a:p>
        </p:txBody>
      </p:sp>
      <p:sp>
        <p:nvSpPr>
          <p:cNvPr id="9" name="Rectangle 8"/>
          <p:cNvSpPr/>
          <p:nvPr/>
        </p:nvSpPr>
        <p:spPr>
          <a:xfrm>
            <a:off x="868680" y="5440680"/>
            <a:ext cx="2103120" cy="36576"/>
          </a:xfrm>
          <a:prstGeom prst="rect">
            <a:avLst/>
          </a:prstGeom>
          <a:solidFill>
            <a:srgbClr val="334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8" y="5669280"/>
            <a:ext cx="6400800" cy="822960"/>
          </a:xfrm>
          <a:prstGeom prst="rect">
            <a:avLst/>
          </a:prstGeom>
          <a:noFill/>
        </p:spPr>
        <p:txBody>
          <a:bodyPr wrap="square" lIns="0" rIns="0" tIns="0" bIns="0" anchor="t">
            <a:spAutoFit/>
          </a:bodyPr>
          <a:lstStyle/>
          <a:p>
            <a:pPr algn="l">
              <a:lnSpc>
                <a:spcPct val="135000"/>
              </a:lnSpc>
              <a:spcAft>
                <a:spcPts val="300"/>
              </a:spcAft>
              <a:defRPr sz="1150" b="0">
                <a:solidFill>
                  <a:srgbClr val="6C7582"/>
                </a:solidFill>
                <a:latin typeface="Meiryo"/>
              </a:defRPr>
            </a:pPr>
            <a:r>
              <a:rPr sz="1150" b="0">
                <a:solidFill>
                  <a:srgbClr val="6C7582"/>
                </a:solidFill>
                <a:latin typeface="Meiryo"/>
              </a:rPr>
              <a:t>2026年7月 ／ ゲンダイエージェンシー株式会社</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57200"/>
            <a:ext cx="82296" cy="237744"/>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31520" y="438912"/>
            <a:ext cx="10515600" cy="274320"/>
          </a:xfrm>
          <a:prstGeom prst="rect">
            <a:avLst/>
          </a:prstGeom>
          <a:noFill/>
        </p:spPr>
        <p:txBody>
          <a:bodyPr wrap="square" lIns="0" rIns="0" tIns="0" bIns="0" anchor="t">
            <a:spAutoFit/>
          </a:bodyPr>
          <a:lstStyle/>
          <a:p>
            <a:pPr algn="l">
              <a:lnSpc>
                <a:spcPct val="135000"/>
              </a:lnSpc>
              <a:spcAft>
                <a:spcPts val="300"/>
              </a:spcAft>
              <a:defRPr sz="1150" b="1">
                <a:solidFill>
                  <a:srgbClr val="405D7B"/>
                </a:solidFill>
                <a:latin typeface="Meiryo"/>
              </a:defRPr>
            </a:pPr>
            <a:r>
              <a:rPr sz="1150" b="1">
                <a:solidFill>
                  <a:srgbClr val="405D7B"/>
                </a:solidFill>
                <a:latin typeface="Meiryo"/>
              </a:rPr>
              <a:t>はじめに</a:t>
            </a:r>
          </a:p>
        </p:txBody>
      </p:sp>
      <p:sp>
        <p:nvSpPr>
          <p:cNvPr id="4" name="TextBox 3"/>
          <p:cNvSpPr txBox="1"/>
          <p:nvPr/>
        </p:nvSpPr>
        <p:spPr>
          <a:xfrm>
            <a:off x="530352" y="731520"/>
            <a:ext cx="10972800" cy="566928"/>
          </a:xfrm>
          <a:prstGeom prst="rect">
            <a:avLst/>
          </a:prstGeom>
          <a:noFill/>
        </p:spPr>
        <p:txBody>
          <a:bodyPr wrap="square" lIns="0" rIns="0" tIns="0" bIns="0" anchor="t">
            <a:spAutoFit/>
          </a:bodyPr>
          <a:lstStyle/>
          <a:p>
            <a:pPr algn="l">
              <a:lnSpc>
                <a:spcPct val="115000"/>
              </a:lnSpc>
              <a:spcAft>
                <a:spcPts val="300"/>
              </a:spcAft>
              <a:defRPr sz="2700" b="1">
                <a:solidFill>
                  <a:srgbClr val="2A2E33"/>
                </a:solidFill>
                <a:latin typeface="Meiryo"/>
              </a:defRPr>
            </a:pPr>
            <a:r>
              <a:rPr sz="2700" b="1">
                <a:solidFill>
                  <a:srgbClr val="2A2E33"/>
                </a:solidFill>
                <a:latin typeface="Meiryo"/>
              </a:rPr>
              <a:t>本レポートについて</a:t>
            </a:r>
          </a:p>
        </p:txBody>
      </p:sp>
      <p:sp>
        <p:nvSpPr>
          <p:cNvPr id="5" name="Rectangle 4"/>
          <p:cNvSpPr/>
          <p:nvPr/>
        </p:nvSpPr>
        <p:spPr>
          <a:xfrm>
            <a:off x="566928" y="1399032"/>
            <a:ext cx="1600200" cy="45720"/>
          </a:xfrm>
          <a:prstGeom prst="rect">
            <a:avLst/>
          </a:prstGeom>
          <a:solidFill>
            <a:srgbClr val="334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6928" y="1417320"/>
            <a:ext cx="11064240" cy="9144"/>
          </a:xfrm>
          <a:prstGeom prst="rect">
            <a:avLst/>
          </a:prstGeom>
          <a:solidFill>
            <a:srgbClr val="E2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338560" y="6510528"/>
            <a:ext cx="640080" cy="274320"/>
          </a:xfrm>
          <a:prstGeom prst="rect">
            <a:avLst/>
          </a:prstGeom>
          <a:noFill/>
        </p:spPr>
        <p:txBody>
          <a:bodyPr wrap="square" lIns="0" rIns="0" tIns="0" bIns="0" anchor="t">
            <a:spAutoFit/>
          </a:bodyPr>
          <a:lstStyle/>
          <a:p>
            <a:pPr algn="r">
              <a:lnSpc>
                <a:spcPct val="135000"/>
              </a:lnSpc>
              <a:spcAft>
                <a:spcPts val="300"/>
              </a:spcAft>
              <a:defRPr sz="1050" b="0">
                <a:solidFill>
                  <a:srgbClr val="8A929C"/>
                </a:solidFill>
                <a:latin typeface="Meiryo"/>
              </a:defRPr>
            </a:pPr>
            <a:r>
              <a:rPr sz="1050" b="0">
                <a:solidFill>
                  <a:srgbClr val="8A929C"/>
                </a:solidFill>
                <a:latin typeface="Meiryo"/>
              </a:rPr>
              <a:t>02</a:t>
            </a:r>
          </a:p>
        </p:txBody>
      </p:sp>
      <p:sp>
        <p:nvSpPr>
          <p:cNvPr id="8" name="TextBox 7"/>
          <p:cNvSpPr txBox="1"/>
          <p:nvPr/>
        </p:nvSpPr>
        <p:spPr>
          <a:xfrm>
            <a:off x="566928" y="1737360"/>
            <a:ext cx="11064240" cy="274320"/>
          </a:xfrm>
          <a:prstGeom prst="rect">
            <a:avLst/>
          </a:prstGeom>
          <a:noFill/>
        </p:spPr>
        <p:txBody>
          <a:bodyPr wrap="square" lIns="0" rIns="0" tIns="0" bIns="0" anchor="t">
            <a:spAutoFit/>
          </a:bodyPr>
          <a:lstStyle/>
          <a:p>
            <a:pPr algn="l">
              <a:lnSpc>
                <a:spcPct val="135000"/>
              </a:lnSpc>
              <a:spcAft>
                <a:spcPts val="300"/>
              </a:spcAft>
              <a:defRPr sz="1300" b="0">
                <a:solidFill>
                  <a:srgbClr val="454B52"/>
                </a:solidFill>
                <a:latin typeface="Meiryo"/>
              </a:defRPr>
            </a:pPr>
            <a:r>
              <a:rPr sz="1300" b="0">
                <a:solidFill>
                  <a:srgbClr val="454B52"/>
                </a:solidFill>
                <a:latin typeface="Meiryo"/>
              </a:rPr>
              <a:t>成果が伸びていない要因を特定するため、第1期にさかのぼって全データを検証しました。</a:t>
            </a:r>
          </a:p>
        </p:txBody>
      </p:sp>
      <p:sp>
        <p:nvSpPr>
          <p:cNvPr id="9" name="Rectangle 8"/>
          <p:cNvSpPr/>
          <p:nvPr/>
        </p:nvSpPr>
        <p:spPr>
          <a:xfrm>
            <a:off x="566928" y="2148840"/>
            <a:ext cx="11064240" cy="402336"/>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6656" y="2148840"/>
            <a:ext cx="2249424" cy="402336"/>
          </a:xfrm>
          <a:prstGeom prst="rect">
            <a:avLst/>
          </a:prstGeom>
          <a:noFill/>
        </p:spPr>
        <p:txBody>
          <a:bodyPr wrap="square" lIns="0" rIns="0" tIns="0" bIns="0" anchor="ctr">
            <a:spAutoFit/>
          </a:bodyPr>
          <a:lstStyle/>
          <a:p>
            <a:pPr algn="l">
              <a:lnSpc>
                <a:spcPct val="100000"/>
              </a:lnSpc>
              <a:spcAft>
                <a:spcPts val="0"/>
              </a:spcAft>
              <a:defRPr sz="1150" b="1">
                <a:solidFill>
                  <a:srgbClr val="FFFFFF"/>
                </a:solidFill>
                <a:latin typeface="Meiryo"/>
              </a:defRPr>
            </a:pPr>
            <a:r>
              <a:rPr sz="1150" b="1">
                <a:solidFill>
                  <a:srgbClr val="FFFFFF"/>
                </a:solidFill>
                <a:latin typeface="Meiryo"/>
              </a:rPr>
              <a:t>調査対象</a:t>
            </a:r>
          </a:p>
        </p:txBody>
      </p:sp>
      <p:sp>
        <p:nvSpPr>
          <p:cNvPr id="11" name="TextBox 10"/>
          <p:cNvSpPr txBox="1"/>
          <p:nvPr/>
        </p:nvSpPr>
        <p:spPr>
          <a:xfrm>
            <a:off x="3145536" y="2148840"/>
            <a:ext cx="2157984" cy="402336"/>
          </a:xfrm>
          <a:prstGeom prst="rect">
            <a:avLst/>
          </a:prstGeom>
          <a:noFill/>
        </p:spPr>
        <p:txBody>
          <a:bodyPr wrap="square" lIns="0" rIns="0" tIns="0" bIns="0" anchor="ctr">
            <a:spAutoFit/>
          </a:bodyPr>
          <a:lstStyle/>
          <a:p>
            <a:pPr algn="l">
              <a:lnSpc>
                <a:spcPct val="100000"/>
              </a:lnSpc>
              <a:spcAft>
                <a:spcPts val="0"/>
              </a:spcAft>
              <a:defRPr sz="1150" b="1">
                <a:solidFill>
                  <a:srgbClr val="FFFFFF"/>
                </a:solidFill>
                <a:latin typeface="Meiryo"/>
              </a:defRPr>
            </a:pPr>
            <a:r>
              <a:rPr sz="1150" b="1">
                <a:solidFill>
                  <a:srgbClr val="FFFFFF"/>
                </a:solidFill>
                <a:latin typeface="Meiryo"/>
              </a:rPr>
              <a:t>期間</a:t>
            </a:r>
          </a:p>
        </p:txBody>
      </p:sp>
      <p:sp>
        <p:nvSpPr>
          <p:cNvPr id="12" name="TextBox 11"/>
          <p:cNvSpPr txBox="1"/>
          <p:nvPr/>
        </p:nvSpPr>
        <p:spPr>
          <a:xfrm>
            <a:off x="5522976" y="2148840"/>
            <a:ext cx="5998464" cy="402336"/>
          </a:xfrm>
          <a:prstGeom prst="rect">
            <a:avLst/>
          </a:prstGeom>
          <a:noFill/>
        </p:spPr>
        <p:txBody>
          <a:bodyPr wrap="square" lIns="0" rIns="0" tIns="0" bIns="0" anchor="ctr">
            <a:spAutoFit/>
          </a:bodyPr>
          <a:lstStyle/>
          <a:p>
            <a:pPr algn="l">
              <a:lnSpc>
                <a:spcPct val="100000"/>
              </a:lnSpc>
              <a:spcAft>
                <a:spcPts val="0"/>
              </a:spcAft>
              <a:defRPr sz="1150" b="1">
                <a:solidFill>
                  <a:srgbClr val="FFFFFF"/>
                </a:solidFill>
                <a:latin typeface="Meiryo"/>
              </a:defRPr>
            </a:pPr>
            <a:r>
              <a:rPr sz="1150" b="1">
                <a:solidFill>
                  <a:srgbClr val="FFFFFF"/>
                </a:solidFill>
                <a:latin typeface="Meiryo"/>
              </a:rPr>
              <a:t>内容</a:t>
            </a:r>
          </a:p>
        </p:txBody>
      </p:sp>
      <p:sp>
        <p:nvSpPr>
          <p:cNvPr id="13" name="Rectangle 12"/>
          <p:cNvSpPr/>
          <p:nvPr/>
        </p:nvSpPr>
        <p:spPr>
          <a:xfrm>
            <a:off x="566928" y="2551176"/>
            <a:ext cx="1106424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76656" y="2551176"/>
            <a:ext cx="2249424" cy="384048"/>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お問い合わせ実データ</a:t>
            </a:r>
          </a:p>
        </p:txBody>
      </p:sp>
      <p:sp>
        <p:nvSpPr>
          <p:cNvPr id="15" name="TextBox 14"/>
          <p:cNvSpPr txBox="1"/>
          <p:nvPr/>
        </p:nvSpPr>
        <p:spPr>
          <a:xfrm>
            <a:off x="3145536" y="2551176"/>
            <a:ext cx="2157984" cy="384048"/>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2025年8月〜2026年7月</a:t>
            </a:r>
          </a:p>
        </p:txBody>
      </p:sp>
      <p:sp>
        <p:nvSpPr>
          <p:cNvPr id="16" name="TextBox 15"/>
          <p:cNvSpPr txBox="1"/>
          <p:nvPr/>
        </p:nvSpPr>
        <p:spPr>
          <a:xfrm>
            <a:off x="5522976" y="2551176"/>
            <a:ext cx="5998464" cy="384048"/>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通知メールを1件ずつ精査。スパム・テスト送信を除外</a:t>
            </a:r>
          </a:p>
        </p:txBody>
      </p:sp>
      <p:sp>
        <p:nvSpPr>
          <p:cNvPr id="17" name="Rectangle 16"/>
          <p:cNvSpPr/>
          <p:nvPr/>
        </p:nvSpPr>
        <p:spPr>
          <a:xfrm>
            <a:off x="566928" y="2935224"/>
            <a:ext cx="11064240" cy="384048"/>
          </a:xfrm>
          <a:prstGeom prst="rect">
            <a:avLst/>
          </a:prstGeom>
          <a:solidFill>
            <a:srgbClr val="EE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76656" y="2935224"/>
            <a:ext cx="2249424" cy="384048"/>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Google Analytics 4</a:t>
            </a:r>
          </a:p>
        </p:txBody>
      </p:sp>
      <p:sp>
        <p:nvSpPr>
          <p:cNvPr id="19" name="TextBox 18"/>
          <p:cNvSpPr txBox="1"/>
          <p:nvPr/>
        </p:nvSpPr>
        <p:spPr>
          <a:xfrm>
            <a:off x="3145536" y="2935224"/>
            <a:ext cx="2157984" cy="384048"/>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2024年10月〜2026年7月</a:t>
            </a:r>
          </a:p>
        </p:txBody>
      </p:sp>
      <p:sp>
        <p:nvSpPr>
          <p:cNvPr id="20" name="TextBox 19"/>
          <p:cNvSpPr txBox="1"/>
          <p:nvPr/>
        </p:nvSpPr>
        <p:spPr>
          <a:xfrm>
            <a:off x="5522976" y="2935224"/>
            <a:ext cx="5998464" cy="384048"/>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セッション・地域・デバイス・流入元・遷移先</a:t>
            </a:r>
          </a:p>
        </p:txBody>
      </p:sp>
      <p:sp>
        <p:nvSpPr>
          <p:cNvPr id="21" name="Rectangle 20"/>
          <p:cNvSpPr/>
          <p:nvPr/>
        </p:nvSpPr>
        <p:spPr>
          <a:xfrm>
            <a:off x="566928" y="3319272"/>
            <a:ext cx="1106424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76656" y="3319272"/>
            <a:ext cx="2249424" cy="384048"/>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Google広告</a:t>
            </a:r>
          </a:p>
        </p:txBody>
      </p:sp>
      <p:sp>
        <p:nvSpPr>
          <p:cNvPr id="23" name="TextBox 22"/>
          <p:cNvSpPr txBox="1"/>
          <p:nvPr/>
        </p:nvSpPr>
        <p:spPr>
          <a:xfrm>
            <a:off x="3145536" y="3319272"/>
            <a:ext cx="2157984" cy="384048"/>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2025年6月〜2026年7月</a:t>
            </a:r>
          </a:p>
        </p:txBody>
      </p:sp>
      <p:sp>
        <p:nvSpPr>
          <p:cNvPr id="24" name="TextBox 23"/>
          <p:cNvSpPr txBox="1"/>
          <p:nvPr/>
        </p:nvSpPr>
        <p:spPr>
          <a:xfrm>
            <a:off x="5522976" y="3319272"/>
            <a:ext cx="5998464" cy="384048"/>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キャンペーン別実績、検索テーマ、エリア設定</a:t>
            </a:r>
          </a:p>
        </p:txBody>
      </p:sp>
      <p:sp>
        <p:nvSpPr>
          <p:cNvPr id="25" name="Rectangle 24"/>
          <p:cNvSpPr/>
          <p:nvPr/>
        </p:nvSpPr>
        <p:spPr>
          <a:xfrm>
            <a:off x="566928" y="3703320"/>
            <a:ext cx="11064240" cy="384048"/>
          </a:xfrm>
          <a:prstGeom prst="rect">
            <a:avLst/>
          </a:prstGeom>
          <a:solidFill>
            <a:srgbClr val="EE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76656" y="3703320"/>
            <a:ext cx="2249424" cy="384048"/>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Meta広告</a:t>
            </a:r>
          </a:p>
        </p:txBody>
      </p:sp>
      <p:sp>
        <p:nvSpPr>
          <p:cNvPr id="27" name="TextBox 26"/>
          <p:cNvSpPr txBox="1"/>
          <p:nvPr/>
        </p:nvSpPr>
        <p:spPr>
          <a:xfrm>
            <a:off x="3145536" y="3703320"/>
            <a:ext cx="2157984" cy="384048"/>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2024年10月〜2026年7月</a:t>
            </a:r>
          </a:p>
        </p:txBody>
      </p:sp>
      <p:sp>
        <p:nvSpPr>
          <p:cNvPr id="28" name="TextBox 27"/>
          <p:cNvSpPr txBox="1"/>
          <p:nvPr/>
        </p:nvSpPr>
        <p:spPr>
          <a:xfrm>
            <a:off x="5522976" y="3703320"/>
            <a:ext cx="5998464" cy="384048"/>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月別のエリア設定の変遷、オーディエンス別成績</a:t>
            </a:r>
          </a:p>
        </p:txBody>
      </p:sp>
      <p:sp>
        <p:nvSpPr>
          <p:cNvPr id="29" name="Rectangle 28"/>
          <p:cNvSpPr/>
          <p:nvPr/>
        </p:nvSpPr>
        <p:spPr>
          <a:xfrm>
            <a:off x="566928" y="4087368"/>
            <a:ext cx="1106424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76656" y="4087368"/>
            <a:ext cx="2249424" cy="384048"/>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DV360</a:t>
            </a:r>
          </a:p>
        </p:txBody>
      </p:sp>
      <p:sp>
        <p:nvSpPr>
          <p:cNvPr id="31" name="TextBox 30"/>
          <p:cNvSpPr txBox="1"/>
          <p:nvPr/>
        </p:nvSpPr>
        <p:spPr>
          <a:xfrm>
            <a:off x="3145536" y="4087368"/>
            <a:ext cx="2157984" cy="384048"/>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2024年11月〜2026年7月</a:t>
            </a:r>
          </a:p>
        </p:txBody>
      </p:sp>
      <p:sp>
        <p:nvSpPr>
          <p:cNvPr id="32" name="TextBox 31"/>
          <p:cNvSpPr txBox="1"/>
          <p:nvPr/>
        </p:nvSpPr>
        <p:spPr>
          <a:xfrm>
            <a:off x="5522976" y="4087368"/>
            <a:ext cx="5998464" cy="384048"/>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全キャンペーン実績、配信面別データ 9,833行</a:t>
            </a:r>
          </a:p>
        </p:txBody>
      </p:sp>
      <p:sp>
        <p:nvSpPr>
          <p:cNvPr id="33" name="Rectangle 32"/>
          <p:cNvSpPr/>
          <p:nvPr/>
        </p:nvSpPr>
        <p:spPr>
          <a:xfrm>
            <a:off x="566928" y="4471416"/>
            <a:ext cx="11064240" cy="384048"/>
          </a:xfrm>
          <a:prstGeom prst="rect">
            <a:avLst/>
          </a:prstGeom>
          <a:solidFill>
            <a:srgbClr val="EE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76656" y="4471416"/>
            <a:ext cx="2249424" cy="384048"/>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LINEヤフー広告</a:t>
            </a:r>
          </a:p>
        </p:txBody>
      </p:sp>
      <p:sp>
        <p:nvSpPr>
          <p:cNvPr id="35" name="TextBox 34"/>
          <p:cNvSpPr txBox="1"/>
          <p:nvPr/>
        </p:nvSpPr>
        <p:spPr>
          <a:xfrm>
            <a:off x="3145536" y="4471416"/>
            <a:ext cx="2157984" cy="384048"/>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2024年10月〜2025年6月</a:t>
            </a:r>
          </a:p>
        </p:txBody>
      </p:sp>
      <p:sp>
        <p:nvSpPr>
          <p:cNvPr id="36" name="TextBox 35"/>
          <p:cNvSpPr txBox="1"/>
          <p:nvPr/>
        </p:nvSpPr>
        <p:spPr>
          <a:xfrm>
            <a:off x="5522976" y="4471416"/>
            <a:ext cx="5998464" cy="384048"/>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配信実績（表示・クリック・クリック率）</a:t>
            </a:r>
          </a:p>
        </p:txBody>
      </p:sp>
      <p:sp>
        <p:nvSpPr>
          <p:cNvPr id="37" name="Rectangle 36"/>
          <p:cNvSpPr/>
          <p:nvPr/>
        </p:nvSpPr>
        <p:spPr>
          <a:xfrm>
            <a:off x="566928" y="4855464"/>
            <a:ext cx="1106424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76656" y="4855464"/>
            <a:ext cx="2249424" cy="384048"/>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ご請求データ</a:t>
            </a:r>
          </a:p>
        </p:txBody>
      </p:sp>
      <p:sp>
        <p:nvSpPr>
          <p:cNvPr id="39" name="TextBox 38"/>
          <p:cNvSpPr txBox="1"/>
          <p:nvPr/>
        </p:nvSpPr>
        <p:spPr>
          <a:xfrm>
            <a:off x="3145536" y="4855464"/>
            <a:ext cx="2157984" cy="384048"/>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2024年9月〜2026年7月</a:t>
            </a:r>
          </a:p>
        </p:txBody>
      </p:sp>
      <p:sp>
        <p:nvSpPr>
          <p:cNvPr id="40" name="TextBox 39"/>
          <p:cNvSpPr txBox="1"/>
          <p:nvPr/>
        </p:nvSpPr>
        <p:spPr>
          <a:xfrm>
            <a:off x="5522976" y="4855464"/>
            <a:ext cx="5998464" cy="384048"/>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媒体別・月別の費用構成</a:t>
            </a:r>
          </a:p>
        </p:txBody>
      </p:sp>
      <p:sp>
        <p:nvSpPr>
          <p:cNvPr id="41" name="Rectangle 40"/>
          <p:cNvSpPr/>
          <p:nvPr/>
        </p:nvSpPr>
        <p:spPr>
          <a:xfrm>
            <a:off x="566928" y="5632704"/>
            <a:ext cx="11064240" cy="65836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566928" y="5632704"/>
            <a:ext cx="11064240" cy="45720"/>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786384" y="5632704"/>
            <a:ext cx="10625328" cy="658368"/>
          </a:xfrm>
          <a:prstGeom prst="rect">
            <a:avLst/>
          </a:prstGeom>
          <a:noFill/>
        </p:spPr>
        <p:txBody>
          <a:bodyPr wrap="square" lIns="0" rIns="0" tIns="0" bIns="0" anchor="ctr">
            <a:spAutoFit/>
          </a:bodyPr>
          <a:lstStyle/>
          <a:p>
            <a:pPr algn="l">
              <a:lnSpc>
                <a:spcPct val="135000"/>
              </a:lnSpc>
              <a:spcAft>
                <a:spcPts val="300"/>
              </a:spcAft>
              <a:defRPr sz="1300" b="0">
                <a:solidFill>
                  <a:srgbClr val="454B52"/>
                </a:solidFill>
                <a:latin typeface="Meiryo"/>
              </a:defRPr>
            </a:pPr>
            <a:r>
              <a:rPr sz="1300" b="0">
                <a:solidFill>
                  <a:srgbClr val="454B52"/>
                </a:solidFill>
                <a:latin typeface="Meiryo"/>
              </a:rPr>
              <a:t>推測で数字を埋めていません。確認できなかった項目は「未確認」と明記し、件数が少ない項目は断定せず「方向性」として扱っています。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57200"/>
            <a:ext cx="82296" cy="237744"/>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31520" y="438912"/>
            <a:ext cx="10515600" cy="274320"/>
          </a:xfrm>
          <a:prstGeom prst="rect">
            <a:avLst/>
          </a:prstGeom>
          <a:noFill/>
        </p:spPr>
        <p:txBody>
          <a:bodyPr wrap="square" lIns="0" rIns="0" tIns="0" bIns="0" anchor="t">
            <a:spAutoFit/>
          </a:bodyPr>
          <a:lstStyle/>
          <a:p>
            <a:pPr algn="l">
              <a:lnSpc>
                <a:spcPct val="135000"/>
              </a:lnSpc>
              <a:spcAft>
                <a:spcPts val="300"/>
              </a:spcAft>
              <a:defRPr sz="1150" b="1">
                <a:solidFill>
                  <a:srgbClr val="405D7B"/>
                </a:solidFill>
                <a:latin typeface="Meiryo"/>
              </a:defRPr>
            </a:pPr>
            <a:r>
              <a:rPr sz="1150" b="1">
                <a:solidFill>
                  <a:srgbClr val="405D7B"/>
                </a:solidFill>
                <a:latin typeface="Meiryo"/>
              </a:rPr>
              <a:t>概要</a:t>
            </a:r>
          </a:p>
        </p:txBody>
      </p:sp>
      <p:sp>
        <p:nvSpPr>
          <p:cNvPr id="4" name="TextBox 3"/>
          <p:cNvSpPr txBox="1"/>
          <p:nvPr/>
        </p:nvSpPr>
        <p:spPr>
          <a:xfrm>
            <a:off x="530352" y="731520"/>
            <a:ext cx="10972800" cy="566928"/>
          </a:xfrm>
          <a:prstGeom prst="rect">
            <a:avLst/>
          </a:prstGeom>
          <a:noFill/>
        </p:spPr>
        <p:txBody>
          <a:bodyPr wrap="square" lIns="0" rIns="0" tIns="0" bIns="0" anchor="t">
            <a:spAutoFit/>
          </a:bodyPr>
          <a:lstStyle/>
          <a:p>
            <a:pPr algn="l">
              <a:lnSpc>
                <a:spcPct val="115000"/>
              </a:lnSpc>
              <a:spcAft>
                <a:spcPts val="300"/>
              </a:spcAft>
              <a:defRPr sz="2700" b="1">
                <a:solidFill>
                  <a:srgbClr val="2A2E33"/>
                </a:solidFill>
                <a:latin typeface="Meiryo"/>
              </a:defRPr>
            </a:pPr>
            <a:r>
              <a:rPr sz="2700" b="1">
                <a:solidFill>
                  <a:srgbClr val="2A2E33"/>
                </a:solidFill>
                <a:latin typeface="Meiryo"/>
              </a:rPr>
              <a:t>分析で分かったこと</a:t>
            </a:r>
          </a:p>
        </p:txBody>
      </p:sp>
      <p:sp>
        <p:nvSpPr>
          <p:cNvPr id="5" name="Rectangle 4"/>
          <p:cNvSpPr/>
          <p:nvPr/>
        </p:nvSpPr>
        <p:spPr>
          <a:xfrm>
            <a:off x="566928" y="1399032"/>
            <a:ext cx="1600200" cy="45720"/>
          </a:xfrm>
          <a:prstGeom prst="rect">
            <a:avLst/>
          </a:prstGeom>
          <a:solidFill>
            <a:srgbClr val="334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6928" y="1417320"/>
            <a:ext cx="11064240" cy="9144"/>
          </a:xfrm>
          <a:prstGeom prst="rect">
            <a:avLst/>
          </a:prstGeom>
          <a:solidFill>
            <a:srgbClr val="E2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338560" y="6510528"/>
            <a:ext cx="640080" cy="274320"/>
          </a:xfrm>
          <a:prstGeom prst="rect">
            <a:avLst/>
          </a:prstGeom>
          <a:noFill/>
        </p:spPr>
        <p:txBody>
          <a:bodyPr wrap="square" lIns="0" rIns="0" tIns="0" bIns="0" anchor="t">
            <a:spAutoFit/>
          </a:bodyPr>
          <a:lstStyle/>
          <a:p>
            <a:pPr algn="r">
              <a:lnSpc>
                <a:spcPct val="135000"/>
              </a:lnSpc>
              <a:spcAft>
                <a:spcPts val="300"/>
              </a:spcAft>
              <a:defRPr sz="1050" b="0">
                <a:solidFill>
                  <a:srgbClr val="8A929C"/>
                </a:solidFill>
                <a:latin typeface="Meiryo"/>
              </a:defRPr>
            </a:pPr>
            <a:r>
              <a:rPr sz="1050" b="0">
                <a:solidFill>
                  <a:srgbClr val="8A929C"/>
                </a:solidFill>
                <a:latin typeface="Meiryo"/>
              </a:rPr>
              <a:t>03</a:t>
            </a:r>
          </a:p>
        </p:txBody>
      </p:sp>
      <p:sp>
        <p:nvSpPr>
          <p:cNvPr id="8" name="TextBox 7"/>
          <p:cNvSpPr txBox="1"/>
          <p:nvPr/>
        </p:nvSpPr>
        <p:spPr>
          <a:xfrm>
            <a:off x="566928" y="1737360"/>
            <a:ext cx="11064240" cy="274320"/>
          </a:xfrm>
          <a:prstGeom prst="rect">
            <a:avLst/>
          </a:prstGeom>
          <a:noFill/>
        </p:spPr>
        <p:txBody>
          <a:bodyPr wrap="square" lIns="0" rIns="0" tIns="0" bIns="0" anchor="t">
            <a:spAutoFit/>
          </a:bodyPr>
          <a:lstStyle/>
          <a:p>
            <a:pPr algn="l">
              <a:lnSpc>
                <a:spcPct val="135000"/>
              </a:lnSpc>
              <a:spcAft>
                <a:spcPts val="300"/>
              </a:spcAft>
              <a:defRPr sz="1300" b="0">
                <a:solidFill>
                  <a:srgbClr val="454B52"/>
                </a:solidFill>
                <a:latin typeface="Meiryo"/>
              </a:defRPr>
            </a:pPr>
            <a:r>
              <a:rPr sz="1300" b="0">
                <a:solidFill>
                  <a:srgbClr val="454B52"/>
                </a:solidFill>
                <a:latin typeface="Meiryo"/>
              </a:rPr>
              <a:t>ご予算を30%増やし集客を1.8倍にしたにもかかわらず、お問い合わせは1/3以下に減少しました。</a:t>
            </a:r>
          </a:p>
        </p:txBody>
      </p:sp>
      <p:sp>
        <p:nvSpPr>
          <p:cNvPr id="9" name="Rectangle 8"/>
          <p:cNvSpPr/>
          <p:nvPr/>
        </p:nvSpPr>
        <p:spPr>
          <a:xfrm>
            <a:off x="566928" y="2194560"/>
            <a:ext cx="3566160" cy="14813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2194560"/>
            <a:ext cx="3566160" cy="45720"/>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68096" y="2414015"/>
            <a:ext cx="3163824" cy="256032"/>
          </a:xfrm>
          <a:prstGeom prst="rect">
            <a:avLst/>
          </a:prstGeom>
          <a:noFill/>
        </p:spPr>
        <p:txBody>
          <a:bodyPr wrap="square" lIns="0" rIns="0" tIns="0" bIns="0" anchor="t">
            <a:spAutoFit/>
          </a:bodyPr>
          <a:lstStyle/>
          <a:p>
            <a:pPr algn="l">
              <a:lnSpc>
                <a:spcPct val="135000"/>
              </a:lnSpc>
              <a:spcAft>
                <a:spcPts val="300"/>
              </a:spcAft>
              <a:defRPr sz="1050" b="1">
                <a:solidFill>
                  <a:srgbClr val="405D7B"/>
                </a:solidFill>
                <a:latin typeface="Meiryo"/>
              </a:defRPr>
            </a:pPr>
            <a:r>
              <a:rPr sz="1050" b="1">
                <a:solidFill>
                  <a:srgbClr val="405D7B"/>
                </a:solidFill>
                <a:latin typeface="Meiryo"/>
              </a:rPr>
              <a:t>01</a:t>
            </a:r>
          </a:p>
        </p:txBody>
      </p:sp>
      <p:sp>
        <p:nvSpPr>
          <p:cNvPr id="12" name="TextBox 11"/>
          <p:cNvSpPr txBox="1"/>
          <p:nvPr/>
        </p:nvSpPr>
        <p:spPr>
          <a:xfrm>
            <a:off x="768096" y="2743200"/>
            <a:ext cx="3163824" cy="731520"/>
          </a:xfrm>
          <a:prstGeom prst="rect">
            <a:avLst/>
          </a:prstGeom>
          <a:noFill/>
        </p:spPr>
        <p:txBody>
          <a:bodyPr wrap="square" lIns="0" rIns="0" tIns="0" bIns="0" anchor="t">
            <a:spAutoFit/>
          </a:bodyPr>
          <a:lstStyle/>
          <a:p>
            <a:pPr algn="l">
              <a:lnSpc>
                <a:spcPct val="140000"/>
              </a:lnSpc>
              <a:spcAft>
                <a:spcPts val="300"/>
              </a:spcAft>
              <a:defRPr sz="1550" b="1">
                <a:solidFill>
                  <a:srgbClr val="2A2E33"/>
                </a:solidFill>
                <a:latin typeface="Meiryo"/>
              </a:defRPr>
            </a:pPr>
            <a:r>
              <a:rPr sz="1550" b="1">
                <a:solidFill>
                  <a:srgbClr val="2A2E33"/>
                </a:solidFill>
                <a:latin typeface="Meiryo"/>
              </a:rPr>
              <a:t>成果の53%は、ゴルフ場から</a:t>
            </a:r>
          </a:p>
          <a:p>
            <a:pPr algn="l">
              <a:lnSpc>
                <a:spcPct val="140000"/>
              </a:lnSpc>
              <a:spcAft>
                <a:spcPts val="300"/>
              </a:spcAft>
              <a:defRPr sz="1550" b="1">
                <a:solidFill>
                  <a:srgbClr val="2A2E33"/>
                </a:solidFill>
                <a:latin typeface="Meiryo"/>
              </a:defRPr>
            </a:pPr>
            <a:r>
              <a:rPr sz="1550" b="1">
                <a:solidFill>
                  <a:srgbClr val="2A2E33"/>
                </a:solidFill>
                <a:latin typeface="Meiryo"/>
              </a:rPr>
              <a:t>概ね70km圏内の方でした</a:t>
            </a:r>
          </a:p>
        </p:txBody>
      </p:sp>
      <p:sp>
        <p:nvSpPr>
          <p:cNvPr id="13" name="Rectangle 12"/>
          <p:cNvSpPr/>
          <p:nvPr/>
        </p:nvSpPr>
        <p:spPr>
          <a:xfrm>
            <a:off x="4315968" y="2194560"/>
            <a:ext cx="3566160" cy="14813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15968" y="2194560"/>
            <a:ext cx="3566160" cy="45720"/>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17136" y="2414015"/>
            <a:ext cx="3163824" cy="256032"/>
          </a:xfrm>
          <a:prstGeom prst="rect">
            <a:avLst/>
          </a:prstGeom>
          <a:noFill/>
        </p:spPr>
        <p:txBody>
          <a:bodyPr wrap="square" lIns="0" rIns="0" tIns="0" bIns="0" anchor="t">
            <a:spAutoFit/>
          </a:bodyPr>
          <a:lstStyle/>
          <a:p>
            <a:pPr algn="l">
              <a:lnSpc>
                <a:spcPct val="135000"/>
              </a:lnSpc>
              <a:spcAft>
                <a:spcPts val="300"/>
              </a:spcAft>
              <a:defRPr sz="1050" b="1">
                <a:solidFill>
                  <a:srgbClr val="A96933"/>
                </a:solidFill>
                <a:latin typeface="Meiryo"/>
              </a:defRPr>
            </a:pPr>
            <a:r>
              <a:rPr sz="1050" b="1">
                <a:solidFill>
                  <a:srgbClr val="A96933"/>
                </a:solidFill>
                <a:latin typeface="Meiryo"/>
              </a:rPr>
              <a:t>02</a:t>
            </a:r>
          </a:p>
        </p:txBody>
      </p:sp>
      <p:sp>
        <p:nvSpPr>
          <p:cNvPr id="16" name="TextBox 15"/>
          <p:cNvSpPr txBox="1"/>
          <p:nvPr/>
        </p:nvSpPr>
        <p:spPr>
          <a:xfrm>
            <a:off x="4517136" y="2743200"/>
            <a:ext cx="3163824" cy="731520"/>
          </a:xfrm>
          <a:prstGeom prst="rect">
            <a:avLst/>
          </a:prstGeom>
          <a:noFill/>
        </p:spPr>
        <p:txBody>
          <a:bodyPr wrap="square" lIns="0" rIns="0" tIns="0" bIns="0" anchor="t">
            <a:spAutoFit/>
          </a:bodyPr>
          <a:lstStyle/>
          <a:p>
            <a:pPr algn="l">
              <a:lnSpc>
                <a:spcPct val="140000"/>
              </a:lnSpc>
              <a:spcAft>
                <a:spcPts val="300"/>
              </a:spcAft>
              <a:defRPr sz="1550" b="1">
                <a:solidFill>
                  <a:srgbClr val="2A2E33"/>
                </a:solidFill>
                <a:latin typeface="Meiryo"/>
              </a:defRPr>
            </a:pPr>
            <a:r>
              <a:rPr sz="1550" b="1">
                <a:solidFill>
                  <a:srgbClr val="2A2E33"/>
                </a:solidFill>
                <a:latin typeface="Meiryo"/>
              </a:rPr>
              <a:t>配信エリアと成果は、月単位で</a:t>
            </a:r>
          </a:p>
          <a:p>
            <a:pPr algn="l">
              <a:lnSpc>
                <a:spcPct val="140000"/>
              </a:lnSpc>
              <a:spcAft>
                <a:spcPts val="300"/>
              </a:spcAft>
              <a:defRPr sz="1550" b="1">
                <a:solidFill>
                  <a:srgbClr val="2A2E33"/>
                </a:solidFill>
                <a:latin typeface="Meiryo"/>
              </a:defRPr>
            </a:pPr>
            <a:r>
              <a:rPr sz="1550" b="1">
                <a:solidFill>
                  <a:srgbClr val="2A2E33"/>
                </a:solidFill>
                <a:latin typeface="Meiryo"/>
              </a:rPr>
              <a:t>きれいに対応していました</a:t>
            </a:r>
          </a:p>
        </p:txBody>
      </p:sp>
      <p:sp>
        <p:nvSpPr>
          <p:cNvPr id="17" name="Rectangle 16"/>
          <p:cNvSpPr/>
          <p:nvPr/>
        </p:nvSpPr>
        <p:spPr>
          <a:xfrm>
            <a:off x="8065007" y="2194560"/>
            <a:ext cx="3566160" cy="14813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065007" y="2194560"/>
            <a:ext cx="3566160" cy="45720"/>
          </a:xfrm>
          <a:prstGeom prst="rect">
            <a:avLst/>
          </a:prstGeom>
          <a:solidFill>
            <a:srgbClr val="6C75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66175" y="2414015"/>
            <a:ext cx="3163824" cy="256032"/>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03</a:t>
            </a:r>
          </a:p>
        </p:txBody>
      </p:sp>
      <p:sp>
        <p:nvSpPr>
          <p:cNvPr id="20" name="TextBox 19"/>
          <p:cNvSpPr txBox="1"/>
          <p:nvPr/>
        </p:nvSpPr>
        <p:spPr>
          <a:xfrm>
            <a:off x="8266175" y="2743200"/>
            <a:ext cx="3163824" cy="731520"/>
          </a:xfrm>
          <a:prstGeom prst="rect">
            <a:avLst/>
          </a:prstGeom>
          <a:noFill/>
        </p:spPr>
        <p:txBody>
          <a:bodyPr wrap="square" lIns="0" rIns="0" tIns="0" bIns="0" anchor="t">
            <a:spAutoFit/>
          </a:bodyPr>
          <a:lstStyle/>
          <a:p>
            <a:pPr algn="l">
              <a:lnSpc>
                <a:spcPct val="140000"/>
              </a:lnSpc>
              <a:spcAft>
                <a:spcPts val="300"/>
              </a:spcAft>
              <a:defRPr sz="1550" b="1">
                <a:solidFill>
                  <a:srgbClr val="2A2E33"/>
                </a:solidFill>
                <a:latin typeface="Meiryo"/>
              </a:defRPr>
            </a:pPr>
            <a:r>
              <a:rPr sz="1550" b="1">
                <a:solidFill>
                  <a:srgbClr val="2A2E33"/>
                </a:solidFill>
                <a:latin typeface="Meiryo"/>
              </a:rPr>
              <a:t>成果が出ていた時期は、</a:t>
            </a:r>
          </a:p>
          <a:p>
            <a:pPr algn="l">
              <a:lnSpc>
                <a:spcPct val="140000"/>
              </a:lnSpc>
              <a:spcAft>
                <a:spcPts val="300"/>
              </a:spcAft>
              <a:defRPr sz="1550" b="1">
                <a:solidFill>
                  <a:srgbClr val="2A2E33"/>
                </a:solidFill>
                <a:latin typeface="Meiryo"/>
              </a:defRPr>
            </a:pPr>
            <a:r>
              <a:rPr sz="1550" b="1">
                <a:solidFill>
                  <a:srgbClr val="2A2E33"/>
                </a:solidFill>
                <a:latin typeface="Meiryo"/>
              </a:rPr>
              <a:t>3媒体がバランスしていました</a:t>
            </a:r>
          </a:p>
        </p:txBody>
      </p:sp>
      <p:sp>
        <p:nvSpPr>
          <p:cNvPr id="21" name="Rectangle 20"/>
          <p:cNvSpPr/>
          <p:nvPr/>
        </p:nvSpPr>
        <p:spPr>
          <a:xfrm>
            <a:off x="566928" y="3858768"/>
            <a:ext cx="3566160" cy="14813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566928" y="3858768"/>
            <a:ext cx="3566160" cy="45720"/>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68096" y="4078224"/>
            <a:ext cx="3163824" cy="256032"/>
          </a:xfrm>
          <a:prstGeom prst="rect">
            <a:avLst/>
          </a:prstGeom>
          <a:noFill/>
        </p:spPr>
        <p:txBody>
          <a:bodyPr wrap="square" lIns="0" rIns="0" tIns="0" bIns="0" anchor="t">
            <a:spAutoFit/>
          </a:bodyPr>
          <a:lstStyle/>
          <a:p>
            <a:pPr algn="l">
              <a:lnSpc>
                <a:spcPct val="135000"/>
              </a:lnSpc>
              <a:spcAft>
                <a:spcPts val="300"/>
              </a:spcAft>
              <a:defRPr sz="1050" b="1">
                <a:solidFill>
                  <a:srgbClr val="405D7B"/>
                </a:solidFill>
                <a:latin typeface="Meiryo"/>
              </a:defRPr>
            </a:pPr>
            <a:r>
              <a:rPr sz="1050" b="1">
                <a:solidFill>
                  <a:srgbClr val="405D7B"/>
                </a:solidFill>
                <a:latin typeface="Meiryo"/>
              </a:rPr>
              <a:t>04</a:t>
            </a:r>
          </a:p>
        </p:txBody>
      </p:sp>
      <p:sp>
        <p:nvSpPr>
          <p:cNvPr id="24" name="TextBox 23"/>
          <p:cNvSpPr txBox="1"/>
          <p:nvPr/>
        </p:nvSpPr>
        <p:spPr>
          <a:xfrm>
            <a:off x="768096" y="4407407"/>
            <a:ext cx="3163824" cy="731520"/>
          </a:xfrm>
          <a:prstGeom prst="rect">
            <a:avLst/>
          </a:prstGeom>
          <a:noFill/>
        </p:spPr>
        <p:txBody>
          <a:bodyPr wrap="square" lIns="0" rIns="0" tIns="0" bIns="0" anchor="t">
            <a:spAutoFit/>
          </a:bodyPr>
          <a:lstStyle/>
          <a:p>
            <a:pPr algn="l">
              <a:lnSpc>
                <a:spcPct val="140000"/>
              </a:lnSpc>
              <a:spcAft>
                <a:spcPts val="300"/>
              </a:spcAft>
              <a:defRPr sz="1550" b="1">
                <a:solidFill>
                  <a:srgbClr val="2A2E33"/>
                </a:solidFill>
                <a:latin typeface="Meiryo"/>
              </a:defRPr>
            </a:pPr>
            <a:r>
              <a:rPr sz="1550" b="1">
                <a:solidFill>
                  <a:srgbClr val="2A2E33"/>
                </a:solidFill>
                <a:latin typeface="Meiryo"/>
              </a:rPr>
              <a:t>媒体によってクリックがサイトに</a:t>
            </a:r>
          </a:p>
          <a:p>
            <a:pPr algn="l">
              <a:lnSpc>
                <a:spcPct val="140000"/>
              </a:lnSpc>
              <a:spcAft>
                <a:spcPts val="300"/>
              </a:spcAft>
              <a:defRPr sz="1550" b="1">
                <a:solidFill>
                  <a:srgbClr val="2A2E33"/>
                </a:solidFill>
                <a:latin typeface="Meiryo"/>
              </a:defRPr>
            </a:pPr>
            <a:r>
              <a:rPr sz="1550" b="1">
                <a:solidFill>
                  <a:srgbClr val="2A2E33"/>
                </a:solidFill>
                <a:latin typeface="Meiryo"/>
              </a:rPr>
              <a:t>届く割合が2.7倍違います</a:t>
            </a:r>
          </a:p>
        </p:txBody>
      </p:sp>
      <p:sp>
        <p:nvSpPr>
          <p:cNvPr id="25" name="Rectangle 24"/>
          <p:cNvSpPr/>
          <p:nvPr/>
        </p:nvSpPr>
        <p:spPr>
          <a:xfrm>
            <a:off x="4315968" y="3858768"/>
            <a:ext cx="3566160" cy="14813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4315968" y="3858768"/>
            <a:ext cx="3566160" cy="45720"/>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517136" y="4078224"/>
            <a:ext cx="3163824" cy="256032"/>
          </a:xfrm>
          <a:prstGeom prst="rect">
            <a:avLst/>
          </a:prstGeom>
          <a:noFill/>
        </p:spPr>
        <p:txBody>
          <a:bodyPr wrap="square" lIns="0" rIns="0" tIns="0" bIns="0" anchor="t">
            <a:spAutoFit/>
          </a:bodyPr>
          <a:lstStyle/>
          <a:p>
            <a:pPr algn="l">
              <a:lnSpc>
                <a:spcPct val="135000"/>
              </a:lnSpc>
              <a:spcAft>
                <a:spcPts val="300"/>
              </a:spcAft>
              <a:defRPr sz="1050" b="1">
                <a:solidFill>
                  <a:srgbClr val="A96933"/>
                </a:solidFill>
                <a:latin typeface="Meiryo"/>
              </a:defRPr>
            </a:pPr>
            <a:r>
              <a:rPr sz="1050" b="1">
                <a:solidFill>
                  <a:srgbClr val="A96933"/>
                </a:solidFill>
                <a:latin typeface="Meiryo"/>
              </a:rPr>
              <a:t>05</a:t>
            </a:r>
          </a:p>
        </p:txBody>
      </p:sp>
      <p:sp>
        <p:nvSpPr>
          <p:cNvPr id="28" name="TextBox 27"/>
          <p:cNvSpPr txBox="1"/>
          <p:nvPr/>
        </p:nvSpPr>
        <p:spPr>
          <a:xfrm>
            <a:off x="4517136" y="4407407"/>
            <a:ext cx="3163824" cy="731520"/>
          </a:xfrm>
          <a:prstGeom prst="rect">
            <a:avLst/>
          </a:prstGeom>
          <a:noFill/>
        </p:spPr>
        <p:txBody>
          <a:bodyPr wrap="square" lIns="0" rIns="0" tIns="0" bIns="0" anchor="t">
            <a:spAutoFit/>
          </a:bodyPr>
          <a:lstStyle/>
          <a:p>
            <a:pPr algn="l">
              <a:lnSpc>
                <a:spcPct val="140000"/>
              </a:lnSpc>
              <a:spcAft>
                <a:spcPts val="300"/>
              </a:spcAft>
              <a:defRPr sz="1550" b="1">
                <a:solidFill>
                  <a:srgbClr val="2A2E33"/>
                </a:solidFill>
                <a:latin typeface="Meiryo"/>
              </a:defRPr>
            </a:pPr>
            <a:r>
              <a:rPr sz="1550" b="1">
                <a:solidFill>
                  <a:srgbClr val="2A2E33"/>
                </a:solidFill>
                <a:latin typeface="Meiryo"/>
              </a:rPr>
              <a:t>検索クリックの70%が、すでに</a:t>
            </a:r>
          </a:p>
          <a:p>
            <a:pPr algn="l">
              <a:lnSpc>
                <a:spcPct val="140000"/>
              </a:lnSpc>
              <a:spcAft>
                <a:spcPts val="300"/>
              </a:spcAft>
              <a:defRPr sz="1550" b="1">
                <a:solidFill>
                  <a:srgbClr val="2A2E33"/>
                </a:solidFill>
                <a:latin typeface="Meiryo"/>
              </a:defRPr>
            </a:pPr>
            <a:r>
              <a:rPr sz="1550" b="1">
                <a:solidFill>
                  <a:srgbClr val="2A2E33"/>
                </a:solidFill>
                <a:latin typeface="Meiryo"/>
              </a:rPr>
              <a:t>貴クラブをご存知の方でした</a:t>
            </a:r>
          </a:p>
        </p:txBody>
      </p:sp>
      <p:sp>
        <p:nvSpPr>
          <p:cNvPr id="29" name="Rectangle 28"/>
          <p:cNvSpPr/>
          <p:nvPr/>
        </p:nvSpPr>
        <p:spPr>
          <a:xfrm>
            <a:off x="8065007" y="3858768"/>
            <a:ext cx="3566160" cy="14813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8065007" y="3858768"/>
            <a:ext cx="3566160" cy="45720"/>
          </a:xfrm>
          <a:prstGeom prst="rect">
            <a:avLst/>
          </a:prstGeom>
          <a:solidFill>
            <a:srgbClr val="6C75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266175" y="4078224"/>
            <a:ext cx="3163824" cy="256032"/>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06</a:t>
            </a:r>
          </a:p>
        </p:txBody>
      </p:sp>
      <p:sp>
        <p:nvSpPr>
          <p:cNvPr id="32" name="TextBox 31"/>
          <p:cNvSpPr txBox="1"/>
          <p:nvPr/>
        </p:nvSpPr>
        <p:spPr>
          <a:xfrm>
            <a:off x="8266175" y="4407407"/>
            <a:ext cx="3163824" cy="731520"/>
          </a:xfrm>
          <a:prstGeom prst="rect">
            <a:avLst/>
          </a:prstGeom>
          <a:noFill/>
        </p:spPr>
        <p:txBody>
          <a:bodyPr wrap="square" lIns="0" rIns="0" tIns="0" bIns="0" anchor="t">
            <a:spAutoFit/>
          </a:bodyPr>
          <a:lstStyle/>
          <a:p>
            <a:pPr algn="l">
              <a:lnSpc>
                <a:spcPct val="140000"/>
              </a:lnSpc>
              <a:spcAft>
                <a:spcPts val="300"/>
              </a:spcAft>
              <a:defRPr sz="1550" b="1">
                <a:solidFill>
                  <a:srgbClr val="2A2E33"/>
                </a:solidFill>
                <a:latin typeface="Meiryo"/>
              </a:defRPr>
            </a:pPr>
            <a:r>
              <a:rPr sz="1550" b="1">
                <a:solidFill>
                  <a:srgbClr val="2A2E33"/>
                </a:solidFill>
                <a:latin typeface="Meiryo"/>
              </a:rPr>
              <a:t>じっくり読まれているのはPC。</a:t>
            </a:r>
          </a:p>
          <a:p>
            <a:pPr algn="l">
              <a:lnSpc>
                <a:spcPct val="140000"/>
              </a:lnSpc>
              <a:spcAft>
                <a:spcPts val="300"/>
              </a:spcAft>
              <a:defRPr sz="1550" b="1">
                <a:solidFill>
                  <a:srgbClr val="2A2E33"/>
                </a:solidFill>
                <a:latin typeface="Meiryo"/>
              </a:defRPr>
            </a:pPr>
            <a:r>
              <a:rPr sz="1550" b="1">
                <a:solidFill>
                  <a:srgbClr val="2A2E33"/>
                </a:solidFill>
                <a:latin typeface="Meiryo"/>
              </a:rPr>
              <a:t>しかし流入の96%はスマホです</a:t>
            </a:r>
          </a:p>
        </p:txBody>
      </p:sp>
      <p:sp>
        <p:nvSpPr>
          <p:cNvPr id="33" name="TextBox 32"/>
          <p:cNvSpPr txBox="1"/>
          <p:nvPr/>
        </p:nvSpPr>
        <p:spPr>
          <a:xfrm>
            <a:off x="566928" y="6053328"/>
            <a:ext cx="11064240" cy="365760"/>
          </a:xfrm>
          <a:prstGeom prst="rect">
            <a:avLst/>
          </a:prstGeom>
          <a:noFill/>
        </p:spPr>
        <p:txBody>
          <a:bodyPr wrap="square" lIns="0" rIns="0" tIns="0" bIns="0" anchor="t">
            <a:spAutoFit/>
          </a:bodyPr>
          <a:lstStyle/>
          <a:p>
            <a:pPr algn="l">
              <a:lnSpc>
                <a:spcPct val="135000"/>
              </a:lnSpc>
              <a:spcAft>
                <a:spcPts val="300"/>
              </a:spcAft>
              <a:defRPr sz="950" b="0">
                <a:solidFill>
                  <a:srgbClr val="8A929C"/>
                </a:solidFill>
                <a:latin typeface="Meiryo"/>
              </a:defRPr>
            </a:pPr>
            <a:r>
              <a:rPr sz="950" b="0">
                <a:solidFill>
                  <a:srgbClr val="8A929C"/>
                </a:solidFill>
                <a:latin typeface="Meiryo"/>
              </a:rPr>
              <a:t>証拠クラス〈実測〉：全項目が各媒体API・GA4・お問い合わせ実データからの実測値です。業界一般値・当社仮説は含みません。</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54864" cy="6858000"/>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143000" y="2697480"/>
            <a:ext cx="9144000" cy="310896"/>
          </a:xfrm>
          <a:prstGeom prst="rect">
            <a:avLst/>
          </a:prstGeom>
          <a:noFill/>
        </p:spPr>
        <p:txBody>
          <a:bodyPr wrap="square" lIns="0" rIns="0" tIns="0" bIns="0" anchor="t">
            <a:spAutoFit/>
          </a:bodyPr>
          <a:lstStyle/>
          <a:p>
            <a:pPr algn="l">
              <a:lnSpc>
                <a:spcPct val="135000"/>
              </a:lnSpc>
              <a:spcAft>
                <a:spcPts val="300"/>
              </a:spcAft>
              <a:defRPr sz="1300" b="1">
                <a:solidFill>
                  <a:srgbClr val="A96933"/>
                </a:solidFill>
                <a:latin typeface="Meiryo"/>
              </a:defRPr>
            </a:pPr>
            <a:r>
              <a:rPr sz="1300" b="1">
                <a:solidFill>
                  <a:srgbClr val="A96933"/>
                </a:solidFill>
                <a:latin typeface="Meiryo"/>
              </a:rPr>
              <a:t>PART 1</a:t>
            </a:r>
          </a:p>
        </p:txBody>
      </p:sp>
      <p:sp>
        <p:nvSpPr>
          <p:cNvPr id="5" name="TextBox 4"/>
          <p:cNvSpPr txBox="1"/>
          <p:nvPr/>
        </p:nvSpPr>
        <p:spPr>
          <a:xfrm>
            <a:off x="1143000" y="3127248"/>
            <a:ext cx="9601200" cy="640080"/>
          </a:xfrm>
          <a:prstGeom prst="rect">
            <a:avLst/>
          </a:prstGeom>
          <a:noFill/>
        </p:spPr>
        <p:txBody>
          <a:bodyPr wrap="square" lIns="0" rIns="0" tIns="0" bIns="0" anchor="t">
            <a:spAutoFit/>
          </a:bodyPr>
          <a:lstStyle/>
          <a:p>
            <a:pPr algn="l">
              <a:lnSpc>
                <a:spcPct val="115000"/>
              </a:lnSpc>
              <a:spcAft>
                <a:spcPts val="300"/>
              </a:spcAft>
              <a:defRPr sz="3300" b="1">
                <a:solidFill>
                  <a:srgbClr val="FFFFFF"/>
                </a:solidFill>
                <a:latin typeface="Meiryo"/>
              </a:defRPr>
            </a:pPr>
            <a:r>
              <a:rPr sz="3300" b="1">
                <a:solidFill>
                  <a:srgbClr val="FFFFFF"/>
                </a:solidFill>
                <a:latin typeface="Meiryo"/>
              </a:rPr>
              <a:t>成果の全体像</a:t>
            </a:r>
          </a:p>
        </p:txBody>
      </p:sp>
      <p:sp>
        <p:nvSpPr>
          <p:cNvPr id="6" name="Rectangle 5"/>
          <p:cNvSpPr/>
          <p:nvPr/>
        </p:nvSpPr>
        <p:spPr>
          <a:xfrm>
            <a:off x="1143000" y="4041648"/>
            <a:ext cx="2103120" cy="36576"/>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43000" y="4315968"/>
            <a:ext cx="9601200" cy="457200"/>
          </a:xfrm>
          <a:prstGeom prst="rect">
            <a:avLst/>
          </a:prstGeom>
          <a:noFill/>
        </p:spPr>
        <p:txBody>
          <a:bodyPr wrap="square" lIns="0" rIns="0" tIns="0" bIns="0" anchor="t">
            <a:spAutoFit/>
          </a:bodyPr>
          <a:lstStyle/>
          <a:p>
            <a:pPr algn="l">
              <a:lnSpc>
                <a:spcPct val="140000"/>
              </a:lnSpc>
              <a:spcAft>
                <a:spcPts val="300"/>
              </a:spcAft>
              <a:defRPr sz="1500" b="0">
                <a:solidFill>
                  <a:srgbClr val="D6DBE1"/>
                </a:solidFill>
                <a:latin typeface="Meiryo"/>
              </a:defRPr>
            </a:pPr>
            <a:r>
              <a:rPr sz="1500" b="0">
                <a:solidFill>
                  <a:srgbClr val="D6DBE1"/>
                </a:solidFill>
                <a:latin typeface="Meiryo"/>
              </a:rPr>
              <a:t>第1期（2025年8月〜2026年3月）と第2期（2026年5月〜7月）を、同じ基準で比較します。</a:t>
            </a:r>
          </a:p>
        </p:txBody>
      </p:sp>
      <p:sp>
        <p:nvSpPr>
          <p:cNvPr id="8" name="TextBox 7"/>
          <p:cNvSpPr txBox="1"/>
          <p:nvPr/>
        </p:nvSpPr>
        <p:spPr>
          <a:xfrm>
            <a:off x="11338560" y="6510528"/>
            <a:ext cx="640080" cy="274320"/>
          </a:xfrm>
          <a:prstGeom prst="rect">
            <a:avLst/>
          </a:prstGeom>
          <a:noFill/>
        </p:spPr>
        <p:txBody>
          <a:bodyPr wrap="square" lIns="0" rIns="0" tIns="0" bIns="0" anchor="t">
            <a:spAutoFit/>
          </a:bodyPr>
          <a:lstStyle/>
          <a:p>
            <a:pPr algn="r">
              <a:lnSpc>
                <a:spcPct val="135000"/>
              </a:lnSpc>
              <a:spcAft>
                <a:spcPts val="300"/>
              </a:spcAft>
              <a:defRPr sz="1050" b="0">
                <a:solidFill>
                  <a:srgbClr val="8FA3B8"/>
                </a:solidFill>
                <a:latin typeface="Meiryo"/>
              </a:defRPr>
            </a:pPr>
            <a:r>
              <a:rPr sz="1050" b="0">
                <a:solidFill>
                  <a:srgbClr val="8FA3B8"/>
                </a:solidFill>
                <a:latin typeface="Meiryo"/>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57200"/>
            <a:ext cx="82296" cy="237744"/>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31520" y="438912"/>
            <a:ext cx="10515600" cy="274320"/>
          </a:xfrm>
          <a:prstGeom prst="rect">
            <a:avLst/>
          </a:prstGeom>
          <a:noFill/>
        </p:spPr>
        <p:txBody>
          <a:bodyPr wrap="square" lIns="0" rIns="0" tIns="0" bIns="0" anchor="t">
            <a:spAutoFit/>
          </a:bodyPr>
          <a:lstStyle/>
          <a:p>
            <a:pPr algn="l">
              <a:lnSpc>
                <a:spcPct val="135000"/>
              </a:lnSpc>
              <a:spcAft>
                <a:spcPts val="300"/>
              </a:spcAft>
              <a:defRPr sz="1150" b="1">
                <a:solidFill>
                  <a:srgbClr val="405D7B"/>
                </a:solidFill>
                <a:latin typeface="Meiryo"/>
              </a:defRPr>
            </a:pPr>
            <a:r>
              <a:rPr sz="1150" b="1">
                <a:solidFill>
                  <a:srgbClr val="405D7B"/>
                </a:solidFill>
                <a:latin typeface="Meiryo"/>
              </a:rPr>
              <a:t>1 成果</a:t>
            </a:r>
          </a:p>
        </p:txBody>
      </p:sp>
      <p:sp>
        <p:nvSpPr>
          <p:cNvPr id="4" name="TextBox 3"/>
          <p:cNvSpPr txBox="1"/>
          <p:nvPr/>
        </p:nvSpPr>
        <p:spPr>
          <a:xfrm>
            <a:off x="530352" y="731520"/>
            <a:ext cx="10972800" cy="566928"/>
          </a:xfrm>
          <a:prstGeom prst="rect">
            <a:avLst/>
          </a:prstGeom>
          <a:noFill/>
        </p:spPr>
        <p:txBody>
          <a:bodyPr wrap="square" lIns="0" rIns="0" tIns="0" bIns="0" anchor="t">
            <a:spAutoFit/>
          </a:bodyPr>
          <a:lstStyle/>
          <a:p>
            <a:pPr algn="l">
              <a:lnSpc>
                <a:spcPct val="115000"/>
              </a:lnSpc>
              <a:spcAft>
                <a:spcPts val="300"/>
              </a:spcAft>
              <a:defRPr sz="2700" b="1">
                <a:solidFill>
                  <a:srgbClr val="2A2E33"/>
                </a:solidFill>
                <a:latin typeface="Meiryo"/>
              </a:defRPr>
            </a:pPr>
            <a:r>
              <a:rPr sz="2700" b="1">
                <a:solidFill>
                  <a:srgbClr val="2A2E33"/>
                </a:solidFill>
                <a:latin typeface="Meiryo"/>
              </a:rPr>
              <a:t>第1期・第2期の比較</a:t>
            </a:r>
          </a:p>
        </p:txBody>
      </p:sp>
      <p:sp>
        <p:nvSpPr>
          <p:cNvPr id="5" name="Rectangle 4"/>
          <p:cNvSpPr/>
          <p:nvPr/>
        </p:nvSpPr>
        <p:spPr>
          <a:xfrm>
            <a:off x="566928" y="1399032"/>
            <a:ext cx="1600200" cy="45720"/>
          </a:xfrm>
          <a:prstGeom prst="rect">
            <a:avLst/>
          </a:prstGeom>
          <a:solidFill>
            <a:srgbClr val="334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6928" y="1417320"/>
            <a:ext cx="11064240" cy="9144"/>
          </a:xfrm>
          <a:prstGeom prst="rect">
            <a:avLst/>
          </a:prstGeom>
          <a:solidFill>
            <a:srgbClr val="E2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338560" y="6510528"/>
            <a:ext cx="640080" cy="274320"/>
          </a:xfrm>
          <a:prstGeom prst="rect">
            <a:avLst/>
          </a:prstGeom>
          <a:noFill/>
        </p:spPr>
        <p:txBody>
          <a:bodyPr wrap="square" lIns="0" rIns="0" tIns="0" bIns="0" anchor="t">
            <a:spAutoFit/>
          </a:bodyPr>
          <a:lstStyle/>
          <a:p>
            <a:pPr algn="r">
              <a:lnSpc>
                <a:spcPct val="135000"/>
              </a:lnSpc>
              <a:spcAft>
                <a:spcPts val="300"/>
              </a:spcAft>
              <a:defRPr sz="1050" b="0">
                <a:solidFill>
                  <a:srgbClr val="8A929C"/>
                </a:solidFill>
                <a:latin typeface="Meiryo"/>
              </a:defRPr>
            </a:pPr>
            <a:r>
              <a:rPr sz="1050" b="0">
                <a:solidFill>
                  <a:srgbClr val="8A929C"/>
                </a:solidFill>
                <a:latin typeface="Meiryo"/>
              </a:rPr>
              <a:t>05</a:t>
            </a:r>
          </a:p>
        </p:txBody>
      </p:sp>
      <p:sp>
        <p:nvSpPr>
          <p:cNvPr id="8" name="Rectangle 7"/>
          <p:cNvSpPr/>
          <p:nvPr/>
        </p:nvSpPr>
        <p:spPr>
          <a:xfrm>
            <a:off x="566928" y="1737360"/>
            <a:ext cx="2628900" cy="17373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1737360"/>
            <a:ext cx="2628900" cy="45720"/>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1938528"/>
            <a:ext cx="2226564" cy="256032"/>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月あたりご請求額</a:t>
            </a:r>
          </a:p>
        </p:txBody>
      </p:sp>
      <p:sp>
        <p:nvSpPr>
          <p:cNvPr id="11" name="TextBox 10"/>
          <p:cNvSpPr txBox="1"/>
          <p:nvPr/>
        </p:nvSpPr>
        <p:spPr>
          <a:xfrm>
            <a:off x="768096" y="2231136"/>
            <a:ext cx="2226564" cy="566928"/>
          </a:xfrm>
          <a:prstGeom prst="rect">
            <a:avLst/>
          </a:prstGeom>
          <a:noFill/>
        </p:spPr>
        <p:txBody>
          <a:bodyPr wrap="square" lIns="0" rIns="0" tIns="0" bIns="0" anchor="t">
            <a:spAutoFit/>
          </a:bodyPr>
          <a:lstStyle/>
          <a:p>
            <a:pPr algn="l">
              <a:lnSpc>
                <a:spcPct val="110000"/>
              </a:lnSpc>
              <a:spcAft>
                <a:spcPts val="300"/>
              </a:spcAft>
              <a:defRPr sz="2700" b="1">
                <a:solidFill>
                  <a:srgbClr val="405D7B"/>
                </a:solidFill>
                <a:latin typeface="Meiryo"/>
              </a:defRPr>
            </a:pPr>
            <a:r>
              <a:rPr sz="2700" b="1">
                <a:solidFill>
                  <a:srgbClr val="405D7B"/>
                </a:solidFill>
                <a:latin typeface="Meiryo"/>
              </a:rPr>
              <a:t>+30.0%</a:t>
            </a:r>
          </a:p>
        </p:txBody>
      </p:sp>
      <p:sp>
        <p:nvSpPr>
          <p:cNvPr id="12" name="TextBox 11"/>
          <p:cNvSpPr txBox="1"/>
          <p:nvPr/>
        </p:nvSpPr>
        <p:spPr>
          <a:xfrm>
            <a:off x="768096" y="2926079"/>
            <a:ext cx="2226564" cy="457200"/>
          </a:xfrm>
          <a:prstGeom prst="rect">
            <a:avLst/>
          </a:prstGeom>
          <a:noFill/>
        </p:spPr>
        <p:txBody>
          <a:bodyPr wrap="square" lIns="0" rIns="0" tIns="0" bIns="0" anchor="t">
            <a:spAutoFit/>
          </a:bodyPr>
          <a:lstStyle/>
          <a:p>
            <a:pPr algn="l">
              <a:lnSpc>
                <a:spcPct val="130000"/>
              </a:lnSpc>
              <a:spcAft>
                <a:spcPts val="300"/>
              </a:spcAft>
              <a:defRPr sz="950" b="0">
                <a:solidFill>
                  <a:srgbClr val="8A929C"/>
                </a:solidFill>
                <a:latin typeface="Meiryo"/>
              </a:defRPr>
            </a:pPr>
            <a:r>
              <a:rPr sz="950" b="0">
                <a:solidFill>
                  <a:srgbClr val="8A929C"/>
                </a:solidFill>
                <a:latin typeface="Meiryo"/>
              </a:rPr>
              <a:t>¥251,250 → ¥326,667</a:t>
            </a:r>
          </a:p>
        </p:txBody>
      </p:sp>
      <p:sp>
        <p:nvSpPr>
          <p:cNvPr id="13" name="Rectangle 12"/>
          <p:cNvSpPr/>
          <p:nvPr/>
        </p:nvSpPr>
        <p:spPr>
          <a:xfrm>
            <a:off x="3378708" y="1737360"/>
            <a:ext cx="2628900" cy="17373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378708" y="1737360"/>
            <a:ext cx="2628900" cy="45720"/>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79876" y="1938528"/>
            <a:ext cx="2226564" cy="256032"/>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月あたりサイト集客</a:t>
            </a:r>
          </a:p>
        </p:txBody>
      </p:sp>
      <p:sp>
        <p:nvSpPr>
          <p:cNvPr id="16" name="TextBox 15"/>
          <p:cNvSpPr txBox="1"/>
          <p:nvPr/>
        </p:nvSpPr>
        <p:spPr>
          <a:xfrm>
            <a:off x="3579876" y="2231136"/>
            <a:ext cx="2226564" cy="566928"/>
          </a:xfrm>
          <a:prstGeom prst="rect">
            <a:avLst/>
          </a:prstGeom>
          <a:noFill/>
        </p:spPr>
        <p:txBody>
          <a:bodyPr wrap="square" lIns="0" rIns="0" tIns="0" bIns="0" anchor="t">
            <a:spAutoFit/>
          </a:bodyPr>
          <a:lstStyle/>
          <a:p>
            <a:pPr algn="l">
              <a:lnSpc>
                <a:spcPct val="110000"/>
              </a:lnSpc>
              <a:spcAft>
                <a:spcPts val="300"/>
              </a:spcAft>
              <a:defRPr sz="2700" b="1">
                <a:solidFill>
                  <a:srgbClr val="405D7B"/>
                </a:solidFill>
                <a:latin typeface="Meiryo"/>
              </a:defRPr>
            </a:pPr>
            <a:r>
              <a:rPr sz="2700" b="1">
                <a:solidFill>
                  <a:srgbClr val="405D7B"/>
                </a:solidFill>
                <a:latin typeface="Meiryo"/>
              </a:rPr>
              <a:t>1.8倍</a:t>
            </a:r>
          </a:p>
        </p:txBody>
      </p:sp>
      <p:sp>
        <p:nvSpPr>
          <p:cNvPr id="17" name="TextBox 16"/>
          <p:cNvSpPr txBox="1"/>
          <p:nvPr/>
        </p:nvSpPr>
        <p:spPr>
          <a:xfrm>
            <a:off x="3579876" y="2926079"/>
            <a:ext cx="2226564" cy="457200"/>
          </a:xfrm>
          <a:prstGeom prst="rect">
            <a:avLst/>
          </a:prstGeom>
          <a:noFill/>
        </p:spPr>
        <p:txBody>
          <a:bodyPr wrap="square" lIns="0" rIns="0" tIns="0" bIns="0" anchor="t">
            <a:spAutoFit/>
          </a:bodyPr>
          <a:lstStyle/>
          <a:p>
            <a:pPr algn="l">
              <a:lnSpc>
                <a:spcPct val="130000"/>
              </a:lnSpc>
              <a:spcAft>
                <a:spcPts val="300"/>
              </a:spcAft>
              <a:defRPr sz="950" b="0">
                <a:solidFill>
                  <a:srgbClr val="8A929C"/>
                </a:solidFill>
                <a:latin typeface="Meiryo"/>
              </a:defRPr>
            </a:pPr>
            <a:r>
              <a:rPr sz="950" b="0">
                <a:solidFill>
                  <a:srgbClr val="8A929C"/>
                </a:solidFill>
                <a:latin typeface="Meiryo"/>
              </a:rPr>
              <a:t>6,427 → 11,715</a:t>
            </a:r>
          </a:p>
        </p:txBody>
      </p:sp>
      <p:sp>
        <p:nvSpPr>
          <p:cNvPr id="18" name="Rectangle 17"/>
          <p:cNvSpPr/>
          <p:nvPr/>
        </p:nvSpPr>
        <p:spPr>
          <a:xfrm>
            <a:off x="6190488" y="1737360"/>
            <a:ext cx="2628900" cy="17373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190488" y="1737360"/>
            <a:ext cx="2628900" cy="45720"/>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91656" y="1938528"/>
            <a:ext cx="2226564" cy="256032"/>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お問い合わせ</a:t>
            </a:r>
          </a:p>
        </p:txBody>
      </p:sp>
      <p:sp>
        <p:nvSpPr>
          <p:cNvPr id="21" name="TextBox 20"/>
          <p:cNvSpPr txBox="1"/>
          <p:nvPr/>
        </p:nvSpPr>
        <p:spPr>
          <a:xfrm>
            <a:off x="6391656" y="2231136"/>
            <a:ext cx="2226564" cy="566928"/>
          </a:xfrm>
          <a:prstGeom prst="rect">
            <a:avLst/>
          </a:prstGeom>
          <a:noFill/>
        </p:spPr>
        <p:txBody>
          <a:bodyPr wrap="square" lIns="0" rIns="0" tIns="0" bIns="0" anchor="t">
            <a:spAutoFit/>
          </a:bodyPr>
          <a:lstStyle/>
          <a:p>
            <a:pPr algn="l">
              <a:lnSpc>
                <a:spcPct val="110000"/>
              </a:lnSpc>
              <a:spcAft>
                <a:spcPts val="300"/>
              </a:spcAft>
              <a:defRPr sz="2700" b="1">
                <a:solidFill>
                  <a:srgbClr val="A96933"/>
                </a:solidFill>
                <a:latin typeface="Meiryo"/>
              </a:defRPr>
            </a:pPr>
            <a:r>
              <a:rPr sz="2700" b="1">
                <a:solidFill>
                  <a:srgbClr val="A96933"/>
                </a:solidFill>
                <a:latin typeface="Meiryo"/>
              </a:rPr>
              <a:t>−89%</a:t>
            </a:r>
          </a:p>
        </p:txBody>
      </p:sp>
      <p:sp>
        <p:nvSpPr>
          <p:cNvPr id="22" name="TextBox 21"/>
          <p:cNvSpPr txBox="1"/>
          <p:nvPr/>
        </p:nvSpPr>
        <p:spPr>
          <a:xfrm>
            <a:off x="6391656" y="2926079"/>
            <a:ext cx="2226564" cy="457200"/>
          </a:xfrm>
          <a:prstGeom prst="rect">
            <a:avLst/>
          </a:prstGeom>
          <a:noFill/>
        </p:spPr>
        <p:txBody>
          <a:bodyPr wrap="square" lIns="0" rIns="0" tIns="0" bIns="0" anchor="t">
            <a:spAutoFit/>
          </a:bodyPr>
          <a:lstStyle/>
          <a:p>
            <a:pPr algn="l">
              <a:lnSpc>
                <a:spcPct val="130000"/>
              </a:lnSpc>
              <a:spcAft>
                <a:spcPts val="300"/>
              </a:spcAft>
              <a:defRPr sz="950" b="0">
                <a:solidFill>
                  <a:srgbClr val="8A929C"/>
                </a:solidFill>
                <a:latin typeface="Meiryo"/>
              </a:defRPr>
            </a:pPr>
            <a:r>
              <a:rPr sz="950" b="0">
                <a:solidFill>
                  <a:srgbClr val="8A929C"/>
                </a:solidFill>
                <a:latin typeface="Meiryo"/>
              </a:rPr>
              <a:t>19件 → 2件</a:t>
            </a:r>
          </a:p>
        </p:txBody>
      </p:sp>
      <p:sp>
        <p:nvSpPr>
          <p:cNvPr id="23" name="Rectangle 22"/>
          <p:cNvSpPr/>
          <p:nvPr/>
        </p:nvSpPr>
        <p:spPr>
          <a:xfrm>
            <a:off x="9002268" y="1737360"/>
            <a:ext cx="2628900" cy="17373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002268" y="1737360"/>
            <a:ext cx="2628900" cy="45720"/>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203436" y="1938528"/>
            <a:ext cx="2226564" cy="256032"/>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獲得単価</a:t>
            </a:r>
          </a:p>
        </p:txBody>
      </p:sp>
      <p:sp>
        <p:nvSpPr>
          <p:cNvPr id="26" name="TextBox 25"/>
          <p:cNvSpPr txBox="1"/>
          <p:nvPr/>
        </p:nvSpPr>
        <p:spPr>
          <a:xfrm>
            <a:off x="9203436" y="2231136"/>
            <a:ext cx="2226564" cy="566928"/>
          </a:xfrm>
          <a:prstGeom prst="rect">
            <a:avLst/>
          </a:prstGeom>
          <a:noFill/>
        </p:spPr>
        <p:txBody>
          <a:bodyPr wrap="square" lIns="0" rIns="0" tIns="0" bIns="0" anchor="t">
            <a:spAutoFit/>
          </a:bodyPr>
          <a:lstStyle/>
          <a:p>
            <a:pPr algn="l">
              <a:lnSpc>
                <a:spcPct val="110000"/>
              </a:lnSpc>
              <a:spcAft>
                <a:spcPts val="300"/>
              </a:spcAft>
              <a:defRPr sz="2700" b="1">
                <a:solidFill>
                  <a:srgbClr val="A96933"/>
                </a:solidFill>
                <a:latin typeface="Meiryo"/>
              </a:defRPr>
            </a:pPr>
            <a:r>
              <a:rPr sz="2700" b="1">
                <a:solidFill>
                  <a:srgbClr val="A96933"/>
                </a:solidFill>
                <a:latin typeface="Meiryo"/>
              </a:rPr>
              <a:t>4.63倍</a:t>
            </a:r>
          </a:p>
        </p:txBody>
      </p:sp>
      <p:sp>
        <p:nvSpPr>
          <p:cNvPr id="27" name="TextBox 26"/>
          <p:cNvSpPr txBox="1"/>
          <p:nvPr/>
        </p:nvSpPr>
        <p:spPr>
          <a:xfrm>
            <a:off x="9203436" y="2926079"/>
            <a:ext cx="2226564" cy="457200"/>
          </a:xfrm>
          <a:prstGeom prst="rect">
            <a:avLst/>
          </a:prstGeom>
          <a:noFill/>
        </p:spPr>
        <p:txBody>
          <a:bodyPr wrap="square" lIns="0" rIns="0" tIns="0" bIns="0" anchor="t">
            <a:spAutoFit/>
          </a:bodyPr>
          <a:lstStyle/>
          <a:p>
            <a:pPr algn="l">
              <a:lnSpc>
                <a:spcPct val="130000"/>
              </a:lnSpc>
              <a:spcAft>
                <a:spcPts val="300"/>
              </a:spcAft>
              <a:defRPr sz="950" b="0">
                <a:solidFill>
                  <a:srgbClr val="8A929C"/>
                </a:solidFill>
                <a:latin typeface="Meiryo"/>
              </a:defRPr>
            </a:pPr>
            <a:r>
              <a:rPr sz="950" b="0">
                <a:solidFill>
                  <a:srgbClr val="8A929C"/>
                </a:solidFill>
                <a:latin typeface="Meiryo"/>
              </a:rPr>
              <a:t>¥105,789 → ¥490,000</a:t>
            </a:r>
          </a:p>
        </p:txBody>
      </p:sp>
      <p:sp>
        <p:nvSpPr>
          <p:cNvPr id="28" name="Rectangle 27"/>
          <p:cNvSpPr/>
          <p:nvPr/>
        </p:nvSpPr>
        <p:spPr>
          <a:xfrm>
            <a:off x="566928" y="3675887"/>
            <a:ext cx="11064240" cy="402336"/>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76656" y="3675887"/>
            <a:ext cx="3621024" cy="402336"/>
          </a:xfrm>
          <a:prstGeom prst="rect">
            <a:avLst/>
          </a:prstGeom>
          <a:noFill/>
        </p:spPr>
        <p:txBody>
          <a:bodyPr wrap="square" lIns="0" rIns="0" tIns="0" bIns="0" anchor="ctr">
            <a:spAutoFit/>
          </a:bodyPr>
          <a:lstStyle/>
          <a:p>
            <a:pPr algn="l">
              <a:lnSpc>
                <a:spcPct val="100000"/>
              </a:lnSpc>
              <a:spcAft>
                <a:spcPts val="0"/>
              </a:spcAft>
              <a:defRPr sz="1150" b="1">
                <a:solidFill>
                  <a:srgbClr val="FFFFFF"/>
                </a:solidFill>
                <a:latin typeface="Meiryo"/>
              </a:defRPr>
            </a:pPr>
          </a:p>
        </p:txBody>
      </p:sp>
      <p:sp>
        <p:nvSpPr>
          <p:cNvPr id="30" name="TextBox 29"/>
          <p:cNvSpPr txBox="1"/>
          <p:nvPr/>
        </p:nvSpPr>
        <p:spPr>
          <a:xfrm>
            <a:off x="4517136" y="3675887"/>
            <a:ext cx="3438144" cy="402336"/>
          </a:xfrm>
          <a:prstGeom prst="rect">
            <a:avLst/>
          </a:prstGeom>
          <a:noFill/>
        </p:spPr>
        <p:txBody>
          <a:bodyPr wrap="square" lIns="0" rIns="0" tIns="0" bIns="0" anchor="ctr">
            <a:spAutoFit/>
          </a:bodyPr>
          <a:lstStyle/>
          <a:p>
            <a:pPr algn="r">
              <a:lnSpc>
                <a:spcPct val="100000"/>
              </a:lnSpc>
              <a:spcAft>
                <a:spcPts val="0"/>
              </a:spcAft>
              <a:defRPr sz="1150" b="1">
                <a:solidFill>
                  <a:srgbClr val="FFFFFF"/>
                </a:solidFill>
                <a:latin typeface="Meiryo"/>
              </a:defRPr>
            </a:pPr>
            <a:r>
              <a:rPr sz="1150" b="1">
                <a:solidFill>
                  <a:srgbClr val="FFFFFF"/>
                </a:solidFill>
                <a:latin typeface="Meiryo"/>
              </a:rPr>
              <a:t>第1期  2025年8月〜2026年3月（8ヶ月）</a:t>
            </a:r>
          </a:p>
        </p:txBody>
      </p:sp>
      <p:sp>
        <p:nvSpPr>
          <p:cNvPr id="31" name="TextBox 30"/>
          <p:cNvSpPr txBox="1"/>
          <p:nvPr/>
        </p:nvSpPr>
        <p:spPr>
          <a:xfrm>
            <a:off x="8174736" y="3675887"/>
            <a:ext cx="3346703" cy="402336"/>
          </a:xfrm>
          <a:prstGeom prst="rect">
            <a:avLst/>
          </a:prstGeom>
          <a:noFill/>
        </p:spPr>
        <p:txBody>
          <a:bodyPr wrap="square" lIns="0" rIns="0" tIns="0" bIns="0" anchor="ctr">
            <a:spAutoFit/>
          </a:bodyPr>
          <a:lstStyle/>
          <a:p>
            <a:pPr algn="r">
              <a:lnSpc>
                <a:spcPct val="100000"/>
              </a:lnSpc>
              <a:spcAft>
                <a:spcPts val="0"/>
              </a:spcAft>
              <a:defRPr sz="1150" b="1">
                <a:solidFill>
                  <a:srgbClr val="FFFFFF"/>
                </a:solidFill>
                <a:latin typeface="Meiryo"/>
              </a:defRPr>
            </a:pPr>
            <a:r>
              <a:rPr sz="1150" b="1">
                <a:solidFill>
                  <a:srgbClr val="FFFFFF"/>
                </a:solidFill>
                <a:latin typeface="Meiryo"/>
              </a:rPr>
              <a:t>第2期  2026年5月〜7月（3ヶ月）</a:t>
            </a:r>
          </a:p>
        </p:txBody>
      </p:sp>
      <p:sp>
        <p:nvSpPr>
          <p:cNvPr id="32" name="Rectangle 31"/>
          <p:cNvSpPr/>
          <p:nvPr/>
        </p:nvSpPr>
        <p:spPr>
          <a:xfrm>
            <a:off x="566928" y="4078224"/>
            <a:ext cx="1106424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76656" y="4078224"/>
            <a:ext cx="3621024" cy="384048"/>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ご請求額 合計</a:t>
            </a:r>
          </a:p>
        </p:txBody>
      </p:sp>
      <p:sp>
        <p:nvSpPr>
          <p:cNvPr id="34" name="TextBox 33"/>
          <p:cNvSpPr txBox="1"/>
          <p:nvPr/>
        </p:nvSpPr>
        <p:spPr>
          <a:xfrm>
            <a:off x="4517136" y="4078224"/>
            <a:ext cx="3438144" cy="384048"/>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¥2,010,000</a:t>
            </a:r>
          </a:p>
        </p:txBody>
      </p:sp>
      <p:sp>
        <p:nvSpPr>
          <p:cNvPr id="35" name="TextBox 34"/>
          <p:cNvSpPr txBox="1"/>
          <p:nvPr/>
        </p:nvSpPr>
        <p:spPr>
          <a:xfrm>
            <a:off x="8174736" y="4078224"/>
            <a:ext cx="3346703" cy="384048"/>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¥980,000</a:t>
            </a:r>
          </a:p>
        </p:txBody>
      </p:sp>
      <p:sp>
        <p:nvSpPr>
          <p:cNvPr id="36" name="Rectangle 35"/>
          <p:cNvSpPr/>
          <p:nvPr/>
        </p:nvSpPr>
        <p:spPr>
          <a:xfrm>
            <a:off x="566928" y="4462272"/>
            <a:ext cx="11064240" cy="384048"/>
          </a:xfrm>
          <a:prstGeom prst="rect">
            <a:avLst/>
          </a:prstGeom>
          <a:solidFill>
            <a:srgbClr val="EE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76656" y="4462272"/>
            <a:ext cx="3621024" cy="384048"/>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サイトセッション</a:t>
            </a:r>
          </a:p>
        </p:txBody>
      </p:sp>
      <p:sp>
        <p:nvSpPr>
          <p:cNvPr id="38" name="TextBox 37"/>
          <p:cNvSpPr txBox="1"/>
          <p:nvPr/>
        </p:nvSpPr>
        <p:spPr>
          <a:xfrm>
            <a:off x="4517136" y="4462272"/>
            <a:ext cx="3438144" cy="384048"/>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51,414</a:t>
            </a:r>
          </a:p>
        </p:txBody>
      </p:sp>
      <p:sp>
        <p:nvSpPr>
          <p:cNvPr id="39" name="TextBox 38"/>
          <p:cNvSpPr txBox="1"/>
          <p:nvPr/>
        </p:nvSpPr>
        <p:spPr>
          <a:xfrm>
            <a:off x="8174736" y="4462272"/>
            <a:ext cx="3346703" cy="384048"/>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31,630</a:t>
            </a:r>
          </a:p>
        </p:txBody>
      </p:sp>
      <p:sp>
        <p:nvSpPr>
          <p:cNvPr id="40" name="Rectangle 39"/>
          <p:cNvSpPr/>
          <p:nvPr/>
        </p:nvSpPr>
        <p:spPr>
          <a:xfrm>
            <a:off x="566928" y="4846320"/>
            <a:ext cx="11064240" cy="38404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76656" y="4846320"/>
            <a:ext cx="3621024" cy="384048"/>
          </a:xfrm>
          <a:prstGeom prst="rect">
            <a:avLst/>
          </a:prstGeom>
          <a:noFill/>
        </p:spPr>
        <p:txBody>
          <a:bodyPr wrap="square" lIns="0" rIns="0" tIns="0" bIns="0" anchor="ctr">
            <a:spAutoFit/>
          </a:bodyPr>
          <a:lstStyle/>
          <a:p>
            <a:pPr algn="l">
              <a:lnSpc>
                <a:spcPct val="100000"/>
              </a:lnSpc>
              <a:spcAft>
                <a:spcPts val="0"/>
              </a:spcAft>
              <a:defRPr sz="1150" b="1">
                <a:solidFill>
                  <a:srgbClr val="405D7B"/>
                </a:solidFill>
                <a:latin typeface="Meiryo"/>
              </a:defRPr>
            </a:pPr>
            <a:r>
              <a:rPr sz="1150" b="1">
                <a:solidFill>
                  <a:srgbClr val="405D7B"/>
                </a:solidFill>
                <a:latin typeface="Meiryo"/>
              </a:rPr>
              <a:t>お問い合わせ</a:t>
            </a:r>
          </a:p>
        </p:txBody>
      </p:sp>
      <p:sp>
        <p:nvSpPr>
          <p:cNvPr id="42" name="TextBox 41"/>
          <p:cNvSpPr txBox="1"/>
          <p:nvPr/>
        </p:nvSpPr>
        <p:spPr>
          <a:xfrm>
            <a:off x="4517136" y="4846320"/>
            <a:ext cx="3438144" cy="384048"/>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19件</a:t>
            </a:r>
          </a:p>
        </p:txBody>
      </p:sp>
      <p:sp>
        <p:nvSpPr>
          <p:cNvPr id="43" name="TextBox 42"/>
          <p:cNvSpPr txBox="1"/>
          <p:nvPr/>
        </p:nvSpPr>
        <p:spPr>
          <a:xfrm>
            <a:off x="8174736" y="4846320"/>
            <a:ext cx="3346703" cy="384048"/>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2件</a:t>
            </a:r>
          </a:p>
        </p:txBody>
      </p:sp>
      <p:sp>
        <p:nvSpPr>
          <p:cNvPr id="44" name="Rectangle 43"/>
          <p:cNvSpPr/>
          <p:nvPr/>
        </p:nvSpPr>
        <p:spPr>
          <a:xfrm>
            <a:off x="566928" y="5230368"/>
            <a:ext cx="11064240" cy="384048"/>
          </a:xfrm>
          <a:prstGeom prst="rect">
            <a:avLst/>
          </a:prstGeom>
          <a:solidFill>
            <a:srgbClr val="EE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76656" y="5230368"/>
            <a:ext cx="3621024" cy="384048"/>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お問い合わせ率（CVR）</a:t>
            </a:r>
          </a:p>
        </p:txBody>
      </p:sp>
      <p:sp>
        <p:nvSpPr>
          <p:cNvPr id="46" name="TextBox 45"/>
          <p:cNvSpPr txBox="1"/>
          <p:nvPr/>
        </p:nvSpPr>
        <p:spPr>
          <a:xfrm>
            <a:off x="4517136" y="5230368"/>
            <a:ext cx="3438144" cy="384048"/>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0.037%</a:t>
            </a:r>
          </a:p>
        </p:txBody>
      </p:sp>
      <p:sp>
        <p:nvSpPr>
          <p:cNvPr id="47" name="TextBox 46"/>
          <p:cNvSpPr txBox="1"/>
          <p:nvPr/>
        </p:nvSpPr>
        <p:spPr>
          <a:xfrm>
            <a:off x="8174736" y="5230368"/>
            <a:ext cx="3346703" cy="384048"/>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0.006%</a:t>
            </a:r>
          </a:p>
        </p:txBody>
      </p:sp>
      <p:sp>
        <p:nvSpPr>
          <p:cNvPr id="48" name="Rectangle 47"/>
          <p:cNvSpPr/>
          <p:nvPr/>
        </p:nvSpPr>
        <p:spPr>
          <a:xfrm>
            <a:off x="566928" y="5614416"/>
            <a:ext cx="11064240" cy="38404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76656" y="5614416"/>
            <a:ext cx="3621024" cy="384048"/>
          </a:xfrm>
          <a:prstGeom prst="rect">
            <a:avLst/>
          </a:prstGeom>
          <a:noFill/>
        </p:spPr>
        <p:txBody>
          <a:bodyPr wrap="square" lIns="0" rIns="0" tIns="0" bIns="0" anchor="ctr">
            <a:spAutoFit/>
          </a:bodyPr>
          <a:lstStyle/>
          <a:p>
            <a:pPr algn="l">
              <a:lnSpc>
                <a:spcPct val="100000"/>
              </a:lnSpc>
              <a:spcAft>
                <a:spcPts val="0"/>
              </a:spcAft>
              <a:defRPr sz="1150" b="1">
                <a:solidFill>
                  <a:srgbClr val="405D7B"/>
                </a:solidFill>
                <a:latin typeface="Meiryo"/>
              </a:defRPr>
            </a:pPr>
            <a:r>
              <a:rPr sz="1150" b="1">
                <a:solidFill>
                  <a:srgbClr val="405D7B"/>
                </a:solidFill>
                <a:latin typeface="Meiryo"/>
              </a:rPr>
              <a:t>獲得単価</a:t>
            </a:r>
          </a:p>
        </p:txBody>
      </p:sp>
      <p:sp>
        <p:nvSpPr>
          <p:cNvPr id="50" name="TextBox 49"/>
          <p:cNvSpPr txBox="1"/>
          <p:nvPr/>
        </p:nvSpPr>
        <p:spPr>
          <a:xfrm>
            <a:off x="4517136" y="5614416"/>
            <a:ext cx="3438144" cy="384048"/>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¥105,789</a:t>
            </a:r>
          </a:p>
        </p:txBody>
      </p:sp>
      <p:sp>
        <p:nvSpPr>
          <p:cNvPr id="51" name="TextBox 50"/>
          <p:cNvSpPr txBox="1"/>
          <p:nvPr/>
        </p:nvSpPr>
        <p:spPr>
          <a:xfrm>
            <a:off x="8174736" y="5614416"/>
            <a:ext cx="3346703" cy="384048"/>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¥490,000</a:t>
            </a:r>
          </a:p>
        </p:txBody>
      </p:sp>
      <p:sp>
        <p:nvSpPr>
          <p:cNvPr id="52" name="TextBox 51"/>
          <p:cNvSpPr txBox="1"/>
          <p:nvPr/>
        </p:nvSpPr>
        <p:spPr>
          <a:xfrm>
            <a:off x="566928" y="5943600"/>
            <a:ext cx="11064240" cy="365760"/>
          </a:xfrm>
          <a:prstGeom prst="rect">
            <a:avLst/>
          </a:prstGeom>
          <a:noFill/>
        </p:spPr>
        <p:txBody>
          <a:bodyPr wrap="square" lIns="0" rIns="0" tIns="0" bIns="0" anchor="t">
            <a:spAutoFit/>
          </a:bodyPr>
          <a:lstStyle/>
          <a:p>
            <a:pPr algn="l">
              <a:lnSpc>
                <a:spcPct val="135000"/>
              </a:lnSpc>
              <a:spcAft>
                <a:spcPts val="300"/>
              </a:spcAft>
              <a:defRPr sz="950" b="0">
                <a:solidFill>
                  <a:srgbClr val="8A929C"/>
                </a:solidFill>
                <a:latin typeface="Meiryo"/>
              </a:defRPr>
            </a:pPr>
            <a:r>
              <a:rPr sz="950" b="0">
                <a:solidFill>
                  <a:srgbClr val="8A929C"/>
                </a:solidFill>
                <a:latin typeface="Meiryo"/>
              </a:rPr>
              <a:t>〈実測〉ご請求額＝弊社基幹システム／集客＝GA4／お問い合わせ＝通知メールの実件数（スパム・テスト送信を除外）。</a:t>
            </a:r>
          </a:p>
          <a:p>
            <a:pPr algn="l">
              <a:lnSpc>
                <a:spcPct val="135000"/>
              </a:lnSpc>
              <a:spcAft>
                <a:spcPts val="300"/>
              </a:spcAft>
              <a:defRPr sz="950" b="0">
                <a:solidFill>
                  <a:srgbClr val="8A929C"/>
                </a:solidFill>
                <a:latin typeface="Meiryo"/>
              </a:defRPr>
            </a:pPr>
            <a:r>
              <a:rPr sz="950" b="0">
                <a:solidFill>
                  <a:srgbClr val="8A929C"/>
                </a:solidFill>
                <a:latin typeface="Meiryo"/>
              </a:rPr>
              <a:t>比較期間はお問い合わせの実データが確認できている期間に揃え、2026年4月（LP刷新期間）は除外しています。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57200"/>
            <a:ext cx="82296" cy="237744"/>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31520" y="438912"/>
            <a:ext cx="10515600" cy="274320"/>
          </a:xfrm>
          <a:prstGeom prst="rect">
            <a:avLst/>
          </a:prstGeom>
          <a:noFill/>
        </p:spPr>
        <p:txBody>
          <a:bodyPr wrap="square" lIns="0" rIns="0" tIns="0" bIns="0" anchor="t">
            <a:spAutoFit/>
          </a:bodyPr>
          <a:lstStyle/>
          <a:p>
            <a:pPr algn="l">
              <a:lnSpc>
                <a:spcPct val="135000"/>
              </a:lnSpc>
              <a:spcAft>
                <a:spcPts val="300"/>
              </a:spcAft>
              <a:defRPr sz="1150" b="1">
                <a:solidFill>
                  <a:srgbClr val="405D7B"/>
                </a:solidFill>
                <a:latin typeface="Meiryo"/>
              </a:defRPr>
            </a:pPr>
            <a:r>
              <a:rPr sz="1150" b="1">
                <a:solidFill>
                  <a:srgbClr val="405D7B"/>
                </a:solidFill>
                <a:latin typeface="Meiryo"/>
              </a:rPr>
              <a:t>1 成果</a:t>
            </a:r>
          </a:p>
        </p:txBody>
      </p:sp>
      <p:sp>
        <p:nvSpPr>
          <p:cNvPr id="4" name="TextBox 3"/>
          <p:cNvSpPr txBox="1"/>
          <p:nvPr/>
        </p:nvSpPr>
        <p:spPr>
          <a:xfrm>
            <a:off x="530352" y="731520"/>
            <a:ext cx="10972800" cy="566928"/>
          </a:xfrm>
          <a:prstGeom prst="rect">
            <a:avLst/>
          </a:prstGeom>
          <a:noFill/>
        </p:spPr>
        <p:txBody>
          <a:bodyPr wrap="square" lIns="0" rIns="0" tIns="0" bIns="0" anchor="t">
            <a:spAutoFit/>
          </a:bodyPr>
          <a:lstStyle/>
          <a:p>
            <a:pPr algn="l">
              <a:lnSpc>
                <a:spcPct val="115000"/>
              </a:lnSpc>
              <a:spcAft>
                <a:spcPts val="300"/>
              </a:spcAft>
              <a:defRPr sz="2700" b="1">
                <a:solidFill>
                  <a:srgbClr val="2A2E33"/>
                </a:solidFill>
                <a:latin typeface="Meiryo"/>
              </a:defRPr>
            </a:pPr>
            <a:r>
              <a:rPr sz="2700" b="1">
                <a:solidFill>
                  <a:srgbClr val="2A2E33"/>
                </a:solidFill>
                <a:latin typeface="Meiryo"/>
              </a:rPr>
              <a:t>月次推移 ── 最良月は2026年3月</a:t>
            </a:r>
          </a:p>
        </p:txBody>
      </p:sp>
      <p:sp>
        <p:nvSpPr>
          <p:cNvPr id="5" name="Rectangle 4"/>
          <p:cNvSpPr/>
          <p:nvPr/>
        </p:nvSpPr>
        <p:spPr>
          <a:xfrm>
            <a:off x="566928" y="1399032"/>
            <a:ext cx="1600200" cy="45720"/>
          </a:xfrm>
          <a:prstGeom prst="rect">
            <a:avLst/>
          </a:prstGeom>
          <a:solidFill>
            <a:srgbClr val="334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6928" y="1417320"/>
            <a:ext cx="11064240" cy="9144"/>
          </a:xfrm>
          <a:prstGeom prst="rect">
            <a:avLst/>
          </a:prstGeom>
          <a:solidFill>
            <a:srgbClr val="E2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338560" y="6510528"/>
            <a:ext cx="640080" cy="274320"/>
          </a:xfrm>
          <a:prstGeom prst="rect">
            <a:avLst/>
          </a:prstGeom>
          <a:noFill/>
        </p:spPr>
        <p:txBody>
          <a:bodyPr wrap="square" lIns="0" rIns="0" tIns="0" bIns="0" anchor="t">
            <a:spAutoFit/>
          </a:bodyPr>
          <a:lstStyle/>
          <a:p>
            <a:pPr algn="r">
              <a:lnSpc>
                <a:spcPct val="135000"/>
              </a:lnSpc>
              <a:spcAft>
                <a:spcPts val="300"/>
              </a:spcAft>
              <a:defRPr sz="1050" b="0">
                <a:solidFill>
                  <a:srgbClr val="8A929C"/>
                </a:solidFill>
                <a:latin typeface="Meiryo"/>
              </a:defRPr>
            </a:pPr>
            <a:r>
              <a:rPr sz="1050" b="0">
                <a:solidFill>
                  <a:srgbClr val="8A929C"/>
                </a:solidFill>
                <a:latin typeface="Meiryo"/>
              </a:rPr>
              <a:t>06</a:t>
            </a:r>
          </a:p>
        </p:txBody>
      </p:sp>
      <p:sp>
        <p:nvSpPr>
          <p:cNvPr id="8" name="TextBox 7"/>
          <p:cNvSpPr txBox="1"/>
          <p:nvPr/>
        </p:nvSpPr>
        <p:spPr>
          <a:xfrm>
            <a:off x="566928" y="1536192"/>
            <a:ext cx="11064240" cy="274320"/>
          </a:xfrm>
          <a:prstGeom prst="rect">
            <a:avLst/>
          </a:prstGeom>
          <a:noFill/>
        </p:spPr>
        <p:txBody>
          <a:bodyPr wrap="square" lIns="0" rIns="0" tIns="0" bIns="0" anchor="t">
            <a:spAutoFit/>
          </a:bodyPr>
          <a:lstStyle/>
          <a:p>
            <a:pPr algn="l">
              <a:lnSpc>
                <a:spcPct val="135000"/>
              </a:lnSpc>
              <a:spcAft>
                <a:spcPts val="300"/>
              </a:spcAft>
              <a:defRPr sz="1150" b="0">
                <a:solidFill>
                  <a:srgbClr val="8A929C"/>
                </a:solidFill>
                <a:latin typeface="Meiryo"/>
              </a:defRPr>
            </a:pPr>
            <a:r>
              <a:rPr sz="1150" b="0">
                <a:solidFill>
                  <a:srgbClr val="8A929C"/>
                </a:solidFill>
                <a:latin typeface="Meiryo"/>
              </a:rPr>
              <a:t>第1期は月を追うごとに改善していました。2026年1月2件 → 2月3件 → 3月5件。</a:t>
            </a:r>
          </a:p>
        </p:txBody>
      </p:sp>
      <p:graphicFrame>
        <p:nvGraphicFramePr>
          <p:cNvPr id="9" name="Chart 8"/>
          <p:cNvGraphicFramePr>
            <a:graphicFrameLocks noGrp="1"/>
          </p:cNvGraphicFramePr>
          <p:nvPr/>
        </p:nvGraphicFramePr>
        <p:xfrm>
          <a:off x="566928" y="1956815"/>
          <a:ext cx="11064240" cy="2697480"/>
        </p:xfrm>
        <a:graphic>
          <a:graphicData uri="http://schemas.openxmlformats.org/drawingml/2006/chart">
            <c:chart xmlns:c="http://schemas.openxmlformats.org/drawingml/2006/chart" r:id="rId2"/>
          </a:graphicData>
        </a:graphic>
      </p:graphicFrame>
      <p:sp>
        <p:nvSpPr>
          <p:cNvPr id="10" name="Rectangle 9"/>
          <p:cNvSpPr/>
          <p:nvPr/>
        </p:nvSpPr>
        <p:spPr>
          <a:xfrm>
            <a:off x="566928" y="4846320"/>
            <a:ext cx="11064240" cy="365760"/>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76656" y="4846320"/>
            <a:ext cx="1792224" cy="365760"/>
          </a:xfrm>
          <a:prstGeom prst="rect">
            <a:avLst/>
          </a:prstGeom>
          <a:noFill/>
        </p:spPr>
        <p:txBody>
          <a:bodyPr wrap="square" lIns="0" rIns="0" tIns="0" bIns="0" anchor="ctr">
            <a:spAutoFit/>
          </a:bodyPr>
          <a:lstStyle/>
          <a:p>
            <a:pPr algn="l">
              <a:lnSpc>
                <a:spcPct val="100000"/>
              </a:lnSpc>
              <a:spcAft>
                <a:spcPts val="0"/>
              </a:spcAft>
              <a:defRPr sz="1050" b="1">
                <a:solidFill>
                  <a:srgbClr val="FFFFFF"/>
                </a:solidFill>
                <a:latin typeface="Meiryo"/>
              </a:defRPr>
            </a:pPr>
            <a:r>
              <a:rPr sz="1050" b="1">
                <a:solidFill>
                  <a:srgbClr val="FFFFFF"/>
                </a:solidFill>
                <a:latin typeface="Meiryo"/>
              </a:rPr>
              <a:t>月</a:t>
            </a:r>
          </a:p>
        </p:txBody>
      </p:sp>
      <p:sp>
        <p:nvSpPr>
          <p:cNvPr id="12" name="TextBox 11"/>
          <p:cNvSpPr txBox="1"/>
          <p:nvPr/>
        </p:nvSpPr>
        <p:spPr>
          <a:xfrm>
            <a:off x="2688336" y="4846320"/>
            <a:ext cx="603504" cy="365760"/>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25/8</a:t>
            </a:r>
          </a:p>
        </p:txBody>
      </p:sp>
      <p:sp>
        <p:nvSpPr>
          <p:cNvPr id="13" name="TextBox 12"/>
          <p:cNvSpPr txBox="1"/>
          <p:nvPr/>
        </p:nvSpPr>
        <p:spPr>
          <a:xfrm>
            <a:off x="3511296" y="4846320"/>
            <a:ext cx="603504" cy="365760"/>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25/9</a:t>
            </a:r>
          </a:p>
        </p:txBody>
      </p:sp>
      <p:sp>
        <p:nvSpPr>
          <p:cNvPr id="14" name="TextBox 13"/>
          <p:cNvSpPr txBox="1"/>
          <p:nvPr/>
        </p:nvSpPr>
        <p:spPr>
          <a:xfrm>
            <a:off x="4334256" y="4846320"/>
            <a:ext cx="603504" cy="365760"/>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25/10</a:t>
            </a:r>
          </a:p>
        </p:txBody>
      </p:sp>
      <p:sp>
        <p:nvSpPr>
          <p:cNvPr id="15" name="TextBox 14"/>
          <p:cNvSpPr txBox="1"/>
          <p:nvPr/>
        </p:nvSpPr>
        <p:spPr>
          <a:xfrm>
            <a:off x="5157216" y="4846320"/>
            <a:ext cx="603504" cy="365760"/>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25/11</a:t>
            </a:r>
          </a:p>
        </p:txBody>
      </p:sp>
      <p:sp>
        <p:nvSpPr>
          <p:cNvPr id="16" name="TextBox 15"/>
          <p:cNvSpPr txBox="1"/>
          <p:nvPr/>
        </p:nvSpPr>
        <p:spPr>
          <a:xfrm>
            <a:off x="5980176" y="4846320"/>
            <a:ext cx="603504" cy="365760"/>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25/12</a:t>
            </a:r>
          </a:p>
        </p:txBody>
      </p:sp>
      <p:sp>
        <p:nvSpPr>
          <p:cNvPr id="17" name="TextBox 16"/>
          <p:cNvSpPr txBox="1"/>
          <p:nvPr/>
        </p:nvSpPr>
        <p:spPr>
          <a:xfrm>
            <a:off x="6803136" y="4846320"/>
            <a:ext cx="603504" cy="365760"/>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26/1</a:t>
            </a:r>
          </a:p>
        </p:txBody>
      </p:sp>
      <p:sp>
        <p:nvSpPr>
          <p:cNvPr id="18" name="TextBox 17"/>
          <p:cNvSpPr txBox="1"/>
          <p:nvPr/>
        </p:nvSpPr>
        <p:spPr>
          <a:xfrm>
            <a:off x="7626096" y="4846320"/>
            <a:ext cx="603504" cy="365760"/>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26/2</a:t>
            </a:r>
          </a:p>
        </p:txBody>
      </p:sp>
      <p:sp>
        <p:nvSpPr>
          <p:cNvPr id="19" name="TextBox 18"/>
          <p:cNvSpPr txBox="1"/>
          <p:nvPr/>
        </p:nvSpPr>
        <p:spPr>
          <a:xfrm>
            <a:off x="8449056" y="4846320"/>
            <a:ext cx="603504" cy="365760"/>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26/3</a:t>
            </a:r>
          </a:p>
        </p:txBody>
      </p:sp>
      <p:sp>
        <p:nvSpPr>
          <p:cNvPr id="20" name="TextBox 19"/>
          <p:cNvSpPr txBox="1"/>
          <p:nvPr/>
        </p:nvSpPr>
        <p:spPr>
          <a:xfrm>
            <a:off x="9272016" y="4846320"/>
            <a:ext cx="603504" cy="365760"/>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26/5</a:t>
            </a:r>
          </a:p>
        </p:txBody>
      </p:sp>
      <p:sp>
        <p:nvSpPr>
          <p:cNvPr id="21" name="TextBox 20"/>
          <p:cNvSpPr txBox="1"/>
          <p:nvPr/>
        </p:nvSpPr>
        <p:spPr>
          <a:xfrm>
            <a:off x="10094976" y="4846320"/>
            <a:ext cx="603504" cy="365760"/>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26/6</a:t>
            </a:r>
          </a:p>
        </p:txBody>
      </p:sp>
      <p:sp>
        <p:nvSpPr>
          <p:cNvPr id="22" name="TextBox 21"/>
          <p:cNvSpPr txBox="1"/>
          <p:nvPr/>
        </p:nvSpPr>
        <p:spPr>
          <a:xfrm>
            <a:off x="10917936" y="4846320"/>
            <a:ext cx="603504" cy="365760"/>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26/7</a:t>
            </a:r>
          </a:p>
        </p:txBody>
      </p:sp>
      <p:sp>
        <p:nvSpPr>
          <p:cNvPr id="23" name="Rectangle 22"/>
          <p:cNvSpPr/>
          <p:nvPr/>
        </p:nvSpPr>
        <p:spPr>
          <a:xfrm>
            <a:off x="566928" y="5212080"/>
            <a:ext cx="1106424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76656" y="5212080"/>
            <a:ext cx="1792224" cy="365760"/>
          </a:xfrm>
          <a:prstGeom prst="rect">
            <a:avLst/>
          </a:prstGeom>
          <a:noFill/>
        </p:spPr>
        <p:txBody>
          <a:bodyPr wrap="square" lIns="0" rIns="0" tIns="0" bIns="0" anchor="ctr">
            <a:spAutoFit/>
          </a:bodyPr>
          <a:lstStyle/>
          <a:p>
            <a:pPr algn="l">
              <a:lnSpc>
                <a:spcPct val="100000"/>
              </a:lnSpc>
              <a:spcAft>
                <a:spcPts val="0"/>
              </a:spcAft>
              <a:defRPr sz="1050" b="0">
                <a:solidFill>
                  <a:srgbClr val="454B52"/>
                </a:solidFill>
                <a:latin typeface="Meiryo"/>
              </a:defRPr>
            </a:pPr>
            <a:r>
              <a:rPr sz="1050" b="0">
                <a:solidFill>
                  <a:srgbClr val="454B52"/>
                </a:solidFill>
                <a:latin typeface="Meiryo"/>
              </a:rPr>
              <a:t>ご請求額（千円）</a:t>
            </a:r>
          </a:p>
        </p:txBody>
      </p:sp>
      <p:sp>
        <p:nvSpPr>
          <p:cNvPr id="25" name="TextBox 24"/>
          <p:cNvSpPr txBox="1"/>
          <p:nvPr/>
        </p:nvSpPr>
        <p:spPr>
          <a:xfrm>
            <a:off x="2688336" y="5212080"/>
            <a:ext cx="603504" cy="36576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300</a:t>
            </a:r>
          </a:p>
        </p:txBody>
      </p:sp>
      <p:sp>
        <p:nvSpPr>
          <p:cNvPr id="26" name="TextBox 25"/>
          <p:cNvSpPr txBox="1"/>
          <p:nvPr/>
        </p:nvSpPr>
        <p:spPr>
          <a:xfrm>
            <a:off x="3511296" y="5212080"/>
            <a:ext cx="603504" cy="36576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300</a:t>
            </a:r>
          </a:p>
        </p:txBody>
      </p:sp>
      <p:sp>
        <p:nvSpPr>
          <p:cNvPr id="27" name="TextBox 26"/>
          <p:cNvSpPr txBox="1"/>
          <p:nvPr/>
        </p:nvSpPr>
        <p:spPr>
          <a:xfrm>
            <a:off x="4334256" y="5212080"/>
            <a:ext cx="603504" cy="36576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280</a:t>
            </a:r>
          </a:p>
        </p:txBody>
      </p:sp>
      <p:sp>
        <p:nvSpPr>
          <p:cNvPr id="28" name="TextBox 27"/>
          <p:cNvSpPr txBox="1"/>
          <p:nvPr/>
        </p:nvSpPr>
        <p:spPr>
          <a:xfrm>
            <a:off x="5157216" y="5212080"/>
            <a:ext cx="603504" cy="36576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100</a:t>
            </a:r>
          </a:p>
        </p:txBody>
      </p:sp>
      <p:sp>
        <p:nvSpPr>
          <p:cNvPr id="29" name="TextBox 28"/>
          <p:cNvSpPr txBox="1"/>
          <p:nvPr/>
        </p:nvSpPr>
        <p:spPr>
          <a:xfrm>
            <a:off x="5980176" y="5212080"/>
            <a:ext cx="603504" cy="36576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150</a:t>
            </a:r>
          </a:p>
        </p:txBody>
      </p:sp>
      <p:sp>
        <p:nvSpPr>
          <p:cNvPr id="30" name="TextBox 29"/>
          <p:cNvSpPr txBox="1"/>
          <p:nvPr/>
        </p:nvSpPr>
        <p:spPr>
          <a:xfrm>
            <a:off x="6803136" y="5212080"/>
            <a:ext cx="603504" cy="36576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330</a:t>
            </a:r>
          </a:p>
        </p:txBody>
      </p:sp>
      <p:sp>
        <p:nvSpPr>
          <p:cNvPr id="31" name="TextBox 30"/>
          <p:cNvSpPr txBox="1"/>
          <p:nvPr/>
        </p:nvSpPr>
        <p:spPr>
          <a:xfrm>
            <a:off x="7626096" y="5212080"/>
            <a:ext cx="603504" cy="36576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300</a:t>
            </a:r>
          </a:p>
        </p:txBody>
      </p:sp>
      <p:sp>
        <p:nvSpPr>
          <p:cNvPr id="32" name="TextBox 31"/>
          <p:cNvSpPr txBox="1"/>
          <p:nvPr/>
        </p:nvSpPr>
        <p:spPr>
          <a:xfrm>
            <a:off x="8449056" y="5212080"/>
            <a:ext cx="603504" cy="365760"/>
          </a:xfrm>
          <a:prstGeom prst="rect">
            <a:avLst/>
          </a:prstGeom>
          <a:noFill/>
        </p:spPr>
        <p:txBody>
          <a:bodyPr wrap="square" lIns="0" rIns="0" tIns="0" bIns="0" anchor="ctr">
            <a:spAutoFit/>
          </a:bodyPr>
          <a:lstStyle/>
          <a:p>
            <a:pPr algn="r">
              <a:lnSpc>
                <a:spcPct val="100000"/>
              </a:lnSpc>
              <a:spcAft>
                <a:spcPts val="0"/>
              </a:spcAft>
              <a:defRPr sz="1050" b="1">
                <a:solidFill>
                  <a:srgbClr val="405D7B"/>
                </a:solidFill>
                <a:latin typeface="Meiryo"/>
              </a:defRPr>
            </a:pPr>
            <a:r>
              <a:rPr sz="1050" b="1">
                <a:solidFill>
                  <a:srgbClr val="405D7B"/>
                </a:solidFill>
                <a:latin typeface="Meiryo"/>
              </a:rPr>
              <a:t>250</a:t>
            </a:r>
          </a:p>
        </p:txBody>
      </p:sp>
      <p:sp>
        <p:nvSpPr>
          <p:cNvPr id="33" name="TextBox 32"/>
          <p:cNvSpPr txBox="1"/>
          <p:nvPr/>
        </p:nvSpPr>
        <p:spPr>
          <a:xfrm>
            <a:off x="9272016" y="5212080"/>
            <a:ext cx="603504" cy="36576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300</a:t>
            </a:r>
          </a:p>
        </p:txBody>
      </p:sp>
      <p:sp>
        <p:nvSpPr>
          <p:cNvPr id="34" name="TextBox 33"/>
          <p:cNvSpPr txBox="1"/>
          <p:nvPr/>
        </p:nvSpPr>
        <p:spPr>
          <a:xfrm>
            <a:off x="10094976" y="5212080"/>
            <a:ext cx="603504" cy="36576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380</a:t>
            </a:r>
          </a:p>
        </p:txBody>
      </p:sp>
      <p:sp>
        <p:nvSpPr>
          <p:cNvPr id="35" name="TextBox 34"/>
          <p:cNvSpPr txBox="1"/>
          <p:nvPr/>
        </p:nvSpPr>
        <p:spPr>
          <a:xfrm>
            <a:off x="10917936" y="5212080"/>
            <a:ext cx="603504" cy="36576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300</a:t>
            </a:r>
          </a:p>
        </p:txBody>
      </p:sp>
      <p:sp>
        <p:nvSpPr>
          <p:cNvPr id="36" name="Rectangle 35"/>
          <p:cNvSpPr/>
          <p:nvPr/>
        </p:nvSpPr>
        <p:spPr>
          <a:xfrm>
            <a:off x="566928" y="5577840"/>
            <a:ext cx="11064240" cy="365760"/>
          </a:xfrm>
          <a:prstGeom prst="rect">
            <a:avLst/>
          </a:prstGeom>
          <a:solidFill>
            <a:srgbClr val="EE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76656" y="5577840"/>
            <a:ext cx="1792224" cy="365760"/>
          </a:xfrm>
          <a:prstGeom prst="rect">
            <a:avLst/>
          </a:prstGeom>
          <a:noFill/>
        </p:spPr>
        <p:txBody>
          <a:bodyPr wrap="square" lIns="0" rIns="0" tIns="0" bIns="0" anchor="ctr">
            <a:spAutoFit/>
          </a:bodyPr>
          <a:lstStyle/>
          <a:p>
            <a:pPr algn="l">
              <a:lnSpc>
                <a:spcPct val="100000"/>
              </a:lnSpc>
              <a:spcAft>
                <a:spcPts val="0"/>
              </a:spcAft>
              <a:defRPr sz="1050" b="0">
                <a:solidFill>
                  <a:srgbClr val="454B52"/>
                </a:solidFill>
                <a:latin typeface="Meiryo"/>
              </a:defRPr>
            </a:pPr>
            <a:r>
              <a:rPr sz="1050" b="0">
                <a:solidFill>
                  <a:srgbClr val="454B52"/>
                </a:solidFill>
                <a:latin typeface="Meiryo"/>
              </a:rPr>
              <a:t>獲得単価（千円）</a:t>
            </a:r>
          </a:p>
        </p:txBody>
      </p:sp>
      <p:sp>
        <p:nvSpPr>
          <p:cNvPr id="38" name="TextBox 37"/>
          <p:cNvSpPr txBox="1"/>
          <p:nvPr/>
        </p:nvSpPr>
        <p:spPr>
          <a:xfrm>
            <a:off x="2688336" y="5577840"/>
            <a:ext cx="603504" cy="36576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300</a:t>
            </a:r>
          </a:p>
        </p:txBody>
      </p:sp>
      <p:sp>
        <p:nvSpPr>
          <p:cNvPr id="39" name="TextBox 38"/>
          <p:cNvSpPr txBox="1"/>
          <p:nvPr/>
        </p:nvSpPr>
        <p:spPr>
          <a:xfrm>
            <a:off x="3511296" y="5577840"/>
            <a:ext cx="603504" cy="36576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100</a:t>
            </a:r>
          </a:p>
        </p:txBody>
      </p:sp>
      <p:sp>
        <p:nvSpPr>
          <p:cNvPr id="40" name="TextBox 39"/>
          <p:cNvSpPr txBox="1"/>
          <p:nvPr/>
        </p:nvSpPr>
        <p:spPr>
          <a:xfrm>
            <a:off x="4334256" y="5577840"/>
            <a:ext cx="603504" cy="36576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93</a:t>
            </a:r>
          </a:p>
        </p:txBody>
      </p:sp>
      <p:sp>
        <p:nvSpPr>
          <p:cNvPr id="41" name="TextBox 40"/>
          <p:cNvSpPr txBox="1"/>
          <p:nvPr/>
        </p:nvSpPr>
        <p:spPr>
          <a:xfrm>
            <a:off x="5157216" y="5577840"/>
            <a:ext cx="603504" cy="36576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a:t>
            </a:r>
          </a:p>
        </p:txBody>
      </p:sp>
      <p:sp>
        <p:nvSpPr>
          <p:cNvPr id="42" name="TextBox 41"/>
          <p:cNvSpPr txBox="1"/>
          <p:nvPr/>
        </p:nvSpPr>
        <p:spPr>
          <a:xfrm>
            <a:off x="5980176" y="5577840"/>
            <a:ext cx="603504" cy="36576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75</a:t>
            </a:r>
          </a:p>
        </p:txBody>
      </p:sp>
      <p:sp>
        <p:nvSpPr>
          <p:cNvPr id="43" name="TextBox 42"/>
          <p:cNvSpPr txBox="1"/>
          <p:nvPr/>
        </p:nvSpPr>
        <p:spPr>
          <a:xfrm>
            <a:off x="6803136" y="5577840"/>
            <a:ext cx="603504" cy="36576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165</a:t>
            </a:r>
          </a:p>
        </p:txBody>
      </p:sp>
      <p:sp>
        <p:nvSpPr>
          <p:cNvPr id="44" name="TextBox 43"/>
          <p:cNvSpPr txBox="1"/>
          <p:nvPr/>
        </p:nvSpPr>
        <p:spPr>
          <a:xfrm>
            <a:off x="7626096" y="5577840"/>
            <a:ext cx="603504" cy="36576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100</a:t>
            </a:r>
          </a:p>
        </p:txBody>
      </p:sp>
      <p:sp>
        <p:nvSpPr>
          <p:cNvPr id="45" name="TextBox 44"/>
          <p:cNvSpPr txBox="1"/>
          <p:nvPr/>
        </p:nvSpPr>
        <p:spPr>
          <a:xfrm>
            <a:off x="8449056" y="5577840"/>
            <a:ext cx="603504" cy="365760"/>
          </a:xfrm>
          <a:prstGeom prst="rect">
            <a:avLst/>
          </a:prstGeom>
          <a:noFill/>
        </p:spPr>
        <p:txBody>
          <a:bodyPr wrap="square" lIns="0" rIns="0" tIns="0" bIns="0" anchor="ctr">
            <a:spAutoFit/>
          </a:bodyPr>
          <a:lstStyle/>
          <a:p>
            <a:pPr algn="r">
              <a:lnSpc>
                <a:spcPct val="100000"/>
              </a:lnSpc>
              <a:spcAft>
                <a:spcPts val="0"/>
              </a:spcAft>
              <a:defRPr sz="1050" b="1">
                <a:solidFill>
                  <a:srgbClr val="405D7B"/>
                </a:solidFill>
                <a:latin typeface="Meiryo"/>
              </a:defRPr>
            </a:pPr>
            <a:r>
              <a:rPr sz="1050" b="1">
                <a:solidFill>
                  <a:srgbClr val="405D7B"/>
                </a:solidFill>
                <a:latin typeface="Meiryo"/>
              </a:rPr>
              <a:t>50</a:t>
            </a:r>
          </a:p>
        </p:txBody>
      </p:sp>
      <p:sp>
        <p:nvSpPr>
          <p:cNvPr id="46" name="TextBox 45"/>
          <p:cNvSpPr txBox="1"/>
          <p:nvPr/>
        </p:nvSpPr>
        <p:spPr>
          <a:xfrm>
            <a:off x="9272016" y="5577840"/>
            <a:ext cx="603504" cy="36576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300</a:t>
            </a:r>
          </a:p>
        </p:txBody>
      </p:sp>
      <p:sp>
        <p:nvSpPr>
          <p:cNvPr id="47" name="TextBox 46"/>
          <p:cNvSpPr txBox="1"/>
          <p:nvPr/>
        </p:nvSpPr>
        <p:spPr>
          <a:xfrm>
            <a:off x="10094976" y="5577840"/>
            <a:ext cx="603504" cy="36576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380</a:t>
            </a:r>
          </a:p>
        </p:txBody>
      </p:sp>
      <p:sp>
        <p:nvSpPr>
          <p:cNvPr id="48" name="TextBox 47"/>
          <p:cNvSpPr txBox="1"/>
          <p:nvPr/>
        </p:nvSpPr>
        <p:spPr>
          <a:xfrm>
            <a:off x="10917936" y="5577840"/>
            <a:ext cx="603504" cy="36576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a:t>
            </a:r>
          </a:p>
        </p:txBody>
      </p:sp>
      <p:sp>
        <p:nvSpPr>
          <p:cNvPr id="49" name="TextBox 48"/>
          <p:cNvSpPr txBox="1"/>
          <p:nvPr/>
        </p:nvSpPr>
        <p:spPr>
          <a:xfrm>
            <a:off x="566928" y="6053328"/>
            <a:ext cx="11064240" cy="365760"/>
          </a:xfrm>
          <a:prstGeom prst="rect">
            <a:avLst/>
          </a:prstGeom>
          <a:noFill/>
        </p:spPr>
        <p:txBody>
          <a:bodyPr wrap="square" lIns="0" rIns="0" tIns="0" bIns="0" anchor="t">
            <a:spAutoFit/>
          </a:bodyPr>
          <a:lstStyle/>
          <a:p>
            <a:pPr algn="l">
              <a:lnSpc>
                <a:spcPct val="135000"/>
              </a:lnSpc>
              <a:spcAft>
                <a:spcPts val="300"/>
              </a:spcAft>
              <a:defRPr sz="950" b="0">
                <a:solidFill>
                  <a:srgbClr val="8A929C"/>
                </a:solidFill>
                <a:latin typeface="Meiryo"/>
              </a:defRPr>
            </a:pPr>
            <a:r>
              <a:rPr sz="950" b="0">
                <a:solidFill>
                  <a:srgbClr val="8A929C"/>
                </a:solidFill>
                <a:latin typeface="Meiryo"/>
              </a:rPr>
              <a:t>〈実測〉オレンジは全期間で最良の月。〈両論併記〉2025年11月の0件は予算を¥100,000に縮小した月である点を付記します。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57200"/>
            <a:ext cx="82296" cy="237744"/>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31520" y="438912"/>
            <a:ext cx="10515600" cy="274320"/>
          </a:xfrm>
          <a:prstGeom prst="rect">
            <a:avLst/>
          </a:prstGeom>
          <a:noFill/>
        </p:spPr>
        <p:txBody>
          <a:bodyPr wrap="square" lIns="0" rIns="0" tIns="0" bIns="0" anchor="t">
            <a:spAutoFit/>
          </a:bodyPr>
          <a:lstStyle/>
          <a:p>
            <a:pPr algn="l">
              <a:lnSpc>
                <a:spcPct val="135000"/>
              </a:lnSpc>
              <a:spcAft>
                <a:spcPts val="300"/>
              </a:spcAft>
              <a:defRPr sz="1150" b="1">
                <a:solidFill>
                  <a:srgbClr val="405D7B"/>
                </a:solidFill>
                <a:latin typeface="Meiryo"/>
              </a:defRPr>
            </a:pPr>
            <a:r>
              <a:rPr sz="1150" b="1">
                <a:solidFill>
                  <a:srgbClr val="405D7B"/>
                </a:solidFill>
                <a:latin typeface="Meiryo"/>
              </a:rPr>
              <a:t>1 成果</a:t>
            </a:r>
          </a:p>
        </p:txBody>
      </p:sp>
      <p:sp>
        <p:nvSpPr>
          <p:cNvPr id="4" name="TextBox 3"/>
          <p:cNvSpPr txBox="1"/>
          <p:nvPr/>
        </p:nvSpPr>
        <p:spPr>
          <a:xfrm>
            <a:off x="530352" y="731520"/>
            <a:ext cx="10972800" cy="566928"/>
          </a:xfrm>
          <a:prstGeom prst="rect">
            <a:avLst/>
          </a:prstGeom>
          <a:noFill/>
        </p:spPr>
        <p:txBody>
          <a:bodyPr wrap="square" lIns="0" rIns="0" tIns="0" bIns="0" anchor="t">
            <a:spAutoFit/>
          </a:bodyPr>
          <a:lstStyle/>
          <a:p>
            <a:pPr algn="l">
              <a:lnSpc>
                <a:spcPct val="115000"/>
              </a:lnSpc>
              <a:spcAft>
                <a:spcPts val="300"/>
              </a:spcAft>
              <a:defRPr sz="2700" b="1">
                <a:solidFill>
                  <a:srgbClr val="2A2E33"/>
                </a:solidFill>
                <a:latin typeface="Meiryo"/>
              </a:defRPr>
            </a:pPr>
            <a:r>
              <a:rPr sz="2700" b="1">
                <a:solidFill>
                  <a:srgbClr val="2A2E33"/>
                </a:solidFill>
                <a:latin typeface="Meiryo"/>
              </a:rPr>
              <a:t>件数だけでなく、見込み度も下がっています</a:t>
            </a:r>
          </a:p>
        </p:txBody>
      </p:sp>
      <p:sp>
        <p:nvSpPr>
          <p:cNvPr id="5" name="Rectangle 4"/>
          <p:cNvSpPr/>
          <p:nvPr/>
        </p:nvSpPr>
        <p:spPr>
          <a:xfrm>
            <a:off x="566928" y="1399032"/>
            <a:ext cx="1600200" cy="45720"/>
          </a:xfrm>
          <a:prstGeom prst="rect">
            <a:avLst/>
          </a:prstGeom>
          <a:solidFill>
            <a:srgbClr val="334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6928" y="1417320"/>
            <a:ext cx="11064240" cy="9144"/>
          </a:xfrm>
          <a:prstGeom prst="rect">
            <a:avLst/>
          </a:prstGeom>
          <a:solidFill>
            <a:srgbClr val="E2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338560" y="6510528"/>
            <a:ext cx="640080" cy="274320"/>
          </a:xfrm>
          <a:prstGeom prst="rect">
            <a:avLst/>
          </a:prstGeom>
          <a:noFill/>
        </p:spPr>
        <p:txBody>
          <a:bodyPr wrap="square" lIns="0" rIns="0" tIns="0" bIns="0" anchor="t">
            <a:spAutoFit/>
          </a:bodyPr>
          <a:lstStyle/>
          <a:p>
            <a:pPr algn="r">
              <a:lnSpc>
                <a:spcPct val="135000"/>
              </a:lnSpc>
              <a:spcAft>
                <a:spcPts val="300"/>
              </a:spcAft>
              <a:defRPr sz="1050" b="0">
                <a:solidFill>
                  <a:srgbClr val="8A929C"/>
                </a:solidFill>
                <a:latin typeface="Meiryo"/>
              </a:defRPr>
            </a:pPr>
            <a:r>
              <a:rPr sz="1050" b="0">
                <a:solidFill>
                  <a:srgbClr val="8A929C"/>
                </a:solidFill>
                <a:latin typeface="Meiryo"/>
              </a:rPr>
              <a:t>07</a:t>
            </a:r>
          </a:p>
        </p:txBody>
      </p:sp>
      <p:sp>
        <p:nvSpPr>
          <p:cNvPr id="8" name="Rectangle 7"/>
          <p:cNvSpPr/>
          <p:nvPr/>
        </p:nvSpPr>
        <p:spPr>
          <a:xfrm>
            <a:off x="566928" y="1737360"/>
            <a:ext cx="5440680" cy="1691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1737360"/>
            <a:ext cx="5440680" cy="45720"/>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1938528"/>
            <a:ext cx="5038344" cy="256032"/>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第1期（19件）｜具体的に検討している</a:t>
            </a:r>
          </a:p>
        </p:txBody>
      </p:sp>
      <p:sp>
        <p:nvSpPr>
          <p:cNvPr id="11" name="TextBox 10"/>
          <p:cNvSpPr txBox="1"/>
          <p:nvPr/>
        </p:nvSpPr>
        <p:spPr>
          <a:xfrm>
            <a:off x="768096" y="2231136"/>
            <a:ext cx="5038344" cy="566928"/>
          </a:xfrm>
          <a:prstGeom prst="rect">
            <a:avLst/>
          </a:prstGeom>
          <a:noFill/>
        </p:spPr>
        <p:txBody>
          <a:bodyPr wrap="square" lIns="0" rIns="0" tIns="0" bIns="0" anchor="t">
            <a:spAutoFit/>
          </a:bodyPr>
          <a:lstStyle/>
          <a:p>
            <a:pPr algn="l">
              <a:lnSpc>
                <a:spcPct val="110000"/>
              </a:lnSpc>
              <a:spcAft>
                <a:spcPts val="300"/>
              </a:spcAft>
              <a:defRPr sz="3600" b="1">
                <a:solidFill>
                  <a:srgbClr val="405D7B"/>
                </a:solidFill>
                <a:latin typeface="Meiryo"/>
              </a:defRPr>
            </a:pPr>
            <a:r>
              <a:rPr sz="3600" b="1">
                <a:solidFill>
                  <a:srgbClr val="405D7B"/>
                </a:solidFill>
                <a:latin typeface="Meiryo"/>
              </a:rPr>
              <a:t>68%</a:t>
            </a:r>
          </a:p>
        </p:txBody>
      </p:sp>
      <p:sp>
        <p:nvSpPr>
          <p:cNvPr id="12" name="TextBox 11"/>
          <p:cNvSpPr txBox="1"/>
          <p:nvPr/>
        </p:nvSpPr>
        <p:spPr>
          <a:xfrm>
            <a:off x="768096" y="2880360"/>
            <a:ext cx="5038344" cy="457200"/>
          </a:xfrm>
          <a:prstGeom prst="rect">
            <a:avLst/>
          </a:prstGeom>
          <a:noFill/>
        </p:spPr>
        <p:txBody>
          <a:bodyPr wrap="square" lIns="0" rIns="0" tIns="0" bIns="0" anchor="t">
            <a:spAutoFit/>
          </a:bodyPr>
          <a:lstStyle/>
          <a:p>
            <a:pPr algn="l">
              <a:lnSpc>
                <a:spcPct val="130000"/>
              </a:lnSpc>
              <a:spcAft>
                <a:spcPts val="300"/>
              </a:spcAft>
              <a:defRPr sz="950" b="0">
                <a:solidFill>
                  <a:srgbClr val="8A929C"/>
                </a:solidFill>
                <a:latin typeface="Meiryo"/>
              </a:defRPr>
            </a:pPr>
            <a:r>
              <a:rPr sz="950" b="0">
                <a:solidFill>
                  <a:srgbClr val="8A929C"/>
                </a:solidFill>
                <a:latin typeface="Meiryo"/>
              </a:rPr>
              <a:t>13件が「具体的に検討している」と回答</a:t>
            </a:r>
          </a:p>
        </p:txBody>
      </p:sp>
      <p:sp>
        <p:nvSpPr>
          <p:cNvPr id="13" name="Rectangle 12"/>
          <p:cNvSpPr/>
          <p:nvPr/>
        </p:nvSpPr>
        <p:spPr>
          <a:xfrm>
            <a:off x="6190488" y="1737360"/>
            <a:ext cx="5440680" cy="1691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190488" y="1737360"/>
            <a:ext cx="5440680" cy="45720"/>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391656" y="1938528"/>
            <a:ext cx="5038344" cy="256032"/>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第2期（2件）｜具体的に検討している</a:t>
            </a:r>
          </a:p>
        </p:txBody>
      </p:sp>
      <p:sp>
        <p:nvSpPr>
          <p:cNvPr id="16" name="TextBox 15"/>
          <p:cNvSpPr txBox="1"/>
          <p:nvPr/>
        </p:nvSpPr>
        <p:spPr>
          <a:xfrm>
            <a:off x="6391656" y="2231136"/>
            <a:ext cx="5038344" cy="566928"/>
          </a:xfrm>
          <a:prstGeom prst="rect">
            <a:avLst/>
          </a:prstGeom>
          <a:noFill/>
        </p:spPr>
        <p:txBody>
          <a:bodyPr wrap="square" lIns="0" rIns="0" tIns="0" bIns="0" anchor="t">
            <a:spAutoFit/>
          </a:bodyPr>
          <a:lstStyle/>
          <a:p>
            <a:pPr algn="l">
              <a:lnSpc>
                <a:spcPct val="110000"/>
              </a:lnSpc>
              <a:spcAft>
                <a:spcPts val="300"/>
              </a:spcAft>
              <a:defRPr sz="3600" b="1">
                <a:solidFill>
                  <a:srgbClr val="A96933"/>
                </a:solidFill>
                <a:latin typeface="Meiryo"/>
              </a:defRPr>
            </a:pPr>
            <a:r>
              <a:rPr sz="3600" b="1">
                <a:solidFill>
                  <a:srgbClr val="A96933"/>
                </a:solidFill>
                <a:latin typeface="Meiryo"/>
              </a:rPr>
              <a:t>0%</a:t>
            </a:r>
          </a:p>
        </p:txBody>
      </p:sp>
      <p:sp>
        <p:nvSpPr>
          <p:cNvPr id="17" name="TextBox 16"/>
          <p:cNvSpPr txBox="1"/>
          <p:nvPr/>
        </p:nvSpPr>
        <p:spPr>
          <a:xfrm>
            <a:off x="6391656" y="2880360"/>
            <a:ext cx="5038344" cy="457200"/>
          </a:xfrm>
          <a:prstGeom prst="rect">
            <a:avLst/>
          </a:prstGeom>
          <a:noFill/>
        </p:spPr>
        <p:txBody>
          <a:bodyPr wrap="square" lIns="0" rIns="0" tIns="0" bIns="0" anchor="t">
            <a:spAutoFit/>
          </a:bodyPr>
          <a:lstStyle/>
          <a:p>
            <a:pPr algn="l">
              <a:lnSpc>
                <a:spcPct val="130000"/>
              </a:lnSpc>
              <a:spcAft>
                <a:spcPts val="300"/>
              </a:spcAft>
              <a:defRPr sz="950" b="0">
                <a:solidFill>
                  <a:srgbClr val="8A929C"/>
                </a:solidFill>
                <a:latin typeface="Meiryo"/>
              </a:defRPr>
            </a:pPr>
            <a:r>
              <a:rPr sz="950" b="0">
                <a:solidFill>
                  <a:srgbClr val="8A929C"/>
                </a:solidFill>
                <a:latin typeface="Meiryo"/>
              </a:rPr>
              <a:t>「興味がある」1件、来場予定の方からのご連絡1件</a:t>
            </a:r>
          </a:p>
        </p:txBody>
      </p:sp>
      <p:sp>
        <p:nvSpPr>
          <p:cNvPr id="18" name="Rectangle 17"/>
          <p:cNvSpPr/>
          <p:nvPr/>
        </p:nvSpPr>
        <p:spPr>
          <a:xfrm>
            <a:off x="566928" y="3657600"/>
            <a:ext cx="11064240" cy="420624"/>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6656" y="3657600"/>
            <a:ext cx="4901183" cy="420624"/>
          </a:xfrm>
          <a:prstGeom prst="rect">
            <a:avLst/>
          </a:prstGeom>
          <a:noFill/>
        </p:spPr>
        <p:txBody>
          <a:bodyPr wrap="square" lIns="0" rIns="0" tIns="0" bIns="0" anchor="ctr">
            <a:spAutoFit/>
          </a:bodyPr>
          <a:lstStyle/>
          <a:p>
            <a:pPr algn="l">
              <a:lnSpc>
                <a:spcPct val="100000"/>
              </a:lnSpc>
              <a:spcAft>
                <a:spcPts val="0"/>
              </a:spcAft>
              <a:defRPr sz="1150" b="1">
                <a:solidFill>
                  <a:srgbClr val="FFFFFF"/>
                </a:solidFill>
                <a:latin typeface="Meiryo"/>
              </a:defRPr>
            </a:pPr>
            <a:r>
              <a:rPr sz="1150" b="1">
                <a:solidFill>
                  <a:srgbClr val="FFFFFF"/>
                </a:solidFill>
                <a:latin typeface="Meiryo"/>
              </a:rPr>
              <a:t>会員権について</a:t>
            </a:r>
          </a:p>
        </p:txBody>
      </p:sp>
      <p:sp>
        <p:nvSpPr>
          <p:cNvPr id="20" name="TextBox 19"/>
          <p:cNvSpPr txBox="1"/>
          <p:nvPr/>
        </p:nvSpPr>
        <p:spPr>
          <a:xfrm>
            <a:off x="5797296" y="3657600"/>
            <a:ext cx="2798063" cy="420624"/>
          </a:xfrm>
          <a:prstGeom prst="rect">
            <a:avLst/>
          </a:prstGeom>
          <a:noFill/>
        </p:spPr>
        <p:txBody>
          <a:bodyPr wrap="square" lIns="0" rIns="0" tIns="0" bIns="0" anchor="ctr">
            <a:spAutoFit/>
          </a:bodyPr>
          <a:lstStyle/>
          <a:p>
            <a:pPr algn="r">
              <a:lnSpc>
                <a:spcPct val="100000"/>
              </a:lnSpc>
              <a:spcAft>
                <a:spcPts val="0"/>
              </a:spcAft>
              <a:defRPr sz="1150" b="1">
                <a:solidFill>
                  <a:srgbClr val="FFFFFF"/>
                </a:solidFill>
                <a:latin typeface="Meiryo"/>
              </a:defRPr>
            </a:pPr>
            <a:r>
              <a:rPr sz="1150" b="1">
                <a:solidFill>
                  <a:srgbClr val="FFFFFF"/>
                </a:solidFill>
                <a:latin typeface="Meiryo"/>
              </a:rPr>
              <a:t>第1期（19件）</a:t>
            </a:r>
          </a:p>
        </p:txBody>
      </p:sp>
      <p:sp>
        <p:nvSpPr>
          <p:cNvPr id="21" name="TextBox 20"/>
          <p:cNvSpPr txBox="1"/>
          <p:nvPr/>
        </p:nvSpPr>
        <p:spPr>
          <a:xfrm>
            <a:off x="8814815" y="3657600"/>
            <a:ext cx="2706624" cy="420624"/>
          </a:xfrm>
          <a:prstGeom prst="rect">
            <a:avLst/>
          </a:prstGeom>
          <a:noFill/>
        </p:spPr>
        <p:txBody>
          <a:bodyPr wrap="square" lIns="0" rIns="0" tIns="0" bIns="0" anchor="ctr">
            <a:spAutoFit/>
          </a:bodyPr>
          <a:lstStyle/>
          <a:p>
            <a:pPr algn="r">
              <a:lnSpc>
                <a:spcPct val="100000"/>
              </a:lnSpc>
              <a:spcAft>
                <a:spcPts val="0"/>
              </a:spcAft>
              <a:defRPr sz="1150" b="1">
                <a:solidFill>
                  <a:srgbClr val="FFFFFF"/>
                </a:solidFill>
                <a:latin typeface="Meiryo"/>
              </a:defRPr>
            </a:pPr>
            <a:r>
              <a:rPr sz="1150" b="1">
                <a:solidFill>
                  <a:srgbClr val="FFFFFF"/>
                </a:solidFill>
                <a:latin typeface="Meiryo"/>
              </a:rPr>
              <a:t>第2期（2件）</a:t>
            </a:r>
          </a:p>
        </p:txBody>
      </p:sp>
      <p:sp>
        <p:nvSpPr>
          <p:cNvPr id="22" name="Rectangle 21"/>
          <p:cNvSpPr/>
          <p:nvPr/>
        </p:nvSpPr>
        <p:spPr>
          <a:xfrm>
            <a:off x="566928" y="4078224"/>
            <a:ext cx="11064240" cy="42062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76656" y="4078224"/>
            <a:ext cx="4901183" cy="420624"/>
          </a:xfrm>
          <a:prstGeom prst="rect">
            <a:avLst/>
          </a:prstGeom>
          <a:noFill/>
        </p:spPr>
        <p:txBody>
          <a:bodyPr wrap="square" lIns="0" rIns="0" tIns="0" bIns="0" anchor="ctr">
            <a:spAutoFit/>
          </a:bodyPr>
          <a:lstStyle/>
          <a:p>
            <a:pPr algn="l">
              <a:lnSpc>
                <a:spcPct val="100000"/>
              </a:lnSpc>
              <a:spcAft>
                <a:spcPts val="0"/>
              </a:spcAft>
              <a:defRPr sz="1150" b="1">
                <a:solidFill>
                  <a:srgbClr val="405D7B"/>
                </a:solidFill>
                <a:latin typeface="Meiryo"/>
              </a:defRPr>
            </a:pPr>
            <a:r>
              <a:rPr sz="1150" b="1">
                <a:solidFill>
                  <a:srgbClr val="405D7B"/>
                </a:solidFill>
                <a:latin typeface="Meiryo"/>
              </a:rPr>
              <a:t>具体的に検討している</a:t>
            </a:r>
          </a:p>
        </p:txBody>
      </p:sp>
      <p:sp>
        <p:nvSpPr>
          <p:cNvPr id="24" name="TextBox 23"/>
          <p:cNvSpPr txBox="1"/>
          <p:nvPr/>
        </p:nvSpPr>
        <p:spPr>
          <a:xfrm>
            <a:off x="5797296" y="4078224"/>
            <a:ext cx="2798063" cy="420624"/>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13件（68%）</a:t>
            </a:r>
          </a:p>
        </p:txBody>
      </p:sp>
      <p:sp>
        <p:nvSpPr>
          <p:cNvPr id="25" name="TextBox 24"/>
          <p:cNvSpPr txBox="1"/>
          <p:nvPr/>
        </p:nvSpPr>
        <p:spPr>
          <a:xfrm>
            <a:off x="8814815" y="4078224"/>
            <a:ext cx="2706624" cy="420624"/>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0件</a:t>
            </a:r>
          </a:p>
        </p:txBody>
      </p:sp>
      <p:sp>
        <p:nvSpPr>
          <p:cNvPr id="26" name="Rectangle 25"/>
          <p:cNvSpPr/>
          <p:nvPr/>
        </p:nvSpPr>
        <p:spPr>
          <a:xfrm>
            <a:off x="566928" y="4498848"/>
            <a:ext cx="11064240" cy="420624"/>
          </a:xfrm>
          <a:prstGeom prst="rect">
            <a:avLst/>
          </a:prstGeom>
          <a:solidFill>
            <a:srgbClr val="EE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76656" y="4498848"/>
            <a:ext cx="4901183" cy="420624"/>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興味がある</a:t>
            </a:r>
          </a:p>
        </p:txBody>
      </p:sp>
      <p:sp>
        <p:nvSpPr>
          <p:cNvPr id="28" name="TextBox 27"/>
          <p:cNvSpPr txBox="1"/>
          <p:nvPr/>
        </p:nvSpPr>
        <p:spPr>
          <a:xfrm>
            <a:off x="5797296" y="4498848"/>
            <a:ext cx="2798063" cy="420624"/>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7件</a:t>
            </a:r>
          </a:p>
        </p:txBody>
      </p:sp>
      <p:sp>
        <p:nvSpPr>
          <p:cNvPr id="29" name="TextBox 28"/>
          <p:cNvSpPr txBox="1"/>
          <p:nvPr/>
        </p:nvSpPr>
        <p:spPr>
          <a:xfrm>
            <a:off x="8814815" y="4498848"/>
            <a:ext cx="2706624" cy="420624"/>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1件</a:t>
            </a:r>
          </a:p>
        </p:txBody>
      </p:sp>
      <p:sp>
        <p:nvSpPr>
          <p:cNvPr id="30" name="Rectangle 29"/>
          <p:cNvSpPr/>
          <p:nvPr/>
        </p:nvSpPr>
        <p:spPr>
          <a:xfrm>
            <a:off x="566928" y="4919472"/>
            <a:ext cx="1106424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76656" y="4919472"/>
            <a:ext cx="4901183" cy="420624"/>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未選択・その他</a:t>
            </a:r>
          </a:p>
        </p:txBody>
      </p:sp>
      <p:sp>
        <p:nvSpPr>
          <p:cNvPr id="32" name="TextBox 31"/>
          <p:cNvSpPr txBox="1"/>
          <p:nvPr/>
        </p:nvSpPr>
        <p:spPr>
          <a:xfrm>
            <a:off x="5797296" y="4919472"/>
            <a:ext cx="2798063" cy="420624"/>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a:t>
            </a:r>
          </a:p>
        </p:txBody>
      </p:sp>
      <p:sp>
        <p:nvSpPr>
          <p:cNvPr id="33" name="TextBox 32"/>
          <p:cNvSpPr txBox="1"/>
          <p:nvPr/>
        </p:nvSpPr>
        <p:spPr>
          <a:xfrm>
            <a:off x="8814815" y="4919472"/>
            <a:ext cx="2706624" cy="420624"/>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1件</a:t>
            </a:r>
          </a:p>
        </p:txBody>
      </p:sp>
      <p:sp>
        <p:nvSpPr>
          <p:cNvPr id="34" name="TextBox 33"/>
          <p:cNvSpPr txBox="1"/>
          <p:nvPr/>
        </p:nvSpPr>
        <p:spPr>
          <a:xfrm>
            <a:off x="566928" y="5614416"/>
            <a:ext cx="11064240" cy="365760"/>
          </a:xfrm>
          <a:prstGeom prst="rect">
            <a:avLst/>
          </a:prstGeom>
          <a:noFill/>
        </p:spPr>
        <p:txBody>
          <a:bodyPr wrap="square" lIns="0" rIns="0" tIns="0" bIns="0" anchor="t">
            <a:spAutoFit/>
          </a:bodyPr>
          <a:lstStyle/>
          <a:p>
            <a:pPr algn="l">
              <a:lnSpc>
                <a:spcPct val="135000"/>
              </a:lnSpc>
              <a:spcAft>
                <a:spcPts val="300"/>
              </a:spcAft>
              <a:defRPr sz="950" b="0">
                <a:solidFill>
                  <a:srgbClr val="8A929C"/>
                </a:solidFill>
                <a:latin typeface="Meiryo"/>
              </a:defRPr>
            </a:pPr>
            <a:r>
              <a:rPr sz="950" b="0">
                <a:solidFill>
                  <a:srgbClr val="8A929C"/>
                </a:solidFill>
                <a:latin typeface="Meiryo"/>
              </a:rPr>
              <a:t>〈実測〉お問い合わせ通知メールの回答項目を1件ずつ分類。母集団は第1期19件・第2期2件（いずれも全件）。</a:t>
            </a:r>
          </a:p>
          <a:p>
            <a:pPr algn="l">
              <a:lnSpc>
                <a:spcPct val="135000"/>
              </a:lnSpc>
              <a:spcAft>
                <a:spcPts val="300"/>
              </a:spcAft>
              <a:defRPr sz="950" b="0">
                <a:solidFill>
                  <a:srgbClr val="8A929C"/>
                </a:solidFill>
                <a:latin typeface="Meiryo"/>
              </a:defRPr>
            </a:pPr>
            <a:r>
              <a:rPr sz="950" b="0">
                <a:solidFill>
                  <a:srgbClr val="8A929C"/>
                </a:solidFill>
                <a:latin typeface="Meiryo"/>
              </a:rPr>
              <a:t>〈方向性〉第2期は母数が2件と少なく、比率は断定ではなく方向性としてご理解ください。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54864" cy="6858000"/>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143000" y="2697480"/>
            <a:ext cx="9144000" cy="310896"/>
          </a:xfrm>
          <a:prstGeom prst="rect">
            <a:avLst/>
          </a:prstGeom>
          <a:noFill/>
        </p:spPr>
        <p:txBody>
          <a:bodyPr wrap="square" lIns="0" rIns="0" tIns="0" bIns="0" anchor="t">
            <a:spAutoFit/>
          </a:bodyPr>
          <a:lstStyle/>
          <a:p>
            <a:pPr algn="l">
              <a:lnSpc>
                <a:spcPct val="135000"/>
              </a:lnSpc>
              <a:spcAft>
                <a:spcPts val="300"/>
              </a:spcAft>
              <a:defRPr sz="1300" b="1">
                <a:solidFill>
                  <a:srgbClr val="A96933"/>
                </a:solidFill>
                <a:latin typeface="Meiryo"/>
              </a:defRPr>
            </a:pPr>
            <a:r>
              <a:rPr sz="1300" b="1">
                <a:solidFill>
                  <a:srgbClr val="A96933"/>
                </a:solidFill>
                <a:latin typeface="Meiryo"/>
              </a:rPr>
              <a:t>PART 2</a:t>
            </a:r>
          </a:p>
        </p:txBody>
      </p:sp>
      <p:sp>
        <p:nvSpPr>
          <p:cNvPr id="5" name="TextBox 4"/>
          <p:cNvSpPr txBox="1"/>
          <p:nvPr/>
        </p:nvSpPr>
        <p:spPr>
          <a:xfrm>
            <a:off x="1143000" y="3127248"/>
            <a:ext cx="9601200" cy="640080"/>
          </a:xfrm>
          <a:prstGeom prst="rect">
            <a:avLst/>
          </a:prstGeom>
          <a:noFill/>
        </p:spPr>
        <p:txBody>
          <a:bodyPr wrap="square" lIns="0" rIns="0" tIns="0" bIns="0" anchor="t">
            <a:spAutoFit/>
          </a:bodyPr>
          <a:lstStyle/>
          <a:p>
            <a:pPr algn="l">
              <a:lnSpc>
                <a:spcPct val="115000"/>
              </a:lnSpc>
              <a:spcAft>
                <a:spcPts val="300"/>
              </a:spcAft>
              <a:defRPr sz="3300" b="1">
                <a:solidFill>
                  <a:srgbClr val="FFFFFF"/>
                </a:solidFill>
                <a:latin typeface="Meiryo"/>
              </a:defRPr>
            </a:pPr>
            <a:r>
              <a:rPr sz="3300" b="1">
                <a:solidFill>
                  <a:srgbClr val="FFFFFF"/>
                </a:solidFill>
                <a:latin typeface="Meiryo"/>
              </a:rPr>
              <a:t>誰が申し込んでいるのか</a:t>
            </a:r>
          </a:p>
        </p:txBody>
      </p:sp>
      <p:sp>
        <p:nvSpPr>
          <p:cNvPr id="6" name="Rectangle 5"/>
          <p:cNvSpPr/>
          <p:nvPr/>
        </p:nvSpPr>
        <p:spPr>
          <a:xfrm>
            <a:off x="1143000" y="4041648"/>
            <a:ext cx="2103120" cy="36576"/>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43000" y="4315968"/>
            <a:ext cx="9601200" cy="457200"/>
          </a:xfrm>
          <a:prstGeom prst="rect">
            <a:avLst/>
          </a:prstGeom>
          <a:noFill/>
        </p:spPr>
        <p:txBody>
          <a:bodyPr wrap="square" lIns="0" rIns="0" tIns="0" bIns="0" anchor="t">
            <a:spAutoFit/>
          </a:bodyPr>
          <a:lstStyle/>
          <a:p>
            <a:pPr algn="l">
              <a:lnSpc>
                <a:spcPct val="140000"/>
              </a:lnSpc>
              <a:spcAft>
                <a:spcPts val="300"/>
              </a:spcAft>
              <a:defRPr sz="1500" b="0">
                <a:solidFill>
                  <a:srgbClr val="D6DBE1"/>
                </a:solidFill>
                <a:latin typeface="Meiryo"/>
              </a:defRPr>
            </a:pPr>
            <a:r>
              <a:rPr sz="1500" b="0">
                <a:solidFill>
                  <a:srgbClr val="D6DBE1"/>
                </a:solidFill>
                <a:latin typeface="Meiryo"/>
              </a:rPr>
              <a:t>第1期のお問い合わせ19件を、1件ずつ内容を確認して分類しました。</a:t>
            </a:r>
          </a:p>
        </p:txBody>
      </p:sp>
      <p:sp>
        <p:nvSpPr>
          <p:cNvPr id="8" name="TextBox 7"/>
          <p:cNvSpPr txBox="1"/>
          <p:nvPr/>
        </p:nvSpPr>
        <p:spPr>
          <a:xfrm>
            <a:off x="11338560" y="6510528"/>
            <a:ext cx="640080" cy="274320"/>
          </a:xfrm>
          <a:prstGeom prst="rect">
            <a:avLst/>
          </a:prstGeom>
          <a:noFill/>
        </p:spPr>
        <p:txBody>
          <a:bodyPr wrap="square" lIns="0" rIns="0" tIns="0" bIns="0" anchor="t">
            <a:spAutoFit/>
          </a:bodyPr>
          <a:lstStyle/>
          <a:p>
            <a:pPr algn="r">
              <a:lnSpc>
                <a:spcPct val="135000"/>
              </a:lnSpc>
              <a:spcAft>
                <a:spcPts val="300"/>
              </a:spcAft>
              <a:defRPr sz="1050" b="0">
                <a:solidFill>
                  <a:srgbClr val="8FA3B8"/>
                </a:solidFill>
                <a:latin typeface="Meiryo"/>
              </a:defRPr>
            </a:pPr>
            <a:r>
              <a:rPr sz="1050" b="0">
                <a:solidFill>
                  <a:srgbClr val="8FA3B8"/>
                </a:solidFill>
                <a:latin typeface="Meiryo"/>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57200"/>
            <a:ext cx="82296" cy="237744"/>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31520" y="438912"/>
            <a:ext cx="10515600" cy="274320"/>
          </a:xfrm>
          <a:prstGeom prst="rect">
            <a:avLst/>
          </a:prstGeom>
          <a:noFill/>
        </p:spPr>
        <p:txBody>
          <a:bodyPr wrap="square" lIns="0" rIns="0" tIns="0" bIns="0" anchor="t">
            <a:spAutoFit/>
          </a:bodyPr>
          <a:lstStyle/>
          <a:p>
            <a:pPr algn="l">
              <a:lnSpc>
                <a:spcPct val="135000"/>
              </a:lnSpc>
              <a:spcAft>
                <a:spcPts val="300"/>
              </a:spcAft>
              <a:defRPr sz="1150" b="1">
                <a:solidFill>
                  <a:srgbClr val="405D7B"/>
                </a:solidFill>
                <a:latin typeface="Meiryo"/>
              </a:defRPr>
            </a:pPr>
            <a:r>
              <a:rPr sz="1150" b="1">
                <a:solidFill>
                  <a:srgbClr val="405D7B"/>
                </a:solidFill>
                <a:latin typeface="Meiryo"/>
              </a:rPr>
              <a:t>2 顧客</a:t>
            </a:r>
          </a:p>
        </p:txBody>
      </p:sp>
      <p:sp>
        <p:nvSpPr>
          <p:cNvPr id="4" name="TextBox 3"/>
          <p:cNvSpPr txBox="1"/>
          <p:nvPr/>
        </p:nvSpPr>
        <p:spPr>
          <a:xfrm>
            <a:off x="530352" y="731520"/>
            <a:ext cx="10972800" cy="566928"/>
          </a:xfrm>
          <a:prstGeom prst="rect">
            <a:avLst/>
          </a:prstGeom>
          <a:noFill/>
        </p:spPr>
        <p:txBody>
          <a:bodyPr wrap="square" lIns="0" rIns="0" tIns="0" bIns="0" anchor="t">
            <a:spAutoFit/>
          </a:bodyPr>
          <a:lstStyle/>
          <a:p>
            <a:pPr algn="l">
              <a:lnSpc>
                <a:spcPct val="115000"/>
              </a:lnSpc>
              <a:spcAft>
                <a:spcPts val="300"/>
              </a:spcAft>
              <a:defRPr sz="2700" b="1">
                <a:solidFill>
                  <a:srgbClr val="2A2E33"/>
                </a:solidFill>
                <a:latin typeface="Meiryo"/>
              </a:defRPr>
            </a:pPr>
            <a:r>
              <a:rPr sz="2700" b="1">
                <a:solidFill>
                  <a:srgbClr val="2A2E33"/>
                </a:solidFill>
                <a:latin typeface="Meiryo"/>
              </a:rPr>
              <a:t>入口は「資料請求」です</a:t>
            </a:r>
          </a:p>
        </p:txBody>
      </p:sp>
      <p:sp>
        <p:nvSpPr>
          <p:cNvPr id="5" name="Rectangle 4"/>
          <p:cNvSpPr/>
          <p:nvPr/>
        </p:nvSpPr>
        <p:spPr>
          <a:xfrm>
            <a:off x="566928" y="1399032"/>
            <a:ext cx="1600200" cy="45720"/>
          </a:xfrm>
          <a:prstGeom prst="rect">
            <a:avLst/>
          </a:prstGeom>
          <a:solidFill>
            <a:srgbClr val="334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6928" y="1417320"/>
            <a:ext cx="11064240" cy="9144"/>
          </a:xfrm>
          <a:prstGeom prst="rect">
            <a:avLst/>
          </a:prstGeom>
          <a:solidFill>
            <a:srgbClr val="E2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338560" y="6510528"/>
            <a:ext cx="640080" cy="274320"/>
          </a:xfrm>
          <a:prstGeom prst="rect">
            <a:avLst/>
          </a:prstGeom>
          <a:noFill/>
        </p:spPr>
        <p:txBody>
          <a:bodyPr wrap="square" lIns="0" rIns="0" tIns="0" bIns="0" anchor="t">
            <a:spAutoFit/>
          </a:bodyPr>
          <a:lstStyle/>
          <a:p>
            <a:pPr algn="r">
              <a:lnSpc>
                <a:spcPct val="135000"/>
              </a:lnSpc>
              <a:spcAft>
                <a:spcPts val="300"/>
              </a:spcAft>
              <a:defRPr sz="1050" b="0">
                <a:solidFill>
                  <a:srgbClr val="8A929C"/>
                </a:solidFill>
                <a:latin typeface="Meiryo"/>
              </a:defRPr>
            </a:pPr>
            <a:r>
              <a:rPr sz="1050" b="0">
                <a:solidFill>
                  <a:srgbClr val="8A929C"/>
                </a:solidFill>
                <a:latin typeface="Meiryo"/>
              </a:rPr>
              <a:t>09</a:t>
            </a:r>
          </a:p>
        </p:txBody>
      </p:sp>
      <p:sp>
        <p:nvSpPr>
          <p:cNvPr id="8" name="Rectangle 7"/>
          <p:cNvSpPr/>
          <p:nvPr/>
        </p:nvSpPr>
        <p:spPr>
          <a:xfrm>
            <a:off x="566928" y="1737360"/>
            <a:ext cx="3657600" cy="2103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1737360"/>
            <a:ext cx="3657600" cy="45720"/>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1938528"/>
            <a:ext cx="3255264" cy="256032"/>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お問い合わせ種別｜資料のご請求</a:t>
            </a:r>
          </a:p>
        </p:txBody>
      </p:sp>
      <p:sp>
        <p:nvSpPr>
          <p:cNvPr id="11" name="TextBox 10"/>
          <p:cNvSpPr txBox="1"/>
          <p:nvPr/>
        </p:nvSpPr>
        <p:spPr>
          <a:xfrm>
            <a:off x="768096" y="2231136"/>
            <a:ext cx="3255264" cy="566928"/>
          </a:xfrm>
          <a:prstGeom prst="rect">
            <a:avLst/>
          </a:prstGeom>
          <a:noFill/>
        </p:spPr>
        <p:txBody>
          <a:bodyPr wrap="square" lIns="0" rIns="0" tIns="0" bIns="0" anchor="t">
            <a:spAutoFit/>
          </a:bodyPr>
          <a:lstStyle/>
          <a:p>
            <a:pPr algn="l">
              <a:lnSpc>
                <a:spcPct val="110000"/>
              </a:lnSpc>
              <a:spcAft>
                <a:spcPts val="300"/>
              </a:spcAft>
              <a:defRPr sz="4400" b="1">
                <a:solidFill>
                  <a:srgbClr val="A96933"/>
                </a:solidFill>
                <a:latin typeface="Meiryo"/>
              </a:defRPr>
            </a:pPr>
            <a:r>
              <a:rPr sz="4400" b="1">
                <a:solidFill>
                  <a:srgbClr val="A96933"/>
                </a:solidFill>
                <a:latin typeface="Meiryo"/>
              </a:rPr>
              <a:t>95%</a:t>
            </a:r>
          </a:p>
        </p:txBody>
      </p:sp>
      <p:sp>
        <p:nvSpPr>
          <p:cNvPr id="12" name="TextBox 11"/>
          <p:cNvSpPr txBox="1"/>
          <p:nvPr/>
        </p:nvSpPr>
        <p:spPr>
          <a:xfrm>
            <a:off x="768096" y="3291839"/>
            <a:ext cx="3255264" cy="457200"/>
          </a:xfrm>
          <a:prstGeom prst="rect">
            <a:avLst/>
          </a:prstGeom>
          <a:noFill/>
        </p:spPr>
        <p:txBody>
          <a:bodyPr wrap="square" lIns="0" rIns="0" tIns="0" bIns="0" anchor="t">
            <a:spAutoFit/>
          </a:bodyPr>
          <a:lstStyle/>
          <a:p>
            <a:pPr algn="l">
              <a:lnSpc>
                <a:spcPct val="130000"/>
              </a:lnSpc>
              <a:spcAft>
                <a:spcPts val="300"/>
              </a:spcAft>
              <a:defRPr sz="950" b="0">
                <a:solidFill>
                  <a:srgbClr val="8A929C"/>
                </a:solidFill>
                <a:latin typeface="Meiryo"/>
              </a:defRPr>
            </a:pPr>
            <a:r>
              <a:rPr sz="950" b="0">
                <a:solidFill>
                  <a:srgbClr val="8A929C"/>
                </a:solidFill>
                <a:latin typeface="Meiryo"/>
              </a:rPr>
              <a:t>19件中18件</a:t>
            </a:r>
          </a:p>
        </p:txBody>
      </p:sp>
      <p:sp>
        <p:nvSpPr>
          <p:cNvPr id="13" name="Rectangle 12"/>
          <p:cNvSpPr/>
          <p:nvPr/>
        </p:nvSpPr>
        <p:spPr>
          <a:xfrm>
            <a:off x="4407408" y="1737360"/>
            <a:ext cx="7223759" cy="457200"/>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517136" y="1737360"/>
            <a:ext cx="3962720" cy="457200"/>
          </a:xfrm>
          <a:prstGeom prst="rect">
            <a:avLst/>
          </a:prstGeom>
          <a:noFill/>
        </p:spPr>
        <p:txBody>
          <a:bodyPr wrap="square" lIns="0" rIns="0" tIns="0" bIns="0" anchor="ctr">
            <a:spAutoFit/>
          </a:bodyPr>
          <a:lstStyle/>
          <a:p>
            <a:pPr algn="l">
              <a:lnSpc>
                <a:spcPct val="100000"/>
              </a:lnSpc>
              <a:spcAft>
                <a:spcPts val="0"/>
              </a:spcAft>
              <a:defRPr sz="1150" b="1">
                <a:solidFill>
                  <a:srgbClr val="FFFFFF"/>
                </a:solidFill>
                <a:latin typeface="Meiryo"/>
              </a:defRPr>
            </a:pPr>
            <a:r>
              <a:rPr sz="1150" b="1">
                <a:solidFill>
                  <a:srgbClr val="FFFFFF"/>
                </a:solidFill>
                <a:latin typeface="Meiryo"/>
              </a:rPr>
              <a:t>お問い合わせ種別</a:t>
            </a:r>
          </a:p>
        </p:txBody>
      </p:sp>
      <p:sp>
        <p:nvSpPr>
          <p:cNvPr id="15" name="TextBox 14"/>
          <p:cNvSpPr txBox="1"/>
          <p:nvPr/>
        </p:nvSpPr>
        <p:spPr>
          <a:xfrm>
            <a:off x="8699312" y="1737360"/>
            <a:ext cx="1301335" cy="457200"/>
          </a:xfrm>
          <a:prstGeom prst="rect">
            <a:avLst/>
          </a:prstGeom>
          <a:noFill/>
        </p:spPr>
        <p:txBody>
          <a:bodyPr wrap="square" lIns="0" rIns="0" tIns="0" bIns="0" anchor="ctr">
            <a:spAutoFit/>
          </a:bodyPr>
          <a:lstStyle/>
          <a:p>
            <a:pPr algn="r">
              <a:lnSpc>
                <a:spcPct val="100000"/>
              </a:lnSpc>
              <a:spcAft>
                <a:spcPts val="0"/>
              </a:spcAft>
              <a:defRPr sz="1150" b="1">
                <a:solidFill>
                  <a:srgbClr val="FFFFFF"/>
                </a:solidFill>
                <a:latin typeface="Meiryo"/>
              </a:defRPr>
            </a:pPr>
            <a:r>
              <a:rPr sz="1150" b="1">
                <a:solidFill>
                  <a:srgbClr val="FFFFFF"/>
                </a:solidFill>
                <a:latin typeface="Meiryo"/>
              </a:rPr>
              <a:t>件数</a:t>
            </a:r>
          </a:p>
        </p:txBody>
      </p:sp>
      <p:sp>
        <p:nvSpPr>
          <p:cNvPr id="16" name="TextBox 15"/>
          <p:cNvSpPr txBox="1"/>
          <p:nvPr/>
        </p:nvSpPr>
        <p:spPr>
          <a:xfrm>
            <a:off x="10220104" y="1737360"/>
            <a:ext cx="1301335" cy="457200"/>
          </a:xfrm>
          <a:prstGeom prst="rect">
            <a:avLst/>
          </a:prstGeom>
          <a:noFill/>
        </p:spPr>
        <p:txBody>
          <a:bodyPr wrap="square" lIns="0" rIns="0" tIns="0" bIns="0" anchor="ctr">
            <a:spAutoFit/>
          </a:bodyPr>
          <a:lstStyle/>
          <a:p>
            <a:pPr algn="r">
              <a:lnSpc>
                <a:spcPct val="100000"/>
              </a:lnSpc>
              <a:spcAft>
                <a:spcPts val="0"/>
              </a:spcAft>
              <a:defRPr sz="1150" b="1">
                <a:solidFill>
                  <a:srgbClr val="FFFFFF"/>
                </a:solidFill>
                <a:latin typeface="Meiryo"/>
              </a:defRPr>
            </a:pPr>
            <a:r>
              <a:rPr sz="1150" b="1">
                <a:solidFill>
                  <a:srgbClr val="FFFFFF"/>
                </a:solidFill>
                <a:latin typeface="Meiryo"/>
              </a:rPr>
              <a:t>比率</a:t>
            </a:r>
          </a:p>
        </p:txBody>
      </p:sp>
      <p:sp>
        <p:nvSpPr>
          <p:cNvPr id="17" name="Rectangle 16"/>
          <p:cNvSpPr/>
          <p:nvPr/>
        </p:nvSpPr>
        <p:spPr>
          <a:xfrm>
            <a:off x="4407408" y="2194560"/>
            <a:ext cx="7223759" cy="4572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517136" y="2194560"/>
            <a:ext cx="3962720" cy="457200"/>
          </a:xfrm>
          <a:prstGeom prst="rect">
            <a:avLst/>
          </a:prstGeom>
          <a:noFill/>
        </p:spPr>
        <p:txBody>
          <a:bodyPr wrap="square" lIns="0" rIns="0" tIns="0" bIns="0" anchor="ctr">
            <a:spAutoFit/>
          </a:bodyPr>
          <a:lstStyle/>
          <a:p>
            <a:pPr algn="l">
              <a:lnSpc>
                <a:spcPct val="100000"/>
              </a:lnSpc>
              <a:spcAft>
                <a:spcPts val="0"/>
              </a:spcAft>
              <a:defRPr sz="1150" b="1">
                <a:solidFill>
                  <a:srgbClr val="405D7B"/>
                </a:solidFill>
                <a:latin typeface="Meiryo"/>
              </a:defRPr>
            </a:pPr>
            <a:r>
              <a:rPr sz="1150" b="1">
                <a:solidFill>
                  <a:srgbClr val="405D7B"/>
                </a:solidFill>
                <a:latin typeface="Meiryo"/>
              </a:rPr>
              <a:t>資料のご請求</a:t>
            </a:r>
          </a:p>
        </p:txBody>
      </p:sp>
      <p:sp>
        <p:nvSpPr>
          <p:cNvPr id="19" name="TextBox 18"/>
          <p:cNvSpPr txBox="1"/>
          <p:nvPr/>
        </p:nvSpPr>
        <p:spPr>
          <a:xfrm>
            <a:off x="8699312" y="2194560"/>
            <a:ext cx="1301335" cy="457200"/>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18件</a:t>
            </a:r>
          </a:p>
        </p:txBody>
      </p:sp>
      <p:sp>
        <p:nvSpPr>
          <p:cNvPr id="20" name="TextBox 19"/>
          <p:cNvSpPr txBox="1"/>
          <p:nvPr/>
        </p:nvSpPr>
        <p:spPr>
          <a:xfrm>
            <a:off x="10220104" y="2194560"/>
            <a:ext cx="1301335" cy="457200"/>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95%</a:t>
            </a:r>
          </a:p>
        </p:txBody>
      </p:sp>
      <p:sp>
        <p:nvSpPr>
          <p:cNvPr id="21" name="Rectangle 20"/>
          <p:cNvSpPr/>
          <p:nvPr/>
        </p:nvSpPr>
        <p:spPr>
          <a:xfrm>
            <a:off x="4407408" y="2651760"/>
            <a:ext cx="7223759" cy="457200"/>
          </a:xfrm>
          <a:prstGeom prst="rect">
            <a:avLst/>
          </a:prstGeom>
          <a:solidFill>
            <a:srgbClr val="EE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517136" y="2651760"/>
            <a:ext cx="3962720" cy="45720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視察プレーのお問い合わせ</a:t>
            </a:r>
          </a:p>
        </p:txBody>
      </p:sp>
      <p:sp>
        <p:nvSpPr>
          <p:cNvPr id="23" name="TextBox 22"/>
          <p:cNvSpPr txBox="1"/>
          <p:nvPr/>
        </p:nvSpPr>
        <p:spPr>
          <a:xfrm>
            <a:off x="8699312" y="2651760"/>
            <a:ext cx="1301335" cy="45720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3件</a:t>
            </a:r>
          </a:p>
        </p:txBody>
      </p:sp>
      <p:sp>
        <p:nvSpPr>
          <p:cNvPr id="24" name="TextBox 23"/>
          <p:cNvSpPr txBox="1"/>
          <p:nvPr/>
        </p:nvSpPr>
        <p:spPr>
          <a:xfrm>
            <a:off x="10220104" y="2651760"/>
            <a:ext cx="1301335" cy="45720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16%</a:t>
            </a:r>
          </a:p>
        </p:txBody>
      </p:sp>
      <p:sp>
        <p:nvSpPr>
          <p:cNvPr id="25" name="Rectangle 24"/>
          <p:cNvSpPr/>
          <p:nvPr/>
        </p:nvSpPr>
        <p:spPr>
          <a:xfrm>
            <a:off x="4407408" y="3108960"/>
            <a:ext cx="7223759"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517136" y="3108960"/>
            <a:ext cx="3962720" cy="45720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その他</a:t>
            </a:r>
          </a:p>
        </p:txBody>
      </p:sp>
      <p:sp>
        <p:nvSpPr>
          <p:cNvPr id="27" name="TextBox 26"/>
          <p:cNvSpPr txBox="1"/>
          <p:nvPr/>
        </p:nvSpPr>
        <p:spPr>
          <a:xfrm>
            <a:off x="8699312" y="3108960"/>
            <a:ext cx="1301335" cy="45720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1件</a:t>
            </a:r>
          </a:p>
        </p:txBody>
      </p:sp>
      <p:sp>
        <p:nvSpPr>
          <p:cNvPr id="28" name="TextBox 27"/>
          <p:cNvSpPr txBox="1"/>
          <p:nvPr/>
        </p:nvSpPr>
        <p:spPr>
          <a:xfrm>
            <a:off x="10220104" y="3108960"/>
            <a:ext cx="1301335" cy="45720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5%</a:t>
            </a:r>
          </a:p>
        </p:txBody>
      </p:sp>
      <p:sp>
        <p:nvSpPr>
          <p:cNvPr id="29" name="TextBox 28"/>
          <p:cNvSpPr txBox="1"/>
          <p:nvPr/>
        </p:nvSpPr>
        <p:spPr>
          <a:xfrm>
            <a:off x="4407408" y="3621024"/>
            <a:ext cx="7223759" cy="274320"/>
          </a:xfrm>
          <a:prstGeom prst="rect">
            <a:avLst/>
          </a:prstGeom>
          <a:noFill/>
        </p:spPr>
        <p:txBody>
          <a:bodyPr wrap="square" lIns="0" rIns="0" tIns="0" bIns="0" anchor="t">
            <a:spAutoFit/>
          </a:bodyPr>
          <a:lstStyle/>
          <a:p>
            <a:pPr algn="l">
              <a:lnSpc>
                <a:spcPct val="135000"/>
              </a:lnSpc>
              <a:spcAft>
                <a:spcPts val="300"/>
              </a:spcAft>
              <a:defRPr sz="950" b="0">
                <a:solidFill>
                  <a:srgbClr val="8A929C"/>
                </a:solidFill>
                <a:latin typeface="Meiryo"/>
              </a:defRPr>
            </a:pPr>
            <a:r>
              <a:rPr sz="950" b="0">
                <a:solidFill>
                  <a:srgbClr val="8A929C"/>
                </a:solidFill>
                <a:latin typeface="Meiryo"/>
              </a:rPr>
              <a:t>※ 複数選択のため合計は100%を超えます</a:t>
            </a:r>
          </a:p>
        </p:txBody>
      </p:sp>
      <p:sp>
        <p:nvSpPr>
          <p:cNvPr id="30" name="Rectangle 29"/>
          <p:cNvSpPr/>
          <p:nvPr/>
        </p:nvSpPr>
        <p:spPr>
          <a:xfrm>
            <a:off x="566928" y="4133087"/>
            <a:ext cx="11064240" cy="129844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566928" y="4133087"/>
            <a:ext cx="11064240" cy="45720"/>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77240" y="4334255"/>
            <a:ext cx="10643615" cy="274320"/>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示唆</a:t>
            </a:r>
          </a:p>
        </p:txBody>
      </p:sp>
      <p:sp>
        <p:nvSpPr>
          <p:cNvPr id="33" name="TextBox 32"/>
          <p:cNvSpPr txBox="1"/>
          <p:nvPr/>
        </p:nvSpPr>
        <p:spPr>
          <a:xfrm>
            <a:off x="777240" y="4572000"/>
            <a:ext cx="10643615" cy="365760"/>
          </a:xfrm>
          <a:prstGeom prst="rect">
            <a:avLst/>
          </a:prstGeom>
          <a:noFill/>
        </p:spPr>
        <p:txBody>
          <a:bodyPr wrap="square" lIns="0" rIns="0" tIns="0" bIns="0" anchor="t">
            <a:spAutoFit/>
          </a:bodyPr>
          <a:lstStyle/>
          <a:p>
            <a:pPr algn="l">
              <a:lnSpc>
                <a:spcPct val="135000"/>
              </a:lnSpc>
              <a:spcAft>
                <a:spcPts val="300"/>
              </a:spcAft>
              <a:defRPr sz="1600" b="1">
                <a:solidFill>
                  <a:srgbClr val="2A2E33"/>
                </a:solidFill>
                <a:latin typeface="Meiryo"/>
              </a:defRPr>
            </a:pPr>
            <a:r>
              <a:rPr sz="1600" b="1">
                <a:solidFill>
                  <a:srgbClr val="2A2E33"/>
                </a:solidFill>
                <a:latin typeface="Meiryo"/>
              </a:rPr>
              <a:t>入口は資料請求に置くべきです</a:t>
            </a:r>
          </a:p>
        </p:txBody>
      </p:sp>
      <p:sp>
        <p:nvSpPr>
          <p:cNvPr id="34" name="TextBox 33"/>
          <p:cNvSpPr txBox="1"/>
          <p:nvPr/>
        </p:nvSpPr>
        <p:spPr>
          <a:xfrm>
            <a:off x="804672" y="5065775"/>
            <a:ext cx="10588752" cy="164591"/>
          </a:xfrm>
          <a:prstGeom prst="rect">
            <a:avLst/>
          </a:prstGeom>
          <a:noFill/>
        </p:spPr>
        <p:txBody>
          <a:bodyPr wrap="square" lIns="0" rIns="0" tIns="0" bIns="0" anchor="t">
            <a:spAutoFit/>
          </a:bodyPr>
          <a:lstStyle/>
          <a:p>
            <a:pPr algn="l">
              <a:lnSpc>
                <a:spcPct val="150000"/>
              </a:lnSpc>
              <a:spcAft>
                <a:spcPts val="300"/>
              </a:spcAft>
              <a:defRPr sz="1300" b="0">
                <a:solidFill>
                  <a:srgbClr val="454B52"/>
                </a:solidFill>
                <a:latin typeface="Meiryo"/>
              </a:defRPr>
            </a:pPr>
            <a:r>
              <a:rPr sz="1300" b="0">
                <a:solidFill>
                  <a:srgbClr val="454B52"/>
                </a:solidFill>
                <a:latin typeface="Meiryo"/>
              </a:rPr>
              <a:t>視察プレーの直接お申し込みは3件のみ。大半の方は、まず資料を請求し、そこから検討に入られています。</a:t>
            </a:r>
          </a:p>
          <a:p>
            <a:pPr algn="l">
              <a:lnSpc>
                <a:spcPct val="150000"/>
              </a:lnSpc>
              <a:spcAft>
                <a:spcPts val="300"/>
              </a:spcAft>
              <a:defRPr sz="1300" b="0">
                <a:solidFill>
                  <a:srgbClr val="454B52"/>
                </a:solidFill>
                <a:latin typeface="Meiryo"/>
              </a:defRPr>
            </a:pPr>
            <a:r>
              <a:rPr sz="1300" b="0">
                <a:solidFill>
                  <a:srgbClr val="454B52"/>
                </a:solidFill>
                <a:latin typeface="Meiryo"/>
              </a:rPr>
              <a:t>8月に視察プレーを訴求する場合も、いきなり来場を求めるのではなく、資料請求の受け皿を用意しつつ期限を訴えるのが自然です。</a:t>
            </a:r>
          </a:p>
        </p:txBody>
      </p:sp>
      <p:sp>
        <p:nvSpPr>
          <p:cNvPr id="35" name="TextBox 34"/>
          <p:cNvSpPr txBox="1"/>
          <p:nvPr/>
        </p:nvSpPr>
        <p:spPr>
          <a:xfrm>
            <a:off x="566928" y="5705856"/>
            <a:ext cx="11064240" cy="365760"/>
          </a:xfrm>
          <a:prstGeom prst="rect">
            <a:avLst/>
          </a:prstGeom>
          <a:noFill/>
        </p:spPr>
        <p:txBody>
          <a:bodyPr wrap="square" lIns="0" rIns="0" tIns="0" bIns="0" anchor="t">
            <a:spAutoFit/>
          </a:bodyPr>
          <a:lstStyle/>
          <a:p>
            <a:pPr algn="l">
              <a:lnSpc>
                <a:spcPct val="135000"/>
              </a:lnSpc>
              <a:spcAft>
                <a:spcPts val="300"/>
              </a:spcAft>
              <a:defRPr sz="950" b="0">
                <a:solidFill>
                  <a:srgbClr val="8A929C"/>
                </a:solidFill>
                <a:latin typeface="Meiryo"/>
              </a:defRPr>
            </a:pPr>
            <a:r>
              <a:rPr sz="950" b="0">
                <a:solidFill>
                  <a:srgbClr val="8A929C"/>
                </a:solidFill>
                <a:latin typeface="Meiryo"/>
              </a:rPr>
              <a:t>〈実測〉母集団＝第1期のお問い合わせ全19件。〈当社仮説〉示唆部分は実測の解釈であり、検証はこれからです。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57200"/>
            <a:ext cx="82296" cy="237744"/>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31520" y="438912"/>
            <a:ext cx="10515600" cy="274320"/>
          </a:xfrm>
          <a:prstGeom prst="rect">
            <a:avLst/>
          </a:prstGeom>
          <a:noFill/>
        </p:spPr>
        <p:txBody>
          <a:bodyPr wrap="square" lIns="0" rIns="0" tIns="0" bIns="0" anchor="t">
            <a:spAutoFit/>
          </a:bodyPr>
          <a:lstStyle/>
          <a:p>
            <a:pPr algn="l">
              <a:lnSpc>
                <a:spcPct val="135000"/>
              </a:lnSpc>
              <a:spcAft>
                <a:spcPts val="300"/>
              </a:spcAft>
              <a:defRPr sz="1150" b="1">
                <a:solidFill>
                  <a:srgbClr val="405D7B"/>
                </a:solidFill>
                <a:latin typeface="Meiryo"/>
              </a:defRPr>
            </a:pPr>
            <a:r>
              <a:rPr sz="1150" b="1">
                <a:solidFill>
                  <a:srgbClr val="405D7B"/>
                </a:solidFill>
                <a:latin typeface="Meiryo"/>
              </a:rPr>
              <a:t>2 顧客</a:t>
            </a:r>
          </a:p>
        </p:txBody>
      </p:sp>
      <p:sp>
        <p:nvSpPr>
          <p:cNvPr id="4" name="TextBox 3"/>
          <p:cNvSpPr txBox="1"/>
          <p:nvPr/>
        </p:nvSpPr>
        <p:spPr>
          <a:xfrm>
            <a:off x="530352" y="731520"/>
            <a:ext cx="10972800" cy="566928"/>
          </a:xfrm>
          <a:prstGeom prst="rect">
            <a:avLst/>
          </a:prstGeom>
          <a:noFill/>
        </p:spPr>
        <p:txBody>
          <a:bodyPr wrap="square" lIns="0" rIns="0" tIns="0" bIns="0" anchor="t">
            <a:spAutoFit/>
          </a:bodyPr>
          <a:lstStyle/>
          <a:p>
            <a:pPr algn="l">
              <a:lnSpc>
                <a:spcPct val="115000"/>
              </a:lnSpc>
              <a:spcAft>
                <a:spcPts val="300"/>
              </a:spcAft>
              <a:defRPr sz="2700" b="1">
                <a:solidFill>
                  <a:srgbClr val="2A2E33"/>
                </a:solidFill>
                <a:latin typeface="Meiryo"/>
              </a:defRPr>
            </a:pPr>
            <a:r>
              <a:rPr sz="2700" b="1">
                <a:solidFill>
                  <a:srgbClr val="2A2E33"/>
                </a:solidFill>
                <a:latin typeface="Meiryo"/>
              </a:rPr>
              <a:t>成果の53%は、ゴルフ場から概ね70km圏内でした</a:t>
            </a:r>
          </a:p>
        </p:txBody>
      </p:sp>
      <p:sp>
        <p:nvSpPr>
          <p:cNvPr id="5" name="Rectangle 4"/>
          <p:cNvSpPr/>
          <p:nvPr/>
        </p:nvSpPr>
        <p:spPr>
          <a:xfrm>
            <a:off x="566928" y="1399032"/>
            <a:ext cx="1600200" cy="45720"/>
          </a:xfrm>
          <a:prstGeom prst="rect">
            <a:avLst/>
          </a:prstGeom>
          <a:solidFill>
            <a:srgbClr val="334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6928" y="1417320"/>
            <a:ext cx="11064240" cy="9144"/>
          </a:xfrm>
          <a:prstGeom prst="rect">
            <a:avLst/>
          </a:prstGeom>
          <a:solidFill>
            <a:srgbClr val="E2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338560" y="6510528"/>
            <a:ext cx="640080" cy="274320"/>
          </a:xfrm>
          <a:prstGeom prst="rect">
            <a:avLst/>
          </a:prstGeom>
          <a:noFill/>
        </p:spPr>
        <p:txBody>
          <a:bodyPr wrap="square" lIns="0" rIns="0" tIns="0" bIns="0" anchor="t">
            <a:spAutoFit/>
          </a:bodyPr>
          <a:lstStyle/>
          <a:p>
            <a:pPr algn="r">
              <a:lnSpc>
                <a:spcPct val="135000"/>
              </a:lnSpc>
              <a:spcAft>
                <a:spcPts val="300"/>
              </a:spcAft>
              <a:defRPr sz="1050" b="0">
                <a:solidFill>
                  <a:srgbClr val="8A929C"/>
                </a:solidFill>
                <a:latin typeface="Meiryo"/>
              </a:defRPr>
            </a:pPr>
            <a:r>
              <a:rPr sz="1050" b="0">
                <a:solidFill>
                  <a:srgbClr val="8A929C"/>
                </a:solidFill>
                <a:latin typeface="Meiryo"/>
              </a:rPr>
              <a:t>10</a:t>
            </a:r>
          </a:p>
        </p:txBody>
      </p:sp>
      <p:graphicFrame>
        <p:nvGraphicFramePr>
          <p:cNvPr id="8" name="Chart 7"/>
          <p:cNvGraphicFramePr>
            <a:graphicFrameLocks noGrp="1"/>
          </p:cNvGraphicFramePr>
          <p:nvPr/>
        </p:nvGraphicFramePr>
        <p:xfrm>
          <a:off x="566928" y="1737360"/>
          <a:ext cx="6675120" cy="3108960"/>
        </p:xfrm>
        <a:graphic>
          <a:graphicData uri="http://schemas.openxmlformats.org/drawingml/2006/chart">
            <c:chart xmlns:c="http://schemas.openxmlformats.org/drawingml/2006/chart" r:id="rId2"/>
          </a:graphicData>
        </a:graphic>
      </p:graphicFrame>
      <p:sp>
        <p:nvSpPr>
          <p:cNvPr id="9" name="Rectangle 8"/>
          <p:cNvSpPr/>
          <p:nvPr/>
        </p:nvSpPr>
        <p:spPr>
          <a:xfrm>
            <a:off x="7424927" y="1737360"/>
            <a:ext cx="4206240" cy="14813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424927" y="1737360"/>
            <a:ext cx="4206240" cy="45720"/>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626096" y="1938528"/>
            <a:ext cx="3803903" cy="256032"/>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概ね70km圏内の累計</a:t>
            </a:r>
          </a:p>
        </p:txBody>
      </p:sp>
      <p:sp>
        <p:nvSpPr>
          <p:cNvPr id="12" name="TextBox 11"/>
          <p:cNvSpPr txBox="1"/>
          <p:nvPr/>
        </p:nvSpPr>
        <p:spPr>
          <a:xfrm>
            <a:off x="7626096" y="2231136"/>
            <a:ext cx="3803903" cy="566928"/>
          </a:xfrm>
          <a:prstGeom prst="rect">
            <a:avLst/>
          </a:prstGeom>
          <a:noFill/>
        </p:spPr>
        <p:txBody>
          <a:bodyPr wrap="square" lIns="0" rIns="0" tIns="0" bIns="0" anchor="t">
            <a:spAutoFit/>
          </a:bodyPr>
          <a:lstStyle/>
          <a:p>
            <a:pPr algn="l">
              <a:lnSpc>
                <a:spcPct val="110000"/>
              </a:lnSpc>
              <a:spcAft>
                <a:spcPts val="300"/>
              </a:spcAft>
              <a:defRPr sz="3600" b="1">
                <a:solidFill>
                  <a:srgbClr val="A96933"/>
                </a:solidFill>
                <a:latin typeface="Meiryo"/>
              </a:defRPr>
            </a:pPr>
            <a:r>
              <a:rPr sz="3600" b="1">
                <a:solidFill>
                  <a:srgbClr val="A96933"/>
                </a:solidFill>
                <a:latin typeface="Meiryo"/>
              </a:rPr>
              <a:t>53%</a:t>
            </a:r>
          </a:p>
        </p:txBody>
      </p:sp>
      <p:sp>
        <p:nvSpPr>
          <p:cNvPr id="13" name="TextBox 12"/>
          <p:cNvSpPr txBox="1"/>
          <p:nvPr/>
        </p:nvSpPr>
        <p:spPr>
          <a:xfrm>
            <a:off x="7626096" y="2670048"/>
            <a:ext cx="3803903" cy="457200"/>
          </a:xfrm>
          <a:prstGeom prst="rect">
            <a:avLst/>
          </a:prstGeom>
          <a:noFill/>
        </p:spPr>
        <p:txBody>
          <a:bodyPr wrap="square" lIns="0" rIns="0" tIns="0" bIns="0" anchor="t">
            <a:spAutoFit/>
          </a:bodyPr>
          <a:lstStyle/>
          <a:p>
            <a:pPr algn="l">
              <a:lnSpc>
                <a:spcPct val="130000"/>
              </a:lnSpc>
              <a:spcAft>
                <a:spcPts val="300"/>
              </a:spcAft>
              <a:defRPr sz="950" b="0">
                <a:solidFill>
                  <a:srgbClr val="8A929C"/>
                </a:solidFill>
                <a:latin typeface="Meiryo"/>
              </a:defRPr>
            </a:pPr>
            <a:r>
              <a:rPr sz="950" b="0">
                <a:solidFill>
                  <a:srgbClr val="8A929C"/>
                </a:solidFill>
                <a:latin typeface="Meiryo"/>
              </a:rPr>
              <a:t>19件中10件。佐久市内2件・隣接町村5件</a:t>
            </a:r>
          </a:p>
        </p:txBody>
      </p:sp>
      <p:sp>
        <p:nvSpPr>
          <p:cNvPr id="14" name="Rectangle 13"/>
          <p:cNvSpPr/>
          <p:nvPr/>
        </p:nvSpPr>
        <p:spPr>
          <a:xfrm>
            <a:off x="7424927" y="3401568"/>
            <a:ext cx="4206240" cy="292608"/>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534655" y="3401568"/>
            <a:ext cx="2045442" cy="292608"/>
          </a:xfrm>
          <a:prstGeom prst="rect">
            <a:avLst/>
          </a:prstGeom>
          <a:noFill/>
        </p:spPr>
        <p:txBody>
          <a:bodyPr wrap="square" lIns="0" rIns="0" tIns="0" bIns="0" anchor="ctr">
            <a:spAutoFit/>
          </a:bodyPr>
          <a:lstStyle/>
          <a:p>
            <a:pPr algn="l">
              <a:lnSpc>
                <a:spcPct val="100000"/>
              </a:lnSpc>
              <a:spcAft>
                <a:spcPts val="0"/>
              </a:spcAft>
              <a:defRPr sz="1050" b="1">
                <a:solidFill>
                  <a:srgbClr val="FFFFFF"/>
                </a:solidFill>
                <a:latin typeface="Meiryo"/>
              </a:defRPr>
            </a:pPr>
            <a:r>
              <a:rPr sz="1050" b="1">
                <a:solidFill>
                  <a:srgbClr val="FFFFFF"/>
                </a:solidFill>
                <a:latin typeface="Meiryo"/>
              </a:rPr>
              <a:t>距離帯</a:t>
            </a:r>
          </a:p>
        </p:txBody>
      </p:sp>
      <p:sp>
        <p:nvSpPr>
          <p:cNvPr id="16" name="TextBox 15"/>
          <p:cNvSpPr txBox="1"/>
          <p:nvPr/>
        </p:nvSpPr>
        <p:spPr>
          <a:xfrm>
            <a:off x="9799554" y="3401568"/>
            <a:ext cx="751214" cy="292608"/>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件数</a:t>
            </a:r>
          </a:p>
        </p:txBody>
      </p:sp>
      <p:sp>
        <p:nvSpPr>
          <p:cNvPr id="17" name="TextBox 16"/>
          <p:cNvSpPr txBox="1"/>
          <p:nvPr/>
        </p:nvSpPr>
        <p:spPr>
          <a:xfrm>
            <a:off x="10770225" y="3401568"/>
            <a:ext cx="751214" cy="292608"/>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累計</a:t>
            </a:r>
          </a:p>
        </p:txBody>
      </p:sp>
      <p:sp>
        <p:nvSpPr>
          <p:cNvPr id="18" name="Rectangle 17"/>
          <p:cNvSpPr/>
          <p:nvPr/>
        </p:nvSpPr>
        <p:spPr>
          <a:xfrm>
            <a:off x="7424927" y="3694176"/>
            <a:ext cx="4206240"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534655" y="3694176"/>
            <a:ext cx="2045442" cy="274320"/>
          </a:xfrm>
          <a:prstGeom prst="rect">
            <a:avLst/>
          </a:prstGeom>
          <a:noFill/>
        </p:spPr>
        <p:txBody>
          <a:bodyPr wrap="square" lIns="0" rIns="0" tIns="0" bIns="0" anchor="ctr">
            <a:spAutoFit/>
          </a:bodyPr>
          <a:lstStyle/>
          <a:p>
            <a:pPr algn="l">
              <a:lnSpc>
                <a:spcPct val="100000"/>
              </a:lnSpc>
              <a:spcAft>
                <a:spcPts val="0"/>
              </a:spcAft>
              <a:defRPr sz="1050" b="1">
                <a:solidFill>
                  <a:srgbClr val="405D7B"/>
                </a:solidFill>
                <a:latin typeface="Meiryo"/>
              </a:defRPr>
            </a:pPr>
            <a:r>
              <a:rPr sz="1050" b="1">
                <a:solidFill>
                  <a:srgbClr val="405D7B"/>
                </a:solidFill>
                <a:latin typeface="Meiryo"/>
              </a:rPr>
              <a:t>概ね30km圏</a:t>
            </a:r>
          </a:p>
        </p:txBody>
      </p:sp>
      <p:sp>
        <p:nvSpPr>
          <p:cNvPr id="20" name="TextBox 19"/>
          <p:cNvSpPr txBox="1"/>
          <p:nvPr/>
        </p:nvSpPr>
        <p:spPr>
          <a:xfrm>
            <a:off x="9799554" y="3694176"/>
            <a:ext cx="751214" cy="274320"/>
          </a:xfrm>
          <a:prstGeom prst="rect">
            <a:avLst/>
          </a:prstGeom>
          <a:noFill/>
        </p:spPr>
        <p:txBody>
          <a:bodyPr wrap="square" lIns="0" rIns="0" tIns="0" bIns="0" anchor="ctr">
            <a:spAutoFit/>
          </a:bodyPr>
          <a:lstStyle/>
          <a:p>
            <a:pPr algn="r">
              <a:lnSpc>
                <a:spcPct val="100000"/>
              </a:lnSpc>
              <a:spcAft>
                <a:spcPts val="0"/>
              </a:spcAft>
              <a:defRPr sz="1050" b="1">
                <a:solidFill>
                  <a:srgbClr val="405D7B"/>
                </a:solidFill>
                <a:latin typeface="Meiryo"/>
              </a:defRPr>
            </a:pPr>
            <a:r>
              <a:rPr sz="1050" b="1">
                <a:solidFill>
                  <a:srgbClr val="405D7B"/>
                </a:solidFill>
                <a:latin typeface="Meiryo"/>
              </a:rPr>
              <a:t>7件</a:t>
            </a:r>
          </a:p>
        </p:txBody>
      </p:sp>
      <p:sp>
        <p:nvSpPr>
          <p:cNvPr id="21" name="TextBox 20"/>
          <p:cNvSpPr txBox="1"/>
          <p:nvPr/>
        </p:nvSpPr>
        <p:spPr>
          <a:xfrm>
            <a:off x="10770225" y="3694176"/>
            <a:ext cx="751214" cy="274320"/>
          </a:xfrm>
          <a:prstGeom prst="rect">
            <a:avLst/>
          </a:prstGeom>
          <a:noFill/>
        </p:spPr>
        <p:txBody>
          <a:bodyPr wrap="square" lIns="0" rIns="0" tIns="0" bIns="0" anchor="ctr">
            <a:spAutoFit/>
          </a:bodyPr>
          <a:lstStyle/>
          <a:p>
            <a:pPr algn="r">
              <a:lnSpc>
                <a:spcPct val="100000"/>
              </a:lnSpc>
              <a:spcAft>
                <a:spcPts val="0"/>
              </a:spcAft>
              <a:defRPr sz="1050" b="1">
                <a:solidFill>
                  <a:srgbClr val="405D7B"/>
                </a:solidFill>
                <a:latin typeface="Meiryo"/>
              </a:defRPr>
            </a:pPr>
            <a:r>
              <a:rPr sz="1050" b="1">
                <a:solidFill>
                  <a:srgbClr val="405D7B"/>
                </a:solidFill>
                <a:latin typeface="Meiryo"/>
              </a:rPr>
              <a:t>37%</a:t>
            </a:r>
          </a:p>
        </p:txBody>
      </p:sp>
      <p:sp>
        <p:nvSpPr>
          <p:cNvPr id="22" name="Rectangle 21"/>
          <p:cNvSpPr/>
          <p:nvPr/>
        </p:nvSpPr>
        <p:spPr>
          <a:xfrm>
            <a:off x="7424927" y="3968496"/>
            <a:ext cx="4206240" cy="274320"/>
          </a:xfrm>
          <a:prstGeom prst="rect">
            <a:avLst/>
          </a:prstGeom>
          <a:solidFill>
            <a:srgbClr val="EE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534655" y="3968496"/>
            <a:ext cx="2045442" cy="274320"/>
          </a:xfrm>
          <a:prstGeom prst="rect">
            <a:avLst/>
          </a:prstGeom>
          <a:noFill/>
        </p:spPr>
        <p:txBody>
          <a:bodyPr wrap="square" lIns="0" rIns="0" tIns="0" bIns="0" anchor="ctr">
            <a:spAutoFit/>
          </a:bodyPr>
          <a:lstStyle/>
          <a:p>
            <a:pPr algn="l">
              <a:lnSpc>
                <a:spcPct val="100000"/>
              </a:lnSpc>
              <a:spcAft>
                <a:spcPts val="0"/>
              </a:spcAft>
              <a:defRPr sz="1050" b="0">
                <a:solidFill>
                  <a:srgbClr val="454B52"/>
                </a:solidFill>
                <a:latin typeface="Meiryo"/>
              </a:defRPr>
            </a:pPr>
            <a:r>
              <a:rPr sz="1050" b="0">
                <a:solidFill>
                  <a:srgbClr val="454B52"/>
                </a:solidFill>
                <a:latin typeface="Meiryo"/>
              </a:rPr>
              <a:t>概ね40km圏</a:t>
            </a:r>
          </a:p>
        </p:txBody>
      </p:sp>
      <p:sp>
        <p:nvSpPr>
          <p:cNvPr id="24" name="TextBox 23"/>
          <p:cNvSpPr txBox="1"/>
          <p:nvPr/>
        </p:nvSpPr>
        <p:spPr>
          <a:xfrm>
            <a:off x="9799554" y="3968496"/>
            <a:ext cx="751214" cy="27432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2件</a:t>
            </a:r>
          </a:p>
        </p:txBody>
      </p:sp>
      <p:sp>
        <p:nvSpPr>
          <p:cNvPr id="25" name="TextBox 24"/>
          <p:cNvSpPr txBox="1"/>
          <p:nvPr/>
        </p:nvSpPr>
        <p:spPr>
          <a:xfrm>
            <a:off x="10770225" y="3968496"/>
            <a:ext cx="751214" cy="27432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47%</a:t>
            </a:r>
          </a:p>
        </p:txBody>
      </p:sp>
      <p:sp>
        <p:nvSpPr>
          <p:cNvPr id="26" name="Rectangle 25"/>
          <p:cNvSpPr/>
          <p:nvPr/>
        </p:nvSpPr>
        <p:spPr>
          <a:xfrm>
            <a:off x="7424927" y="4242816"/>
            <a:ext cx="4206240"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534655" y="4242816"/>
            <a:ext cx="2045442" cy="274320"/>
          </a:xfrm>
          <a:prstGeom prst="rect">
            <a:avLst/>
          </a:prstGeom>
          <a:noFill/>
        </p:spPr>
        <p:txBody>
          <a:bodyPr wrap="square" lIns="0" rIns="0" tIns="0" bIns="0" anchor="ctr">
            <a:spAutoFit/>
          </a:bodyPr>
          <a:lstStyle/>
          <a:p>
            <a:pPr algn="l">
              <a:lnSpc>
                <a:spcPct val="100000"/>
              </a:lnSpc>
              <a:spcAft>
                <a:spcPts val="0"/>
              </a:spcAft>
              <a:defRPr sz="1050" b="1">
                <a:solidFill>
                  <a:srgbClr val="405D7B"/>
                </a:solidFill>
                <a:latin typeface="Meiryo"/>
              </a:defRPr>
            </a:pPr>
            <a:r>
              <a:rPr sz="1050" b="1">
                <a:solidFill>
                  <a:srgbClr val="405D7B"/>
                </a:solidFill>
                <a:latin typeface="Meiryo"/>
              </a:rPr>
              <a:t>概ね70km圏</a:t>
            </a:r>
          </a:p>
        </p:txBody>
      </p:sp>
      <p:sp>
        <p:nvSpPr>
          <p:cNvPr id="28" name="TextBox 27"/>
          <p:cNvSpPr txBox="1"/>
          <p:nvPr/>
        </p:nvSpPr>
        <p:spPr>
          <a:xfrm>
            <a:off x="9799554" y="4242816"/>
            <a:ext cx="751214" cy="274320"/>
          </a:xfrm>
          <a:prstGeom prst="rect">
            <a:avLst/>
          </a:prstGeom>
          <a:noFill/>
        </p:spPr>
        <p:txBody>
          <a:bodyPr wrap="square" lIns="0" rIns="0" tIns="0" bIns="0" anchor="ctr">
            <a:spAutoFit/>
          </a:bodyPr>
          <a:lstStyle/>
          <a:p>
            <a:pPr algn="r">
              <a:lnSpc>
                <a:spcPct val="100000"/>
              </a:lnSpc>
              <a:spcAft>
                <a:spcPts val="0"/>
              </a:spcAft>
              <a:defRPr sz="1050" b="1">
                <a:solidFill>
                  <a:srgbClr val="405D7B"/>
                </a:solidFill>
                <a:latin typeface="Meiryo"/>
              </a:defRPr>
            </a:pPr>
            <a:r>
              <a:rPr sz="1050" b="1">
                <a:solidFill>
                  <a:srgbClr val="405D7B"/>
                </a:solidFill>
                <a:latin typeface="Meiryo"/>
              </a:rPr>
              <a:t>1件</a:t>
            </a:r>
          </a:p>
        </p:txBody>
      </p:sp>
      <p:sp>
        <p:nvSpPr>
          <p:cNvPr id="29" name="TextBox 28"/>
          <p:cNvSpPr txBox="1"/>
          <p:nvPr/>
        </p:nvSpPr>
        <p:spPr>
          <a:xfrm>
            <a:off x="10770225" y="4242816"/>
            <a:ext cx="751214" cy="274320"/>
          </a:xfrm>
          <a:prstGeom prst="rect">
            <a:avLst/>
          </a:prstGeom>
          <a:noFill/>
        </p:spPr>
        <p:txBody>
          <a:bodyPr wrap="square" lIns="0" rIns="0" tIns="0" bIns="0" anchor="ctr">
            <a:spAutoFit/>
          </a:bodyPr>
          <a:lstStyle/>
          <a:p>
            <a:pPr algn="r">
              <a:lnSpc>
                <a:spcPct val="100000"/>
              </a:lnSpc>
              <a:spcAft>
                <a:spcPts val="0"/>
              </a:spcAft>
              <a:defRPr sz="1050" b="1">
                <a:solidFill>
                  <a:srgbClr val="405D7B"/>
                </a:solidFill>
                <a:latin typeface="Meiryo"/>
              </a:defRPr>
            </a:pPr>
            <a:r>
              <a:rPr sz="1050" b="1">
                <a:solidFill>
                  <a:srgbClr val="405D7B"/>
                </a:solidFill>
                <a:latin typeface="Meiryo"/>
              </a:rPr>
              <a:t>53%</a:t>
            </a:r>
          </a:p>
        </p:txBody>
      </p:sp>
      <p:sp>
        <p:nvSpPr>
          <p:cNvPr id="30" name="Rectangle 29"/>
          <p:cNvSpPr/>
          <p:nvPr/>
        </p:nvSpPr>
        <p:spPr>
          <a:xfrm>
            <a:off x="7424927" y="4517136"/>
            <a:ext cx="4206240" cy="274320"/>
          </a:xfrm>
          <a:prstGeom prst="rect">
            <a:avLst/>
          </a:prstGeom>
          <a:solidFill>
            <a:srgbClr val="EE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534655" y="4517136"/>
            <a:ext cx="2045442" cy="274320"/>
          </a:xfrm>
          <a:prstGeom prst="rect">
            <a:avLst/>
          </a:prstGeom>
          <a:noFill/>
        </p:spPr>
        <p:txBody>
          <a:bodyPr wrap="square" lIns="0" rIns="0" tIns="0" bIns="0" anchor="ctr">
            <a:spAutoFit/>
          </a:bodyPr>
          <a:lstStyle/>
          <a:p>
            <a:pPr algn="l">
              <a:lnSpc>
                <a:spcPct val="100000"/>
              </a:lnSpc>
              <a:spcAft>
                <a:spcPts val="0"/>
              </a:spcAft>
              <a:defRPr sz="1050" b="0">
                <a:solidFill>
                  <a:srgbClr val="454B52"/>
                </a:solidFill>
                <a:latin typeface="Meiryo"/>
              </a:defRPr>
            </a:pPr>
            <a:r>
              <a:rPr sz="1050" b="0">
                <a:solidFill>
                  <a:srgbClr val="454B52"/>
                </a:solidFill>
                <a:latin typeface="Meiryo"/>
              </a:rPr>
              <a:t>概ね90km圏</a:t>
            </a:r>
          </a:p>
        </p:txBody>
      </p:sp>
      <p:sp>
        <p:nvSpPr>
          <p:cNvPr id="32" name="TextBox 31"/>
          <p:cNvSpPr txBox="1"/>
          <p:nvPr/>
        </p:nvSpPr>
        <p:spPr>
          <a:xfrm>
            <a:off x="9799554" y="4517136"/>
            <a:ext cx="751214" cy="27432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1件</a:t>
            </a:r>
          </a:p>
        </p:txBody>
      </p:sp>
      <p:sp>
        <p:nvSpPr>
          <p:cNvPr id="33" name="TextBox 32"/>
          <p:cNvSpPr txBox="1"/>
          <p:nvPr/>
        </p:nvSpPr>
        <p:spPr>
          <a:xfrm>
            <a:off x="10770225" y="4517136"/>
            <a:ext cx="751214" cy="27432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58%</a:t>
            </a:r>
          </a:p>
        </p:txBody>
      </p:sp>
      <p:sp>
        <p:nvSpPr>
          <p:cNvPr id="34" name="Rectangle 33"/>
          <p:cNvSpPr/>
          <p:nvPr/>
        </p:nvSpPr>
        <p:spPr>
          <a:xfrm>
            <a:off x="7424927" y="4791455"/>
            <a:ext cx="4206240"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534655" y="4791455"/>
            <a:ext cx="2045442" cy="274320"/>
          </a:xfrm>
          <a:prstGeom prst="rect">
            <a:avLst/>
          </a:prstGeom>
          <a:noFill/>
        </p:spPr>
        <p:txBody>
          <a:bodyPr wrap="square" lIns="0" rIns="0" tIns="0" bIns="0" anchor="ctr">
            <a:spAutoFit/>
          </a:bodyPr>
          <a:lstStyle/>
          <a:p>
            <a:pPr algn="l">
              <a:lnSpc>
                <a:spcPct val="100000"/>
              </a:lnSpc>
              <a:spcAft>
                <a:spcPts val="0"/>
              </a:spcAft>
              <a:defRPr sz="1050" b="0">
                <a:solidFill>
                  <a:srgbClr val="454B52"/>
                </a:solidFill>
                <a:latin typeface="Meiryo"/>
              </a:defRPr>
            </a:pPr>
            <a:r>
              <a:rPr sz="1050" b="0">
                <a:solidFill>
                  <a:srgbClr val="454B52"/>
                </a:solidFill>
                <a:latin typeface="Meiryo"/>
              </a:rPr>
              <a:t>首都圏</a:t>
            </a:r>
          </a:p>
        </p:txBody>
      </p:sp>
      <p:sp>
        <p:nvSpPr>
          <p:cNvPr id="36" name="TextBox 35"/>
          <p:cNvSpPr txBox="1"/>
          <p:nvPr/>
        </p:nvSpPr>
        <p:spPr>
          <a:xfrm>
            <a:off x="9799554" y="4791455"/>
            <a:ext cx="751214" cy="27432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8件</a:t>
            </a:r>
          </a:p>
        </p:txBody>
      </p:sp>
      <p:sp>
        <p:nvSpPr>
          <p:cNvPr id="37" name="TextBox 36"/>
          <p:cNvSpPr txBox="1"/>
          <p:nvPr/>
        </p:nvSpPr>
        <p:spPr>
          <a:xfrm>
            <a:off x="10770225" y="4791455"/>
            <a:ext cx="751214" cy="27432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100%</a:t>
            </a:r>
          </a:p>
        </p:txBody>
      </p:sp>
      <p:sp>
        <p:nvSpPr>
          <p:cNvPr id="38" name="TextBox 37"/>
          <p:cNvSpPr txBox="1"/>
          <p:nvPr/>
        </p:nvSpPr>
        <p:spPr>
          <a:xfrm>
            <a:off x="566928" y="5486400"/>
            <a:ext cx="11064240" cy="365760"/>
          </a:xfrm>
          <a:prstGeom prst="rect">
            <a:avLst/>
          </a:prstGeom>
          <a:noFill/>
        </p:spPr>
        <p:txBody>
          <a:bodyPr wrap="square" lIns="0" rIns="0" tIns="0" bIns="0" anchor="t">
            <a:spAutoFit/>
          </a:bodyPr>
          <a:lstStyle/>
          <a:p>
            <a:pPr algn="l">
              <a:lnSpc>
                <a:spcPct val="135000"/>
              </a:lnSpc>
              <a:spcAft>
                <a:spcPts val="300"/>
              </a:spcAft>
              <a:defRPr sz="950" b="0">
                <a:solidFill>
                  <a:srgbClr val="8A929C"/>
                </a:solidFill>
                <a:latin typeface="Meiryo"/>
              </a:defRPr>
            </a:pPr>
            <a:r>
              <a:rPr sz="950" b="0">
                <a:solidFill>
                  <a:srgbClr val="8A929C"/>
                </a:solidFill>
                <a:latin typeface="Meiryo"/>
              </a:rPr>
              <a:t>〈実測〉距離帯はお問い合わせ記載の郵便番号・住所から分類。</a:t>
            </a:r>
          </a:p>
          <a:p>
            <a:pPr algn="l">
              <a:lnSpc>
                <a:spcPct val="135000"/>
              </a:lnSpc>
              <a:spcAft>
                <a:spcPts val="300"/>
              </a:spcAft>
              <a:defRPr sz="950" b="0">
                <a:solidFill>
                  <a:srgbClr val="8A929C"/>
                </a:solidFill>
                <a:latin typeface="Meiryo"/>
              </a:defRPr>
            </a:pPr>
            <a:r>
              <a:rPr sz="950" b="0">
                <a:solidFill>
                  <a:srgbClr val="8A929C"/>
                </a:solidFill>
                <a:latin typeface="Meiryo"/>
              </a:rPr>
              <a:t>〈両論併記〉首都圏も8件（42%）あり、次ページの通り検討度はむしろ高い水準です。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57200"/>
            <a:ext cx="82296" cy="237744"/>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31520" y="438912"/>
            <a:ext cx="10515600" cy="274320"/>
          </a:xfrm>
          <a:prstGeom prst="rect">
            <a:avLst/>
          </a:prstGeom>
          <a:noFill/>
        </p:spPr>
        <p:txBody>
          <a:bodyPr wrap="square" lIns="0" rIns="0" tIns="0" bIns="0" anchor="t">
            <a:spAutoFit/>
          </a:bodyPr>
          <a:lstStyle/>
          <a:p>
            <a:pPr algn="l">
              <a:lnSpc>
                <a:spcPct val="135000"/>
              </a:lnSpc>
              <a:spcAft>
                <a:spcPts val="300"/>
              </a:spcAft>
              <a:defRPr sz="1150" b="1">
                <a:solidFill>
                  <a:srgbClr val="405D7B"/>
                </a:solidFill>
                <a:latin typeface="Meiryo"/>
              </a:defRPr>
            </a:pPr>
            <a:r>
              <a:rPr sz="1150" b="1">
                <a:solidFill>
                  <a:srgbClr val="405D7B"/>
                </a:solidFill>
                <a:latin typeface="Meiryo"/>
              </a:rPr>
              <a:t>2 顧客</a:t>
            </a:r>
          </a:p>
        </p:txBody>
      </p:sp>
      <p:sp>
        <p:nvSpPr>
          <p:cNvPr id="4" name="TextBox 3"/>
          <p:cNvSpPr txBox="1"/>
          <p:nvPr/>
        </p:nvSpPr>
        <p:spPr>
          <a:xfrm>
            <a:off x="530352" y="731520"/>
            <a:ext cx="10972800" cy="566928"/>
          </a:xfrm>
          <a:prstGeom prst="rect">
            <a:avLst/>
          </a:prstGeom>
          <a:noFill/>
        </p:spPr>
        <p:txBody>
          <a:bodyPr wrap="square" lIns="0" rIns="0" tIns="0" bIns="0" anchor="t">
            <a:spAutoFit/>
          </a:bodyPr>
          <a:lstStyle/>
          <a:p>
            <a:pPr algn="l">
              <a:lnSpc>
                <a:spcPct val="115000"/>
              </a:lnSpc>
              <a:spcAft>
                <a:spcPts val="300"/>
              </a:spcAft>
              <a:defRPr sz="2700" b="1">
                <a:solidFill>
                  <a:srgbClr val="2A2E33"/>
                </a:solidFill>
                <a:latin typeface="Meiryo"/>
              </a:defRPr>
            </a:pPr>
            <a:r>
              <a:rPr sz="2700" b="1">
                <a:solidFill>
                  <a:srgbClr val="2A2E33"/>
                </a:solidFill>
                <a:latin typeface="Meiryo"/>
              </a:rPr>
              <a:t>地元は件数、首都圏は検討度</a:t>
            </a:r>
          </a:p>
        </p:txBody>
      </p:sp>
      <p:sp>
        <p:nvSpPr>
          <p:cNvPr id="5" name="Rectangle 4"/>
          <p:cNvSpPr/>
          <p:nvPr/>
        </p:nvSpPr>
        <p:spPr>
          <a:xfrm>
            <a:off x="566928" y="1399032"/>
            <a:ext cx="1600200" cy="45720"/>
          </a:xfrm>
          <a:prstGeom prst="rect">
            <a:avLst/>
          </a:prstGeom>
          <a:solidFill>
            <a:srgbClr val="334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6928" y="1417320"/>
            <a:ext cx="11064240" cy="9144"/>
          </a:xfrm>
          <a:prstGeom prst="rect">
            <a:avLst/>
          </a:prstGeom>
          <a:solidFill>
            <a:srgbClr val="E2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338560" y="6510528"/>
            <a:ext cx="640080" cy="274320"/>
          </a:xfrm>
          <a:prstGeom prst="rect">
            <a:avLst/>
          </a:prstGeom>
          <a:noFill/>
        </p:spPr>
        <p:txBody>
          <a:bodyPr wrap="square" lIns="0" rIns="0" tIns="0" bIns="0" anchor="t">
            <a:spAutoFit/>
          </a:bodyPr>
          <a:lstStyle/>
          <a:p>
            <a:pPr algn="r">
              <a:lnSpc>
                <a:spcPct val="135000"/>
              </a:lnSpc>
              <a:spcAft>
                <a:spcPts val="300"/>
              </a:spcAft>
              <a:defRPr sz="1050" b="0">
                <a:solidFill>
                  <a:srgbClr val="8A929C"/>
                </a:solidFill>
                <a:latin typeface="Meiryo"/>
              </a:defRPr>
            </a:pPr>
            <a:r>
              <a:rPr sz="1050" b="0">
                <a:solidFill>
                  <a:srgbClr val="8A929C"/>
                </a:solidFill>
                <a:latin typeface="Meiryo"/>
              </a:rPr>
              <a:t>11</a:t>
            </a:r>
          </a:p>
        </p:txBody>
      </p:sp>
      <p:sp>
        <p:nvSpPr>
          <p:cNvPr id="8" name="TextBox 7"/>
          <p:cNvSpPr txBox="1"/>
          <p:nvPr/>
        </p:nvSpPr>
        <p:spPr>
          <a:xfrm>
            <a:off x="566928" y="1536192"/>
            <a:ext cx="11064240" cy="274320"/>
          </a:xfrm>
          <a:prstGeom prst="rect">
            <a:avLst/>
          </a:prstGeom>
          <a:noFill/>
        </p:spPr>
        <p:txBody>
          <a:bodyPr wrap="square" lIns="0" rIns="0" tIns="0" bIns="0" anchor="t">
            <a:spAutoFit/>
          </a:bodyPr>
          <a:lstStyle/>
          <a:p>
            <a:pPr algn="l">
              <a:lnSpc>
                <a:spcPct val="135000"/>
              </a:lnSpc>
              <a:spcAft>
                <a:spcPts val="300"/>
              </a:spcAft>
              <a:defRPr sz="1150" b="0">
                <a:solidFill>
                  <a:srgbClr val="8A929C"/>
                </a:solidFill>
                <a:latin typeface="Meiryo"/>
              </a:defRPr>
            </a:pPr>
            <a:r>
              <a:rPr sz="1150" b="0">
                <a:solidFill>
                  <a:srgbClr val="8A929C"/>
                </a:solidFill>
                <a:latin typeface="Meiryo"/>
              </a:rPr>
              <a:t>地元と首都圏では役割が違います。一律に扱うべきではありません。</a:t>
            </a:r>
          </a:p>
        </p:txBody>
      </p:sp>
      <p:sp>
        <p:nvSpPr>
          <p:cNvPr id="9" name="Rectangle 8"/>
          <p:cNvSpPr/>
          <p:nvPr/>
        </p:nvSpPr>
        <p:spPr>
          <a:xfrm>
            <a:off x="566928" y="2029967"/>
            <a:ext cx="5440680" cy="2286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2029967"/>
            <a:ext cx="5440680" cy="45720"/>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2231136"/>
            <a:ext cx="5020056" cy="274320"/>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地元（長野・群馬）</a:t>
            </a:r>
          </a:p>
        </p:txBody>
      </p:sp>
      <p:sp>
        <p:nvSpPr>
          <p:cNvPr id="12" name="TextBox 11"/>
          <p:cNvSpPr txBox="1"/>
          <p:nvPr/>
        </p:nvSpPr>
        <p:spPr>
          <a:xfrm>
            <a:off x="777240" y="2468879"/>
            <a:ext cx="5020056" cy="365760"/>
          </a:xfrm>
          <a:prstGeom prst="rect">
            <a:avLst/>
          </a:prstGeom>
          <a:noFill/>
        </p:spPr>
        <p:txBody>
          <a:bodyPr wrap="square" lIns="0" rIns="0" tIns="0" bIns="0" anchor="t">
            <a:spAutoFit/>
          </a:bodyPr>
          <a:lstStyle/>
          <a:p>
            <a:pPr algn="l">
              <a:lnSpc>
                <a:spcPct val="135000"/>
              </a:lnSpc>
              <a:spcAft>
                <a:spcPts val="300"/>
              </a:spcAft>
              <a:defRPr sz="1600" b="1">
                <a:solidFill>
                  <a:srgbClr val="2A2E33"/>
                </a:solidFill>
                <a:latin typeface="Meiryo"/>
              </a:defRPr>
            </a:pPr>
            <a:r>
              <a:rPr sz="1600" b="1">
                <a:solidFill>
                  <a:srgbClr val="2A2E33"/>
                </a:solidFill>
                <a:latin typeface="Meiryo"/>
              </a:rPr>
              <a:t>11件 ／ うち具体的に検討 64%</a:t>
            </a:r>
          </a:p>
        </p:txBody>
      </p:sp>
      <p:sp>
        <p:nvSpPr>
          <p:cNvPr id="13" name="TextBox 12"/>
          <p:cNvSpPr txBox="1"/>
          <p:nvPr/>
        </p:nvSpPr>
        <p:spPr>
          <a:xfrm>
            <a:off x="804672" y="2962656"/>
            <a:ext cx="4965192" cy="1152144"/>
          </a:xfrm>
          <a:prstGeom prst="rect">
            <a:avLst/>
          </a:prstGeom>
          <a:noFill/>
        </p:spPr>
        <p:txBody>
          <a:bodyPr wrap="square" lIns="0" rIns="0" tIns="0" bIns="0" anchor="t">
            <a:spAutoFit/>
          </a:bodyPr>
          <a:lstStyle/>
          <a:p>
            <a:pPr algn="l">
              <a:lnSpc>
                <a:spcPct val="150000"/>
              </a:lnSpc>
              <a:spcAft>
                <a:spcPts val="300"/>
              </a:spcAft>
              <a:defRPr sz="1300" b="0">
                <a:solidFill>
                  <a:srgbClr val="454B52"/>
                </a:solidFill>
                <a:latin typeface="Meiryo"/>
              </a:defRPr>
            </a:pPr>
            <a:r>
              <a:rPr sz="1300" b="0">
                <a:solidFill>
                  <a:srgbClr val="454B52"/>
                </a:solidFill>
                <a:latin typeface="Meiryo"/>
              </a:rPr>
              <a:t>件数が多い。ゴルフ場のすぐ近くから着実にお問い合わせが来ています。</a:t>
            </a:r>
          </a:p>
          <a:p>
            <a:pPr algn="l">
              <a:lnSpc>
                <a:spcPct val="150000"/>
              </a:lnSpc>
              <a:spcAft>
                <a:spcPts val="300"/>
              </a:spcAft>
              <a:defRPr sz="1300" b="0">
                <a:solidFill>
                  <a:srgbClr val="454B52"/>
                </a:solidFill>
                <a:latin typeface="Meiryo"/>
              </a:defRPr>
            </a:pPr>
            <a:r>
              <a:rPr sz="1300" b="0">
                <a:solidFill>
                  <a:srgbClr val="454B52"/>
                </a:solidFill>
                <a:latin typeface="Meiryo"/>
              </a:rPr>
              <a:t>佐久市内が2件、隣接する町村が5件。</a:t>
            </a:r>
          </a:p>
        </p:txBody>
      </p:sp>
      <p:sp>
        <p:nvSpPr>
          <p:cNvPr id="14" name="Rectangle 13"/>
          <p:cNvSpPr/>
          <p:nvPr/>
        </p:nvSpPr>
        <p:spPr>
          <a:xfrm>
            <a:off x="6190488" y="2029967"/>
            <a:ext cx="5440680" cy="2286000"/>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0" y="2231136"/>
            <a:ext cx="5020056" cy="274320"/>
          </a:xfrm>
          <a:prstGeom prst="rect">
            <a:avLst/>
          </a:prstGeom>
          <a:noFill/>
        </p:spPr>
        <p:txBody>
          <a:bodyPr wrap="square" lIns="0" rIns="0" tIns="0" bIns="0" anchor="t">
            <a:spAutoFit/>
          </a:bodyPr>
          <a:lstStyle/>
          <a:p>
            <a:pPr algn="l">
              <a:lnSpc>
                <a:spcPct val="135000"/>
              </a:lnSpc>
              <a:spcAft>
                <a:spcPts val="300"/>
              </a:spcAft>
              <a:defRPr sz="1050" b="1">
                <a:solidFill>
                  <a:srgbClr val="8FA3B8"/>
                </a:solidFill>
                <a:latin typeface="Meiryo"/>
              </a:defRPr>
            </a:pPr>
            <a:r>
              <a:rPr sz="1050" b="1">
                <a:solidFill>
                  <a:srgbClr val="8FA3B8"/>
                </a:solidFill>
                <a:latin typeface="Meiryo"/>
              </a:rPr>
              <a:t>首都圏（東京・神奈川・千葉）</a:t>
            </a:r>
          </a:p>
        </p:txBody>
      </p:sp>
      <p:sp>
        <p:nvSpPr>
          <p:cNvPr id="16" name="TextBox 15"/>
          <p:cNvSpPr txBox="1"/>
          <p:nvPr/>
        </p:nvSpPr>
        <p:spPr>
          <a:xfrm>
            <a:off x="6400800" y="2468879"/>
            <a:ext cx="5020056" cy="365760"/>
          </a:xfrm>
          <a:prstGeom prst="rect">
            <a:avLst/>
          </a:prstGeom>
          <a:noFill/>
        </p:spPr>
        <p:txBody>
          <a:bodyPr wrap="square" lIns="0" rIns="0" tIns="0" bIns="0" anchor="t">
            <a:spAutoFit/>
          </a:bodyPr>
          <a:lstStyle/>
          <a:p>
            <a:pPr algn="l">
              <a:lnSpc>
                <a:spcPct val="135000"/>
              </a:lnSpc>
              <a:spcAft>
                <a:spcPts val="300"/>
              </a:spcAft>
              <a:defRPr sz="1600" b="1">
                <a:solidFill>
                  <a:srgbClr val="FFFFFF"/>
                </a:solidFill>
                <a:latin typeface="Meiryo"/>
              </a:defRPr>
            </a:pPr>
            <a:r>
              <a:rPr sz="1600" b="1">
                <a:solidFill>
                  <a:srgbClr val="FFFFFF"/>
                </a:solidFill>
                <a:latin typeface="Meiryo"/>
              </a:rPr>
              <a:t>8件 ／ うち具体的に検討 75%</a:t>
            </a:r>
          </a:p>
        </p:txBody>
      </p:sp>
      <p:sp>
        <p:nvSpPr>
          <p:cNvPr id="17" name="TextBox 16"/>
          <p:cNvSpPr txBox="1"/>
          <p:nvPr/>
        </p:nvSpPr>
        <p:spPr>
          <a:xfrm>
            <a:off x="6428232" y="2962656"/>
            <a:ext cx="4965192" cy="1152144"/>
          </a:xfrm>
          <a:prstGeom prst="rect">
            <a:avLst/>
          </a:prstGeom>
          <a:noFill/>
        </p:spPr>
        <p:txBody>
          <a:bodyPr wrap="square" lIns="0" rIns="0" tIns="0" bIns="0" anchor="t">
            <a:spAutoFit/>
          </a:bodyPr>
          <a:lstStyle/>
          <a:p>
            <a:pPr algn="l">
              <a:lnSpc>
                <a:spcPct val="150000"/>
              </a:lnSpc>
              <a:spcAft>
                <a:spcPts val="300"/>
              </a:spcAft>
              <a:defRPr sz="1300" b="0">
                <a:solidFill>
                  <a:srgbClr val="FFFFFF"/>
                </a:solidFill>
                <a:latin typeface="Meiryo"/>
              </a:defRPr>
            </a:pPr>
            <a:r>
              <a:rPr sz="1300" b="0">
                <a:solidFill>
                  <a:srgbClr val="FFFFFF"/>
                </a:solidFill>
                <a:latin typeface="Meiryo"/>
              </a:rPr>
              <a:t>件数は少ないが、検討度が高い。「遠い」ことを自覚したうえでご検討されています。</a:t>
            </a:r>
          </a:p>
        </p:txBody>
      </p:sp>
      <p:sp>
        <p:nvSpPr>
          <p:cNvPr id="18" name="Rectangle 17"/>
          <p:cNvSpPr/>
          <p:nvPr/>
        </p:nvSpPr>
        <p:spPr>
          <a:xfrm>
            <a:off x="566928" y="4535424"/>
            <a:ext cx="11064240"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535424"/>
            <a:ext cx="11064240" cy="45720"/>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77240" y="4736592"/>
            <a:ext cx="10643615" cy="274320"/>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結論</a:t>
            </a:r>
          </a:p>
        </p:txBody>
      </p:sp>
      <p:sp>
        <p:nvSpPr>
          <p:cNvPr id="21" name="TextBox 20"/>
          <p:cNvSpPr txBox="1"/>
          <p:nvPr/>
        </p:nvSpPr>
        <p:spPr>
          <a:xfrm>
            <a:off x="777240" y="4974336"/>
            <a:ext cx="10643615" cy="365760"/>
          </a:xfrm>
          <a:prstGeom prst="rect">
            <a:avLst/>
          </a:prstGeom>
          <a:noFill/>
        </p:spPr>
        <p:txBody>
          <a:bodyPr wrap="square" lIns="0" rIns="0" tIns="0" bIns="0" anchor="t">
            <a:spAutoFit/>
          </a:bodyPr>
          <a:lstStyle/>
          <a:p>
            <a:pPr algn="l">
              <a:lnSpc>
                <a:spcPct val="135000"/>
              </a:lnSpc>
              <a:spcAft>
                <a:spcPts val="300"/>
              </a:spcAft>
              <a:defRPr sz="1600" b="1">
                <a:solidFill>
                  <a:srgbClr val="2A2E33"/>
                </a:solidFill>
                <a:latin typeface="Meiryo"/>
              </a:defRPr>
            </a:pPr>
            <a:r>
              <a:rPr sz="1600" b="1">
                <a:solidFill>
                  <a:srgbClr val="2A2E33"/>
                </a:solidFill>
                <a:latin typeface="Meiryo"/>
              </a:rPr>
              <a:t>別枠に分けて成果を測るべきです</a:t>
            </a:r>
          </a:p>
        </p:txBody>
      </p:sp>
      <p:sp>
        <p:nvSpPr>
          <p:cNvPr id="22" name="TextBox 21"/>
          <p:cNvSpPr txBox="1"/>
          <p:nvPr/>
        </p:nvSpPr>
        <p:spPr>
          <a:xfrm>
            <a:off x="804672" y="5468112"/>
            <a:ext cx="10588752" cy="-36576"/>
          </a:xfrm>
          <a:prstGeom prst="rect">
            <a:avLst/>
          </a:prstGeom>
          <a:noFill/>
        </p:spPr>
        <p:txBody>
          <a:bodyPr wrap="square" lIns="0" rIns="0" tIns="0" bIns="0" anchor="t">
            <a:spAutoFit/>
          </a:bodyPr>
          <a:lstStyle/>
          <a:p>
            <a:pPr algn="l">
              <a:lnSpc>
                <a:spcPct val="150000"/>
              </a:lnSpc>
              <a:spcAft>
                <a:spcPts val="300"/>
              </a:spcAft>
              <a:defRPr sz="1300" b="0">
                <a:solidFill>
                  <a:srgbClr val="454B52"/>
                </a:solidFill>
                <a:latin typeface="Meiryo"/>
              </a:defRPr>
            </a:pPr>
            <a:r>
              <a:rPr sz="1300" b="0">
                <a:solidFill>
                  <a:srgbClr val="454B52"/>
                </a:solidFill>
                <a:latin typeface="Meiryo"/>
              </a:rPr>
              <a:t>唯一の遠方からの資料請求（神奈川県茅ヶ崎市）は「自宅から遠方のため、まずは資料をもとに検討を始めたい」と述べられていました。</a:t>
            </a:r>
          </a:p>
        </p:txBody>
      </p:sp>
      <p:sp>
        <p:nvSpPr>
          <p:cNvPr id="23" name="TextBox 22"/>
          <p:cNvSpPr txBox="1"/>
          <p:nvPr/>
        </p:nvSpPr>
        <p:spPr>
          <a:xfrm>
            <a:off x="566928" y="5888736"/>
            <a:ext cx="11064240" cy="365760"/>
          </a:xfrm>
          <a:prstGeom prst="rect">
            <a:avLst/>
          </a:prstGeom>
          <a:noFill/>
        </p:spPr>
        <p:txBody>
          <a:bodyPr wrap="square" lIns="0" rIns="0" tIns="0" bIns="0" anchor="t">
            <a:spAutoFit/>
          </a:bodyPr>
          <a:lstStyle/>
          <a:p>
            <a:pPr algn="l">
              <a:lnSpc>
                <a:spcPct val="135000"/>
              </a:lnSpc>
              <a:spcAft>
                <a:spcPts val="300"/>
              </a:spcAft>
              <a:defRPr sz="950" b="0">
                <a:solidFill>
                  <a:srgbClr val="8A929C"/>
                </a:solidFill>
                <a:latin typeface="Meiryo"/>
              </a:defRPr>
            </a:pPr>
            <a:r>
              <a:rPr sz="950" b="0">
                <a:solidFill>
                  <a:srgbClr val="8A929C"/>
                </a:solidFill>
                <a:latin typeface="Meiryo"/>
              </a:rPr>
              <a:t>〈実測〉母集団＝19件（地元11件・首都圏8件）。〈方向性〉母数が少ないため、比率の差は断定ではなく方向性です。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54864" cy="6858000"/>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143000" y="2697480"/>
            <a:ext cx="9144000" cy="310896"/>
          </a:xfrm>
          <a:prstGeom prst="rect">
            <a:avLst/>
          </a:prstGeom>
          <a:noFill/>
        </p:spPr>
        <p:txBody>
          <a:bodyPr wrap="square" lIns="0" rIns="0" tIns="0" bIns="0" anchor="t">
            <a:spAutoFit/>
          </a:bodyPr>
          <a:lstStyle/>
          <a:p>
            <a:pPr algn="l">
              <a:lnSpc>
                <a:spcPct val="135000"/>
              </a:lnSpc>
              <a:spcAft>
                <a:spcPts val="300"/>
              </a:spcAft>
              <a:defRPr sz="1300" b="1">
                <a:solidFill>
                  <a:srgbClr val="A96933"/>
                </a:solidFill>
                <a:latin typeface="Meiryo"/>
              </a:defRPr>
            </a:pPr>
            <a:r>
              <a:rPr sz="1300" b="1">
                <a:solidFill>
                  <a:srgbClr val="A96933"/>
                </a:solidFill>
                <a:latin typeface="Meiryo"/>
              </a:rPr>
              <a:t>PART 3</a:t>
            </a:r>
          </a:p>
        </p:txBody>
      </p:sp>
      <p:sp>
        <p:nvSpPr>
          <p:cNvPr id="5" name="TextBox 4"/>
          <p:cNvSpPr txBox="1"/>
          <p:nvPr/>
        </p:nvSpPr>
        <p:spPr>
          <a:xfrm>
            <a:off x="1143000" y="3127248"/>
            <a:ext cx="9601200" cy="640080"/>
          </a:xfrm>
          <a:prstGeom prst="rect">
            <a:avLst/>
          </a:prstGeom>
          <a:noFill/>
        </p:spPr>
        <p:txBody>
          <a:bodyPr wrap="square" lIns="0" rIns="0" tIns="0" bIns="0" anchor="t">
            <a:spAutoFit/>
          </a:bodyPr>
          <a:lstStyle/>
          <a:p>
            <a:pPr algn="l">
              <a:lnSpc>
                <a:spcPct val="115000"/>
              </a:lnSpc>
              <a:spcAft>
                <a:spcPts val="300"/>
              </a:spcAft>
              <a:defRPr sz="3300" b="1">
                <a:solidFill>
                  <a:srgbClr val="FFFFFF"/>
                </a:solidFill>
                <a:latin typeface="Meiryo"/>
              </a:defRPr>
            </a:pPr>
            <a:r>
              <a:rPr sz="3300" b="1">
                <a:solidFill>
                  <a:srgbClr val="FFFFFF"/>
                </a:solidFill>
                <a:latin typeface="Meiryo"/>
              </a:rPr>
              <a:t>配信の分析</a:t>
            </a:r>
          </a:p>
        </p:txBody>
      </p:sp>
      <p:sp>
        <p:nvSpPr>
          <p:cNvPr id="6" name="Rectangle 5"/>
          <p:cNvSpPr/>
          <p:nvPr/>
        </p:nvSpPr>
        <p:spPr>
          <a:xfrm>
            <a:off x="1143000" y="4041648"/>
            <a:ext cx="2103120" cy="36576"/>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43000" y="4315968"/>
            <a:ext cx="9601200" cy="457200"/>
          </a:xfrm>
          <a:prstGeom prst="rect">
            <a:avLst/>
          </a:prstGeom>
          <a:noFill/>
        </p:spPr>
        <p:txBody>
          <a:bodyPr wrap="square" lIns="0" rIns="0" tIns="0" bIns="0" anchor="t">
            <a:spAutoFit/>
          </a:bodyPr>
          <a:lstStyle/>
          <a:p>
            <a:pPr algn="l">
              <a:lnSpc>
                <a:spcPct val="140000"/>
              </a:lnSpc>
              <a:spcAft>
                <a:spcPts val="300"/>
              </a:spcAft>
              <a:defRPr sz="1500" b="0">
                <a:solidFill>
                  <a:srgbClr val="D6DBE1"/>
                </a:solidFill>
                <a:latin typeface="Meiryo"/>
              </a:defRPr>
            </a:pPr>
            <a:r>
              <a:rPr sz="1500" b="0">
                <a:solidFill>
                  <a:srgbClr val="D6DBE1"/>
                </a:solidFill>
                <a:latin typeface="Meiryo"/>
              </a:rPr>
              <a:t>エリア設定・媒体構成が、成果とどう対応していたかを月単位で検証しました。</a:t>
            </a:r>
          </a:p>
        </p:txBody>
      </p:sp>
      <p:sp>
        <p:nvSpPr>
          <p:cNvPr id="8" name="TextBox 7"/>
          <p:cNvSpPr txBox="1"/>
          <p:nvPr/>
        </p:nvSpPr>
        <p:spPr>
          <a:xfrm>
            <a:off x="11338560" y="6510528"/>
            <a:ext cx="640080" cy="274320"/>
          </a:xfrm>
          <a:prstGeom prst="rect">
            <a:avLst/>
          </a:prstGeom>
          <a:noFill/>
        </p:spPr>
        <p:txBody>
          <a:bodyPr wrap="square" lIns="0" rIns="0" tIns="0" bIns="0" anchor="t">
            <a:spAutoFit/>
          </a:bodyPr>
          <a:lstStyle/>
          <a:p>
            <a:pPr algn="r">
              <a:lnSpc>
                <a:spcPct val="135000"/>
              </a:lnSpc>
              <a:spcAft>
                <a:spcPts val="300"/>
              </a:spcAft>
              <a:defRPr sz="1050" b="0">
                <a:solidFill>
                  <a:srgbClr val="8FA3B8"/>
                </a:solidFill>
                <a:latin typeface="Meiryo"/>
              </a:defRPr>
            </a:pPr>
            <a:r>
              <a:rPr sz="1050" b="0">
                <a:solidFill>
                  <a:srgbClr val="8FA3B8"/>
                </a:solidFill>
                <a:latin typeface="Meiryo"/>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57200"/>
            <a:ext cx="82296" cy="237744"/>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31520" y="438912"/>
            <a:ext cx="10515600" cy="274320"/>
          </a:xfrm>
          <a:prstGeom prst="rect">
            <a:avLst/>
          </a:prstGeom>
          <a:noFill/>
        </p:spPr>
        <p:txBody>
          <a:bodyPr wrap="square" lIns="0" rIns="0" tIns="0" bIns="0" anchor="t">
            <a:spAutoFit/>
          </a:bodyPr>
          <a:lstStyle/>
          <a:p>
            <a:pPr algn="l">
              <a:lnSpc>
                <a:spcPct val="135000"/>
              </a:lnSpc>
              <a:spcAft>
                <a:spcPts val="300"/>
              </a:spcAft>
              <a:defRPr sz="1150" b="1">
                <a:solidFill>
                  <a:srgbClr val="405D7B"/>
                </a:solidFill>
                <a:latin typeface="Meiryo"/>
              </a:defRPr>
            </a:pPr>
            <a:r>
              <a:rPr sz="1150" b="1">
                <a:solidFill>
                  <a:srgbClr val="405D7B"/>
                </a:solidFill>
                <a:latin typeface="Meiryo"/>
              </a:rPr>
              <a:t>3 配信</a:t>
            </a:r>
          </a:p>
        </p:txBody>
      </p:sp>
      <p:sp>
        <p:nvSpPr>
          <p:cNvPr id="4" name="TextBox 3"/>
          <p:cNvSpPr txBox="1"/>
          <p:nvPr/>
        </p:nvSpPr>
        <p:spPr>
          <a:xfrm>
            <a:off x="530352" y="731520"/>
            <a:ext cx="10972800" cy="566928"/>
          </a:xfrm>
          <a:prstGeom prst="rect">
            <a:avLst/>
          </a:prstGeom>
          <a:noFill/>
        </p:spPr>
        <p:txBody>
          <a:bodyPr wrap="square" lIns="0" rIns="0" tIns="0" bIns="0" anchor="t">
            <a:spAutoFit/>
          </a:bodyPr>
          <a:lstStyle/>
          <a:p>
            <a:pPr algn="l">
              <a:lnSpc>
                <a:spcPct val="115000"/>
              </a:lnSpc>
              <a:spcAft>
                <a:spcPts val="300"/>
              </a:spcAft>
              <a:defRPr sz="2700" b="1">
                <a:solidFill>
                  <a:srgbClr val="2A2E33"/>
                </a:solidFill>
                <a:latin typeface="Meiryo"/>
              </a:defRPr>
            </a:pPr>
            <a:r>
              <a:rPr sz="2700" b="1">
                <a:solidFill>
                  <a:srgbClr val="2A2E33"/>
                </a:solidFill>
                <a:latin typeface="Meiryo"/>
              </a:rPr>
              <a:t>成果を生む地域に、集客が向いていません</a:t>
            </a:r>
          </a:p>
        </p:txBody>
      </p:sp>
      <p:sp>
        <p:nvSpPr>
          <p:cNvPr id="5" name="Rectangle 4"/>
          <p:cNvSpPr/>
          <p:nvPr/>
        </p:nvSpPr>
        <p:spPr>
          <a:xfrm>
            <a:off x="566928" y="1399032"/>
            <a:ext cx="1600200" cy="45720"/>
          </a:xfrm>
          <a:prstGeom prst="rect">
            <a:avLst/>
          </a:prstGeom>
          <a:solidFill>
            <a:srgbClr val="334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6928" y="1417320"/>
            <a:ext cx="11064240" cy="9144"/>
          </a:xfrm>
          <a:prstGeom prst="rect">
            <a:avLst/>
          </a:prstGeom>
          <a:solidFill>
            <a:srgbClr val="E2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338560" y="6510528"/>
            <a:ext cx="640080" cy="274320"/>
          </a:xfrm>
          <a:prstGeom prst="rect">
            <a:avLst/>
          </a:prstGeom>
          <a:noFill/>
        </p:spPr>
        <p:txBody>
          <a:bodyPr wrap="square" lIns="0" rIns="0" tIns="0" bIns="0" anchor="t">
            <a:spAutoFit/>
          </a:bodyPr>
          <a:lstStyle/>
          <a:p>
            <a:pPr algn="r">
              <a:lnSpc>
                <a:spcPct val="135000"/>
              </a:lnSpc>
              <a:spcAft>
                <a:spcPts val="300"/>
              </a:spcAft>
              <a:defRPr sz="1050" b="0">
                <a:solidFill>
                  <a:srgbClr val="8A929C"/>
                </a:solidFill>
                <a:latin typeface="Meiryo"/>
              </a:defRPr>
            </a:pPr>
            <a:r>
              <a:rPr sz="1050" b="0">
                <a:solidFill>
                  <a:srgbClr val="8A929C"/>
                </a:solidFill>
                <a:latin typeface="Meiryo"/>
              </a:rPr>
              <a:t>13</a:t>
            </a:r>
          </a:p>
        </p:txBody>
      </p:sp>
      <p:graphicFrame>
        <p:nvGraphicFramePr>
          <p:cNvPr id="8" name="Chart 7"/>
          <p:cNvGraphicFramePr>
            <a:graphicFrameLocks noGrp="1"/>
          </p:cNvGraphicFramePr>
          <p:nvPr/>
        </p:nvGraphicFramePr>
        <p:xfrm>
          <a:off x="566928" y="1737360"/>
          <a:ext cx="6675120" cy="3200400"/>
        </p:xfrm>
        <a:graphic>
          <a:graphicData uri="http://schemas.openxmlformats.org/drawingml/2006/chart">
            <c:chart xmlns:c="http://schemas.openxmlformats.org/drawingml/2006/chart" r:id="rId2"/>
          </a:graphicData>
        </a:graphic>
      </p:graphicFrame>
      <p:sp>
        <p:nvSpPr>
          <p:cNvPr id="9" name="Rectangle 8"/>
          <p:cNvSpPr/>
          <p:nvPr/>
        </p:nvSpPr>
        <p:spPr>
          <a:xfrm>
            <a:off x="7424927" y="1737360"/>
            <a:ext cx="4206240" cy="402336"/>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534655" y="1737360"/>
            <a:ext cx="1282772" cy="402336"/>
          </a:xfrm>
          <a:prstGeom prst="rect">
            <a:avLst/>
          </a:prstGeom>
          <a:noFill/>
        </p:spPr>
        <p:txBody>
          <a:bodyPr wrap="square" lIns="0" rIns="0" tIns="0" bIns="0" anchor="ctr">
            <a:spAutoFit/>
          </a:bodyPr>
          <a:lstStyle/>
          <a:p>
            <a:pPr algn="l">
              <a:lnSpc>
                <a:spcPct val="100000"/>
              </a:lnSpc>
              <a:spcAft>
                <a:spcPts val="0"/>
              </a:spcAft>
              <a:defRPr sz="1150" b="1">
                <a:solidFill>
                  <a:srgbClr val="FFFFFF"/>
                </a:solidFill>
                <a:latin typeface="Meiryo"/>
              </a:defRPr>
            </a:pPr>
            <a:r>
              <a:rPr sz="1150" b="1">
                <a:solidFill>
                  <a:srgbClr val="FFFFFF"/>
                </a:solidFill>
                <a:latin typeface="Meiryo"/>
              </a:rPr>
              <a:t>地域</a:t>
            </a:r>
          </a:p>
        </p:txBody>
      </p:sp>
      <p:sp>
        <p:nvSpPr>
          <p:cNvPr id="11" name="TextBox 10"/>
          <p:cNvSpPr txBox="1"/>
          <p:nvPr/>
        </p:nvSpPr>
        <p:spPr>
          <a:xfrm>
            <a:off x="9036884" y="1737360"/>
            <a:ext cx="631806" cy="402336"/>
          </a:xfrm>
          <a:prstGeom prst="rect">
            <a:avLst/>
          </a:prstGeom>
          <a:noFill/>
        </p:spPr>
        <p:txBody>
          <a:bodyPr wrap="square" lIns="0" rIns="0" tIns="0" bIns="0" anchor="ctr">
            <a:spAutoFit/>
          </a:bodyPr>
          <a:lstStyle/>
          <a:p>
            <a:pPr algn="r">
              <a:lnSpc>
                <a:spcPct val="100000"/>
              </a:lnSpc>
              <a:spcAft>
                <a:spcPts val="0"/>
              </a:spcAft>
              <a:defRPr sz="1150" b="1">
                <a:solidFill>
                  <a:srgbClr val="FFFFFF"/>
                </a:solidFill>
                <a:latin typeface="Meiryo"/>
              </a:defRPr>
            </a:pPr>
            <a:r>
              <a:rPr sz="1150" b="1">
                <a:solidFill>
                  <a:srgbClr val="FFFFFF"/>
                </a:solidFill>
                <a:latin typeface="Meiryo"/>
              </a:rPr>
              <a:t>成果</a:t>
            </a:r>
          </a:p>
        </p:txBody>
      </p:sp>
      <p:sp>
        <p:nvSpPr>
          <p:cNvPr id="12" name="TextBox 11"/>
          <p:cNvSpPr txBox="1"/>
          <p:nvPr/>
        </p:nvSpPr>
        <p:spPr>
          <a:xfrm>
            <a:off x="9888147" y="1737360"/>
            <a:ext cx="681881" cy="402336"/>
          </a:xfrm>
          <a:prstGeom prst="rect">
            <a:avLst/>
          </a:prstGeom>
          <a:noFill/>
        </p:spPr>
        <p:txBody>
          <a:bodyPr wrap="square" lIns="0" rIns="0" tIns="0" bIns="0" anchor="ctr">
            <a:spAutoFit/>
          </a:bodyPr>
          <a:lstStyle/>
          <a:p>
            <a:pPr algn="r">
              <a:lnSpc>
                <a:spcPct val="100000"/>
              </a:lnSpc>
              <a:spcAft>
                <a:spcPts val="0"/>
              </a:spcAft>
              <a:defRPr sz="1150" b="1">
                <a:solidFill>
                  <a:srgbClr val="FFFFFF"/>
                </a:solidFill>
                <a:latin typeface="Meiryo"/>
              </a:defRPr>
            </a:pPr>
            <a:r>
              <a:rPr sz="1150" b="1">
                <a:solidFill>
                  <a:srgbClr val="FFFFFF"/>
                </a:solidFill>
                <a:latin typeface="Meiryo"/>
              </a:rPr>
              <a:t>集客</a:t>
            </a:r>
          </a:p>
        </p:txBody>
      </p:sp>
      <p:sp>
        <p:nvSpPr>
          <p:cNvPr id="13" name="TextBox 12"/>
          <p:cNvSpPr txBox="1"/>
          <p:nvPr/>
        </p:nvSpPr>
        <p:spPr>
          <a:xfrm>
            <a:off x="10789484" y="1737360"/>
            <a:ext cx="731955" cy="402336"/>
          </a:xfrm>
          <a:prstGeom prst="rect">
            <a:avLst/>
          </a:prstGeom>
          <a:noFill/>
        </p:spPr>
        <p:txBody>
          <a:bodyPr wrap="square" lIns="0" rIns="0" tIns="0" bIns="0" anchor="ctr">
            <a:spAutoFit/>
          </a:bodyPr>
          <a:lstStyle/>
          <a:p>
            <a:pPr algn="r">
              <a:lnSpc>
                <a:spcPct val="100000"/>
              </a:lnSpc>
              <a:spcAft>
                <a:spcPts val="0"/>
              </a:spcAft>
              <a:defRPr sz="1150" b="1">
                <a:solidFill>
                  <a:srgbClr val="FFFFFF"/>
                </a:solidFill>
                <a:latin typeface="Meiryo"/>
              </a:defRPr>
            </a:pPr>
            <a:r>
              <a:rPr sz="1150" b="1">
                <a:solidFill>
                  <a:srgbClr val="FFFFFF"/>
                </a:solidFill>
                <a:latin typeface="Meiryo"/>
              </a:rPr>
              <a:t>差</a:t>
            </a:r>
          </a:p>
        </p:txBody>
      </p:sp>
      <p:sp>
        <p:nvSpPr>
          <p:cNvPr id="14" name="Rectangle 13"/>
          <p:cNvSpPr/>
          <p:nvPr/>
        </p:nvSpPr>
        <p:spPr>
          <a:xfrm>
            <a:off x="7424927" y="2139696"/>
            <a:ext cx="4206240" cy="38404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534655" y="2139696"/>
            <a:ext cx="1282772" cy="384048"/>
          </a:xfrm>
          <a:prstGeom prst="rect">
            <a:avLst/>
          </a:prstGeom>
          <a:noFill/>
        </p:spPr>
        <p:txBody>
          <a:bodyPr wrap="square" lIns="0" rIns="0" tIns="0" bIns="0" anchor="ctr">
            <a:spAutoFit/>
          </a:bodyPr>
          <a:lstStyle/>
          <a:p>
            <a:pPr algn="l">
              <a:lnSpc>
                <a:spcPct val="100000"/>
              </a:lnSpc>
              <a:spcAft>
                <a:spcPts val="0"/>
              </a:spcAft>
              <a:defRPr sz="1150" b="1">
                <a:solidFill>
                  <a:srgbClr val="405D7B"/>
                </a:solidFill>
                <a:latin typeface="Meiryo"/>
              </a:defRPr>
            </a:pPr>
            <a:r>
              <a:rPr sz="1150" b="1">
                <a:solidFill>
                  <a:srgbClr val="405D7B"/>
                </a:solidFill>
                <a:latin typeface="Meiryo"/>
              </a:rPr>
              <a:t>長野県</a:t>
            </a:r>
          </a:p>
        </p:txBody>
      </p:sp>
      <p:sp>
        <p:nvSpPr>
          <p:cNvPr id="16" name="TextBox 15"/>
          <p:cNvSpPr txBox="1"/>
          <p:nvPr/>
        </p:nvSpPr>
        <p:spPr>
          <a:xfrm>
            <a:off x="9036884" y="2139696"/>
            <a:ext cx="631806" cy="384048"/>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53%</a:t>
            </a:r>
          </a:p>
        </p:txBody>
      </p:sp>
      <p:sp>
        <p:nvSpPr>
          <p:cNvPr id="17" name="TextBox 16"/>
          <p:cNvSpPr txBox="1"/>
          <p:nvPr/>
        </p:nvSpPr>
        <p:spPr>
          <a:xfrm>
            <a:off x="9888147" y="2139696"/>
            <a:ext cx="681881" cy="384048"/>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16.7%</a:t>
            </a:r>
          </a:p>
        </p:txBody>
      </p:sp>
      <p:sp>
        <p:nvSpPr>
          <p:cNvPr id="18" name="TextBox 17"/>
          <p:cNvSpPr txBox="1"/>
          <p:nvPr/>
        </p:nvSpPr>
        <p:spPr>
          <a:xfrm>
            <a:off x="10789484" y="2139696"/>
            <a:ext cx="731955" cy="384048"/>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−36pt</a:t>
            </a:r>
          </a:p>
        </p:txBody>
      </p:sp>
      <p:sp>
        <p:nvSpPr>
          <p:cNvPr id="19" name="Rectangle 18"/>
          <p:cNvSpPr/>
          <p:nvPr/>
        </p:nvSpPr>
        <p:spPr>
          <a:xfrm>
            <a:off x="7424927" y="2523744"/>
            <a:ext cx="4206240" cy="384048"/>
          </a:xfrm>
          <a:prstGeom prst="rect">
            <a:avLst/>
          </a:prstGeom>
          <a:solidFill>
            <a:srgbClr val="EE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534655" y="2523744"/>
            <a:ext cx="1282772" cy="384048"/>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群馬県</a:t>
            </a:r>
          </a:p>
        </p:txBody>
      </p:sp>
      <p:sp>
        <p:nvSpPr>
          <p:cNvPr id="21" name="TextBox 20"/>
          <p:cNvSpPr txBox="1"/>
          <p:nvPr/>
        </p:nvSpPr>
        <p:spPr>
          <a:xfrm>
            <a:off x="9036884" y="2523744"/>
            <a:ext cx="631806" cy="384048"/>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5%</a:t>
            </a:r>
          </a:p>
        </p:txBody>
      </p:sp>
      <p:sp>
        <p:nvSpPr>
          <p:cNvPr id="22" name="TextBox 21"/>
          <p:cNvSpPr txBox="1"/>
          <p:nvPr/>
        </p:nvSpPr>
        <p:spPr>
          <a:xfrm>
            <a:off x="9888147" y="2523744"/>
            <a:ext cx="681881" cy="384048"/>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2.6%</a:t>
            </a:r>
          </a:p>
        </p:txBody>
      </p:sp>
      <p:sp>
        <p:nvSpPr>
          <p:cNvPr id="23" name="TextBox 22"/>
          <p:cNvSpPr txBox="1"/>
          <p:nvPr/>
        </p:nvSpPr>
        <p:spPr>
          <a:xfrm>
            <a:off x="10789484" y="2523744"/>
            <a:ext cx="731955" cy="384048"/>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−2pt</a:t>
            </a:r>
          </a:p>
        </p:txBody>
      </p:sp>
      <p:sp>
        <p:nvSpPr>
          <p:cNvPr id="24" name="Rectangle 23"/>
          <p:cNvSpPr/>
          <p:nvPr/>
        </p:nvSpPr>
        <p:spPr>
          <a:xfrm>
            <a:off x="7424927" y="2907791"/>
            <a:ext cx="420624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534655" y="2907791"/>
            <a:ext cx="1282772" cy="384048"/>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東京都</a:t>
            </a:r>
          </a:p>
        </p:txBody>
      </p:sp>
      <p:sp>
        <p:nvSpPr>
          <p:cNvPr id="26" name="TextBox 25"/>
          <p:cNvSpPr txBox="1"/>
          <p:nvPr/>
        </p:nvSpPr>
        <p:spPr>
          <a:xfrm>
            <a:off x="9036884" y="2907791"/>
            <a:ext cx="631806" cy="384048"/>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32%</a:t>
            </a:r>
          </a:p>
        </p:txBody>
      </p:sp>
      <p:sp>
        <p:nvSpPr>
          <p:cNvPr id="27" name="TextBox 26"/>
          <p:cNvSpPr txBox="1"/>
          <p:nvPr/>
        </p:nvSpPr>
        <p:spPr>
          <a:xfrm>
            <a:off x="9888147" y="2907791"/>
            <a:ext cx="681881" cy="384048"/>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35.7%</a:t>
            </a:r>
          </a:p>
        </p:txBody>
      </p:sp>
      <p:sp>
        <p:nvSpPr>
          <p:cNvPr id="28" name="TextBox 27"/>
          <p:cNvSpPr txBox="1"/>
          <p:nvPr/>
        </p:nvSpPr>
        <p:spPr>
          <a:xfrm>
            <a:off x="10789484" y="2907791"/>
            <a:ext cx="731955" cy="384048"/>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+4pt</a:t>
            </a:r>
          </a:p>
        </p:txBody>
      </p:sp>
      <p:sp>
        <p:nvSpPr>
          <p:cNvPr id="29" name="Rectangle 28"/>
          <p:cNvSpPr/>
          <p:nvPr/>
        </p:nvSpPr>
        <p:spPr>
          <a:xfrm>
            <a:off x="7424927" y="3291839"/>
            <a:ext cx="4206240" cy="384048"/>
          </a:xfrm>
          <a:prstGeom prst="rect">
            <a:avLst/>
          </a:prstGeom>
          <a:solidFill>
            <a:srgbClr val="EE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534655" y="3291839"/>
            <a:ext cx="1282772" cy="384048"/>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神奈川県</a:t>
            </a:r>
          </a:p>
        </p:txBody>
      </p:sp>
      <p:sp>
        <p:nvSpPr>
          <p:cNvPr id="31" name="TextBox 30"/>
          <p:cNvSpPr txBox="1"/>
          <p:nvPr/>
        </p:nvSpPr>
        <p:spPr>
          <a:xfrm>
            <a:off x="9036884" y="3291839"/>
            <a:ext cx="631806" cy="384048"/>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5%</a:t>
            </a:r>
          </a:p>
        </p:txBody>
      </p:sp>
      <p:sp>
        <p:nvSpPr>
          <p:cNvPr id="32" name="TextBox 31"/>
          <p:cNvSpPr txBox="1"/>
          <p:nvPr/>
        </p:nvSpPr>
        <p:spPr>
          <a:xfrm>
            <a:off x="9888147" y="3291839"/>
            <a:ext cx="681881" cy="384048"/>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13.6%</a:t>
            </a:r>
          </a:p>
        </p:txBody>
      </p:sp>
      <p:sp>
        <p:nvSpPr>
          <p:cNvPr id="33" name="TextBox 32"/>
          <p:cNvSpPr txBox="1"/>
          <p:nvPr/>
        </p:nvSpPr>
        <p:spPr>
          <a:xfrm>
            <a:off x="10789484" y="3291839"/>
            <a:ext cx="731955" cy="384048"/>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+9pt</a:t>
            </a:r>
          </a:p>
        </p:txBody>
      </p:sp>
      <p:sp>
        <p:nvSpPr>
          <p:cNvPr id="34" name="Rectangle 33"/>
          <p:cNvSpPr/>
          <p:nvPr/>
        </p:nvSpPr>
        <p:spPr>
          <a:xfrm>
            <a:off x="7424927" y="3822191"/>
            <a:ext cx="4206240" cy="111556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7424927" y="3822191"/>
            <a:ext cx="4206240" cy="45720"/>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635240" y="4023359"/>
            <a:ext cx="3785615" cy="274320"/>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所見</a:t>
            </a:r>
          </a:p>
        </p:txBody>
      </p:sp>
      <p:sp>
        <p:nvSpPr>
          <p:cNvPr id="37" name="TextBox 36"/>
          <p:cNvSpPr txBox="1"/>
          <p:nvPr/>
        </p:nvSpPr>
        <p:spPr>
          <a:xfrm>
            <a:off x="7635240" y="4261104"/>
            <a:ext cx="3785615" cy="365760"/>
          </a:xfrm>
          <a:prstGeom prst="rect">
            <a:avLst/>
          </a:prstGeom>
          <a:noFill/>
        </p:spPr>
        <p:txBody>
          <a:bodyPr wrap="square" lIns="0" rIns="0" tIns="0" bIns="0" anchor="t">
            <a:spAutoFit/>
          </a:bodyPr>
          <a:lstStyle/>
          <a:p>
            <a:pPr algn="l">
              <a:lnSpc>
                <a:spcPct val="135000"/>
              </a:lnSpc>
              <a:spcAft>
                <a:spcPts val="300"/>
              </a:spcAft>
              <a:defRPr sz="1600" b="1">
                <a:solidFill>
                  <a:srgbClr val="2A2E33"/>
                </a:solidFill>
                <a:latin typeface="Meiryo"/>
              </a:defRPr>
            </a:pPr>
            <a:r>
              <a:rPr sz="1600" b="1">
                <a:solidFill>
                  <a:srgbClr val="2A2E33"/>
                </a:solidFill>
                <a:latin typeface="Meiryo"/>
              </a:rPr>
              <a:t>向き先がズレています</a:t>
            </a:r>
          </a:p>
        </p:txBody>
      </p:sp>
      <p:sp>
        <p:nvSpPr>
          <p:cNvPr id="38" name="TextBox 37"/>
          <p:cNvSpPr txBox="1"/>
          <p:nvPr/>
        </p:nvSpPr>
        <p:spPr>
          <a:xfrm>
            <a:off x="7662671" y="4754879"/>
            <a:ext cx="3730752" cy="-18288"/>
          </a:xfrm>
          <a:prstGeom prst="rect">
            <a:avLst/>
          </a:prstGeom>
          <a:noFill/>
        </p:spPr>
        <p:txBody>
          <a:bodyPr wrap="square" lIns="0" rIns="0" tIns="0" bIns="0" anchor="t">
            <a:spAutoFit/>
          </a:bodyPr>
          <a:lstStyle/>
          <a:p>
            <a:pPr algn="l">
              <a:lnSpc>
                <a:spcPct val="150000"/>
              </a:lnSpc>
              <a:spcAft>
                <a:spcPts val="300"/>
              </a:spcAft>
              <a:defRPr sz="1300" b="0">
                <a:solidFill>
                  <a:srgbClr val="454B52"/>
                </a:solidFill>
                <a:latin typeface="Meiryo"/>
              </a:defRPr>
            </a:pPr>
            <a:r>
              <a:rPr sz="1300" b="0">
                <a:solidFill>
                  <a:srgbClr val="454B52"/>
                </a:solidFill>
                <a:latin typeface="Meiryo"/>
              </a:rPr>
              <a:t>成果の半分以上を生む長野県に、集客の2割弱しか向けていません。</a:t>
            </a:r>
          </a:p>
        </p:txBody>
      </p:sp>
      <p:sp>
        <p:nvSpPr>
          <p:cNvPr id="39" name="TextBox 38"/>
          <p:cNvSpPr txBox="1"/>
          <p:nvPr/>
        </p:nvSpPr>
        <p:spPr>
          <a:xfrm>
            <a:off x="566928" y="5486400"/>
            <a:ext cx="11064240" cy="365760"/>
          </a:xfrm>
          <a:prstGeom prst="rect">
            <a:avLst/>
          </a:prstGeom>
          <a:noFill/>
        </p:spPr>
        <p:txBody>
          <a:bodyPr wrap="square" lIns="0" rIns="0" tIns="0" bIns="0" anchor="t">
            <a:spAutoFit/>
          </a:bodyPr>
          <a:lstStyle/>
          <a:p>
            <a:pPr algn="l">
              <a:lnSpc>
                <a:spcPct val="135000"/>
              </a:lnSpc>
              <a:spcAft>
                <a:spcPts val="300"/>
              </a:spcAft>
              <a:defRPr sz="950" b="0">
                <a:solidFill>
                  <a:srgbClr val="8A929C"/>
                </a:solidFill>
                <a:latin typeface="Meiryo"/>
              </a:defRPr>
            </a:pPr>
            <a:r>
              <a:rPr sz="950" b="0">
                <a:solidFill>
                  <a:srgbClr val="8A929C"/>
                </a:solidFill>
                <a:latin typeface="Meiryo"/>
              </a:rPr>
              <a:t>〈実測〉成果構成比＝第1期19件の居住地分布／集客構成比＝GA4の2026年7月セッション。</a:t>
            </a:r>
          </a:p>
          <a:p>
            <a:pPr algn="l">
              <a:lnSpc>
                <a:spcPct val="135000"/>
              </a:lnSpc>
              <a:spcAft>
                <a:spcPts val="300"/>
              </a:spcAft>
              <a:defRPr sz="950" b="0">
                <a:solidFill>
                  <a:srgbClr val="8A929C"/>
                </a:solidFill>
                <a:latin typeface="Meiryo"/>
              </a:defRPr>
            </a:pPr>
            <a:r>
              <a:rPr sz="950" b="0">
                <a:solidFill>
                  <a:srgbClr val="8A929C"/>
                </a:solidFill>
                <a:latin typeface="Meiryo"/>
              </a:rPr>
              <a:t>分母が異なるため同一指標の比較ではなく、「向き先のズレ」を示すものです。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57200"/>
            <a:ext cx="82296" cy="237744"/>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31520" y="438912"/>
            <a:ext cx="10515600" cy="274320"/>
          </a:xfrm>
          <a:prstGeom prst="rect">
            <a:avLst/>
          </a:prstGeom>
          <a:noFill/>
        </p:spPr>
        <p:txBody>
          <a:bodyPr wrap="square" lIns="0" rIns="0" tIns="0" bIns="0" anchor="t">
            <a:spAutoFit/>
          </a:bodyPr>
          <a:lstStyle/>
          <a:p>
            <a:pPr algn="l">
              <a:lnSpc>
                <a:spcPct val="135000"/>
              </a:lnSpc>
              <a:spcAft>
                <a:spcPts val="300"/>
              </a:spcAft>
              <a:defRPr sz="1150" b="1">
                <a:solidFill>
                  <a:srgbClr val="405D7B"/>
                </a:solidFill>
                <a:latin typeface="Meiryo"/>
              </a:defRPr>
            </a:pPr>
            <a:r>
              <a:rPr sz="1150" b="1">
                <a:solidFill>
                  <a:srgbClr val="405D7B"/>
                </a:solidFill>
                <a:latin typeface="Meiryo"/>
              </a:rPr>
              <a:t>3 配信</a:t>
            </a:r>
          </a:p>
        </p:txBody>
      </p:sp>
      <p:sp>
        <p:nvSpPr>
          <p:cNvPr id="4" name="TextBox 3"/>
          <p:cNvSpPr txBox="1"/>
          <p:nvPr/>
        </p:nvSpPr>
        <p:spPr>
          <a:xfrm>
            <a:off x="530352" y="731520"/>
            <a:ext cx="10972800" cy="566928"/>
          </a:xfrm>
          <a:prstGeom prst="rect">
            <a:avLst/>
          </a:prstGeom>
          <a:noFill/>
        </p:spPr>
        <p:txBody>
          <a:bodyPr wrap="square" lIns="0" rIns="0" tIns="0" bIns="0" anchor="t">
            <a:spAutoFit/>
          </a:bodyPr>
          <a:lstStyle/>
          <a:p>
            <a:pPr algn="l">
              <a:lnSpc>
                <a:spcPct val="115000"/>
              </a:lnSpc>
              <a:spcAft>
                <a:spcPts val="300"/>
              </a:spcAft>
              <a:defRPr sz="2700" b="1">
                <a:solidFill>
                  <a:srgbClr val="2A2E33"/>
                </a:solidFill>
                <a:latin typeface="Meiryo"/>
              </a:defRPr>
            </a:pPr>
            <a:r>
              <a:rPr sz="2700" b="1">
                <a:solidFill>
                  <a:srgbClr val="2A2E33"/>
                </a:solidFill>
                <a:latin typeface="Meiryo"/>
              </a:rPr>
              <a:t>長野からの流入は、最も質が高い</a:t>
            </a:r>
          </a:p>
        </p:txBody>
      </p:sp>
      <p:sp>
        <p:nvSpPr>
          <p:cNvPr id="5" name="Rectangle 4"/>
          <p:cNvSpPr/>
          <p:nvPr/>
        </p:nvSpPr>
        <p:spPr>
          <a:xfrm>
            <a:off x="566928" y="1399032"/>
            <a:ext cx="1600200" cy="45720"/>
          </a:xfrm>
          <a:prstGeom prst="rect">
            <a:avLst/>
          </a:prstGeom>
          <a:solidFill>
            <a:srgbClr val="334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6928" y="1417320"/>
            <a:ext cx="11064240" cy="9144"/>
          </a:xfrm>
          <a:prstGeom prst="rect">
            <a:avLst/>
          </a:prstGeom>
          <a:solidFill>
            <a:srgbClr val="E2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338560" y="6510528"/>
            <a:ext cx="640080" cy="274320"/>
          </a:xfrm>
          <a:prstGeom prst="rect">
            <a:avLst/>
          </a:prstGeom>
          <a:noFill/>
        </p:spPr>
        <p:txBody>
          <a:bodyPr wrap="square" lIns="0" rIns="0" tIns="0" bIns="0" anchor="t">
            <a:spAutoFit/>
          </a:bodyPr>
          <a:lstStyle/>
          <a:p>
            <a:pPr algn="r">
              <a:lnSpc>
                <a:spcPct val="135000"/>
              </a:lnSpc>
              <a:spcAft>
                <a:spcPts val="300"/>
              </a:spcAft>
              <a:defRPr sz="1050" b="0">
                <a:solidFill>
                  <a:srgbClr val="8A929C"/>
                </a:solidFill>
                <a:latin typeface="Meiryo"/>
              </a:defRPr>
            </a:pPr>
            <a:r>
              <a:rPr sz="1050" b="0">
                <a:solidFill>
                  <a:srgbClr val="8A929C"/>
                </a:solidFill>
                <a:latin typeface="Meiryo"/>
              </a:rPr>
              <a:t>14</a:t>
            </a:r>
          </a:p>
        </p:txBody>
      </p:sp>
      <p:sp>
        <p:nvSpPr>
          <p:cNvPr id="8" name="TextBox 7"/>
          <p:cNvSpPr txBox="1"/>
          <p:nvPr/>
        </p:nvSpPr>
        <p:spPr>
          <a:xfrm>
            <a:off x="566928" y="1536192"/>
            <a:ext cx="11064240" cy="274320"/>
          </a:xfrm>
          <a:prstGeom prst="rect">
            <a:avLst/>
          </a:prstGeom>
          <a:noFill/>
        </p:spPr>
        <p:txBody>
          <a:bodyPr wrap="square" lIns="0" rIns="0" tIns="0" bIns="0" anchor="t">
            <a:spAutoFit/>
          </a:bodyPr>
          <a:lstStyle/>
          <a:p>
            <a:pPr algn="l">
              <a:lnSpc>
                <a:spcPct val="135000"/>
              </a:lnSpc>
              <a:spcAft>
                <a:spcPts val="300"/>
              </a:spcAft>
              <a:defRPr sz="1150" b="0">
                <a:solidFill>
                  <a:srgbClr val="8A929C"/>
                </a:solidFill>
                <a:latin typeface="Meiryo"/>
              </a:defRPr>
            </a:pPr>
            <a:r>
              <a:rPr sz="1150" b="0">
                <a:solidFill>
                  <a:srgbClr val="8A929C"/>
                </a:solidFill>
                <a:latin typeface="Meiryo"/>
              </a:rPr>
              <a:t>第2期（2026年5月〜7月）の地域別。集客量が最も少ない長野が、最も読まれています。</a:t>
            </a:r>
          </a:p>
        </p:txBody>
      </p:sp>
      <p:sp>
        <p:nvSpPr>
          <p:cNvPr id="9" name="Rectangle 8"/>
          <p:cNvSpPr/>
          <p:nvPr/>
        </p:nvSpPr>
        <p:spPr>
          <a:xfrm>
            <a:off x="566928" y="1993391"/>
            <a:ext cx="11064240" cy="457200"/>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6656" y="1993391"/>
            <a:ext cx="2901227" cy="457200"/>
          </a:xfrm>
          <a:prstGeom prst="rect">
            <a:avLst/>
          </a:prstGeom>
          <a:noFill/>
        </p:spPr>
        <p:txBody>
          <a:bodyPr wrap="square" lIns="0" rIns="0" tIns="0" bIns="0" anchor="ctr">
            <a:spAutoFit/>
          </a:bodyPr>
          <a:lstStyle/>
          <a:p>
            <a:pPr algn="l">
              <a:lnSpc>
                <a:spcPct val="100000"/>
              </a:lnSpc>
              <a:spcAft>
                <a:spcPts val="0"/>
              </a:spcAft>
              <a:defRPr sz="1150" b="1">
                <a:solidFill>
                  <a:srgbClr val="FFFFFF"/>
                </a:solidFill>
                <a:latin typeface="Meiryo"/>
              </a:defRPr>
            </a:pPr>
            <a:r>
              <a:rPr sz="1150" b="1">
                <a:solidFill>
                  <a:srgbClr val="FFFFFF"/>
                </a:solidFill>
                <a:latin typeface="Meiryo"/>
              </a:rPr>
              <a:t>地域</a:t>
            </a:r>
          </a:p>
        </p:txBody>
      </p:sp>
      <p:sp>
        <p:nvSpPr>
          <p:cNvPr id="11" name="TextBox 10"/>
          <p:cNvSpPr txBox="1"/>
          <p:nvPr/>
        </p:nvSpPr>
        <p:spPr>
          <a:xfrm>
            <a:off x="3797339" y="1993391"/>
            <a:ext cx="1860999" cy="457200"/>
          </a:xfrm>
          <a:prstGeom prst="rect">
            <a:avLst/>
          </a:prstGeom>
          <a:noFill/>
        </p:spPr>
        <p:txBody>
          <a:bodyPr wrap="square" lIns="0" rIns="0" tIns="0" bIns="0" anchor="ctr">
            <a:spAutoFit/>
          </a:bodyPr>
          <a:lstStyle/>
          <a:p>
            <a:pPr algn="r">
              <a:lnSpc>
                <a:spcPct val="100000"/>
              </a:lnSpc>
              <a:spcAft>
                <a:spcPts val="0"/>
              </a:spcAft>
              <a:defRPr sz="1150" b="1">
                <a:solidFill>
                  <a:srgbClr val="FFFFFF"/>
                </a:solidFill>
                <a:latin typeface="Meiryo"/>
              </a:defRPr>
            </a:pPr>
            <a:r>
              <a:rPr sz="1150" b="1">
                <a:solidFill>
                  <a:srgbClr val="FFFFFF"/>
                </a:solidFill>
                <a:latin typeface="Meiryo"/>
              </a:rPr>
              <a:t>セッション</a:t>
            </a:r>
          </a:p>
        </p:txBody>
      </p:sp>
      <p:sp>
        <p:nvSpPr>
          <p:cNvPr id="12" name="TextBox 11"/>
          <p:cNvSpPr txBox="1"/>
          <p:nvPr/>
        </p:nvSpPr>
        <p:spPr>
          <a:xfrm>
            <a:off x="5877794" y="1993391"/>
            <a:ext cx="1671867" cy="457200"/>
          </a:xfrm>
          <a:prstGeom prst="rect">
            <a:avLst/>
          </a:prstGeom>
          <a:noFill/>
        </p:spPr>
        <p:txBody>
          <a:bodyPr wrap="square" lIns="0" rIns="0" tIns="0" bIns="0" anchor="ctr">
            <a:spAutoFit/>
          </a:bodyPr>
          <a:lstStyle/>
          <a:p>
            <a:pPr algn="r">
              <a:lnSpc>
                <a:spcPct val="100000"/>
              </a:lnSpc>
              <a:spcAft>
                <a:spcPts val="0"/>
              </a:spcAft>
              <a:defRPr sz="1150" b="1">
                <a:solidFill>
                  <a:srgbClr val="FFFFFF"/>
                </a:solidFill>
                <a:latin typeface="Meiryo"/>
              </a:defRPr>
            </a:pPr>
            <a:r>
              <a:rPr sz="1150" b="1">
                <a:solidFill>
                  <a:srgbClr val="FFFFFF"/>
                </a:solidFill>
                <a:latin typeface="Meiryo"/>
              </a:rPr>
              <a:t>構成比</a:t>
            </a:r>
          </a:p>
        </p:txBody>
      </p:sp>
      <p:sp>
        <p:nvSpPr>
          <p:cNvPr id="13" name="TextBox 12"/>
          <p:cNvSpPr txBox="1"/>
          <p:nvPr/>
        </p:nvSpPr>
        <p:spPr>
          <a:xfrm>
            <a:off x="7769117" y="1993391"/>
            <a:ext cx="1860999" cy="457200"/>
          </a:xfrm>
          <a:prstGeom prst="rect">
            <a:avLst/>
          </a:prstGeom>
          <a:noFill/>
        </p:spPr>
        <p:txBody>
          <a:bodyPr wrap="square" lIns="0" rIns="0" tIns="0" bIns="0" anchor="ctr">
            <a:spAutoFit/>
          </a:bodyPr>
          <a:lstStyle/>
          <a:p>
            <a:pPr algn="r">
              <a:lnSpc>
                <a:spcPct val="100000"/>
              </a:lnSpc>
              <a:spcAft>
                <a:spcPts val="0"/>
              </a:spcAft>
              <a:defRPr sz="1150" b="1">
                <a:solidFill>
                  <a:srgbClr val="FFFFFF"/>
                </a:solidFill>
                <a:latin typeface="Meiryo"/>
              </a:defRPr>
            </a:pPr>
            <a:r>
              <a:rPr sz="1150" b="1">
                <a:solidFill>
                  <a:srgbClr val="FFFFFF"/>
                </a:solidFill>
                <a:latin typeface="Meiryo"/>
              </a:rPr>
              <a:t>エンゲージ率</a:t>
            </a:r>
          </a:p>
        </p:txBody>
      </p:sp>
      <p:sp>
        <p:nvSpPr>
          <p:cNvPr id="14" name="TextBox 13"/>
          <p:cNvSpPr txBox="1"/>
          <p:nvPr/>
        </p:nvSpPr>
        <p:spPr>
          <a:xfrm>
            <a:off x="9849572" y="1993391"/>
            <a:ext cx="1671867" cy="457200"/>
          </a:xfrm>
          <a:prstGeom prst="rect">
            <a:avLst/>
          </a:prstGeom>
          <a:noFill/>
        </p:spPr>
        <p:txBody>
          <a:bodyPr wrap="square" lIns="0" rIns="0" tIns="0" bIns="0" anchor="ctr">
            <a:spAutoFit/>
          </a:bodyPr>
          <a:lstStyle/>
          <a:p>
            <a:pPr algn="r">
              <a:lnSpc>
                <a:spcPct val="100000"/>
              </a:lnSpc>
              <a:spcAft>
                <a:spcPts val="0"/>
              </a:spcAft>
              <a:defRPr sz="1150" b="1">
                <a:solidFill>
                  <a:srgbClr val="FFFFFF"/>
                </a:solidFill>
                <a:latin typeface="Meiryo"/>
              </a:defRPr>
            </a:pPr>
            <a:r>
              <a:rPr sz="1150" b="1">
                <a:solidFill>
                  <a:srgbClr val="FFFFFF"/>
                </a:solidFill>
                <a:latin typeface="Meiryo"/>
              </a:rPr>
              <a:t>平均滞在</a:t>
            </a:r>
          </a:p>
        </p:txBody>
      </p:sp>
      <p:sp>
        <p:nvSpPr>
          <p:cNvPr id="15" name="Rectangle 14"/>
          <p:cNvSpPr/>
          <p:nvPr/>
        </p:nvSpPr>
        <p:spPr>
          <a:xfrm>
            <a:off x="566928" y="2450591"/>
            <a:ext cx="1106424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6656" y="2450591"/>
            <a:ext cx="2901227" cy="45720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東京都</a:t>
            </a:r>
          </a:p>
        </p:txBody>
      </p:sp>
      <p:sp>
        <p:nvSpPr>
          <p:cNvPr id="17" name="TextBox 16"/>
          <p:cNvSpPr txBox="1"/>
          <p:nvPr/>
        </p:nvSpPr>
        <p:spPr>
          <a:xfrm>
            <a:off x="3797339" y="2450591"/>
            <a:ext cx="1860999" cy="45720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10,262</a:t>
            </a:r>
          </a:p>
        </p:txBody>
      </p:sp>
      <p:sp>
        <p:nvSpPr>
          <p:cNvPr id="18" name="TextBox 17"/>
          <p:cNvSpPr txBox="1"/>
          <p:nvPr/>
        </p:nvSpPr>
        <p:spPr>
          <a:xfrm>
            <a:off x="5877794" y="2450591"/>
            <a:ext cx="1671867" cy="45720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35.7%</a:t>
            </a:r>
          </a:p>
        </p:txBody>
      </p:sp>
      <p:sp>
        <p:nvSpPr>
          <p:cNvPr id="19" name="TextBox 18"/>
          <p:cNvSpPr txBox="1"/>
          <p:nvPr/>
        </p:nvSpPr>
        <p:spPr>
          <a:xfrm>
            <a:off x="7769117" y="2450591"/>
            <a:ext cx="1860999" cy="45720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21.1%</a:t>
            </a:r>
          </a:p>
        </p:txBody>
      </p:sp>
      <p:sp>
        <p:nvSpPr>
          <p:cNvPr id="20" name="TextBox 19"/>
          <p:cNvSpPr txBox="1"/>
          <p:nvPr/>
        </p:nvSpPr>
        <p:spPr>
          <a:xfrm>
            <a:off x="9849572" y="2450591"/>
            <a:ext cx="1671867" cy="45720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3.2秒</a:t>
            </a:r>
          </a:p>
        </p:txBody>
      </p:sp>
      <p:sp>
        <p:nvSpPr>
          <p:cNvPr id="21" name="Rectangle 20"/>
          <p:cNvSpPr/>
          <p:nvPr/>
        </p:nvSpPr>
        <p:spPr>
          <a:xfrm>
            <a:off x="566928" y="2907791"/>
            <a:ext cx="11064240" cy="4572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76656" y="2907791"/>
            <a:ext cx="2901227" cy="457200"/>
          </a:xfrm>
          <a:prstGeom prst="rect">
            <a:avLst/>
          </a:prstGeom>
          <a:noFill/>
        </p:spPr>
        <p:txBody>
          <a:bodyPr wrap="square" lIns="0" rIns="0" tIns="0" bIns="0" anchor="ctr">
            <a:spAutoFit/>
          </a:bodyPr>
          <a:lstStyle/>
          <a:p>
            <a:pPr algn="l">
              <a:lnSpc>
                <a:spcPct val="100000"/>
              </a:lnSpc>
              <a:spcAft>
                <a:spcPts val="0"/>
              </a:spcAft>
              <a:defRPr sz="1150" b="1">
                <a:solidFill>
                  <a:srgbClr val="405D7B"/>
                </a:solidFill>
                <a:latin typeface="Meiryo"/>
              </a:defRPr>
            </a:pPr>
            <a:r>
              <a:rPr sz="1150" b="1">
                <a:solidFill>
                  <a:srgbClr val="405D7B"/>
                </a:solidFill>
                <a:latin typeface="Meiryo"/>
              </a:rPr>
              <a:t>長野県</a:t>
            </a:r>
          </a:p>
        </p:txBody>
      </p:sp>
      <p:sp>
        <p:nvSpPr>
          <p:cNvPr id="23" name="TextBox 22"/>
          <p:cNvSpPr txBox="1"/>
          <p:nvPr/>
        </p:nvSpPr>
        <p:spPr>
          <a:xfrm>
            <a:off x="3797339" y="2907791"/>
            <a:ext cx="1860999" cy="457200"/>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4,802</a:t>
            </a:r>
          </a:p>
        </p:txBody>
      </p:sp>
      <p:sp>
        <p:nvSpPr>
          <p:cNvPr id="24" name="TextBox 23"/>
          <p:cNvSpPr txBox="1"/>
          <p:nvPr/>
        </p:nvSpPr>
        <p:spPr>
          <a:xfrm>
            <a:off x="5877794" y="2907791"/>
            <a:ext cx="1671867" cy="457200"/>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16.7%</a:t>
            </a:r>
          </a:p>
        </p:txBody>
      </p:sp>
      <p:sp>
        <p:nvSpPr>
          <p:cNvPr id="25" name="TextBox 24"/>
          <p:cNvSpPr txBox="1"/>
          <p:nvPr/>
        </p:nvSpPr>
        <p:spPr>
          <a:xfrm>
            <a:off x="7769117" y="2907791"/>
            <a:ext cx="1860999" cy="457200"/>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25.2%</a:t>
            </a:r>
          </a:p>
        </p:txBody>
      </p:sp>
      <p:sp>
        <p:nvSpPr>
          <p:cNvPr id="26" name="TextBox 25"/>
          <p:cNvSpPr txBox="1"/>
          <p:nvPr/>
        </p:nvSpPr>
        <p:spPr>
          <a:xfrm>
            <a:off x="9849572" y="2907791"/>
            <a:ext cx="1671867" cy="457200"/>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5.8秒</a:t>
            </a:r>
          </a:p>
        </p:txBody>
      </p:sp>
      <p:sp>
        <p:nvSpPr>
          <p:cNvPr id="27" name="Rectangle 26"/>
          <p:cNvSpPr/>
          <p:nvPr/>
        </p:nvSpPr>
        <p:spPr>
          <a:xfrm>
            <a:off x="566928" y="3364991"/>
            <a:ext cx="1106424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76656" y="3364991"/>
            <a:ext cx="2901227" cy="45720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神奈川県</a:t>
            </a:r>
          </a:p>
        </p:txBody>
      </p:sp>
      <p:sp>
        <p:nvSpPr>
          <p:cNvPr id="29" name="TextBox 28"/>
          <p:cNvSpPr txBox="1"/>
          <p:nvPr/>
        </p:nvSpPr>
        <p:spPr>
          <a:xfrm>
            <a:off x="3797339" y="3364991"/>
            <a:ext cx="1860999" cy="45720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3,895</a:t>
            </a:r>
          </a:p>
        </p:txBody>
      </p:sp>
      <p:sp>
        <p:nvSpPr>
          <p:cNvPr id="30" name="TextBox 29"/>
          <p:cNvSpPr txBox="1"/>
          <p:nvPr/>
        </p:nvSpPr>
        <p:spPr>
          <a:xfrm>
            <a:off x="5877794" y="3364991"/>
            <a:ext cx="1671867" cy="45720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13.6%</a:t>
            </a:r>
          </a:p>
        </p:txBody>
      </p:sp>
      <p:sp>
        <p:nvSpPr>
          <p:cNvPr id="31" name="TextBox 30"/>
          <p:cNvSpPr txBox="1"/>
          <p:nvPr/>
        </p:nvSpPr>
        <p:spPr>
          <a:xfrm>
            <a:off x="7769117" y="3364991"/>
            <a:ext cx="1860999" cy="45720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22.9%</a:t>
            </a:r>
          </a:p>
        </p:txBody>
      </p:sp>
      <p:sp>
        <p:nvSpPr>
          <p:cNvPr id="32" name="TextBox 31"/>
          <p:cNvSpPr txBox="1"/>
          <p:nvPr/>
        </p:nvSpPr>
        <p:spPr>
          <a:xfrm>
            <a:off x="9849572" y="3364991"/>
            <a:ext cx="1671867" cy="45720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2.8秒</a:t>
            </a:r>
          </a:p>
        </p:txBody>
      </p:sp>
      <p:sp>
        <p:nvSpPr>
          <p:cNvPr id="33" name="Rectangle 32"/>
          <p:cNvSpPr/>
          <p:nvPr/>
        </p:nvSpPr>
        <p:spPr>
          <a:xfrm>
            <a:off x="566928" y="3822191"/>
            <a:ext cx="11064240" cy="457200"/>
          </a:xfrm>
          <a:prstGeom prst="rect">
            <a:avLst/>
          </a:prstGeom>
          <a:solidFill>
            <a:srgbClr val="EE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76656" y="3822191"/>
            <a:ext cx="2901227" cy="45720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埼玉県</a:t>
            </a:r>
          </a:p>
        </p:txBody>
      </p:sp>
      <p:sp>
        <p:nvSpPr>
          <p:cNvPr id="35" name="TextBox 34"/>
          <p:cNvSpPr txBox="1"/>
          <p:nvPr/>
        </p:nvSpPr>
        <p:spPr>
          <a:xfrm>
            <a:off x="3797339" y="3822191"/>
            <a:ext cx="1860999" cy="45720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1,918</a:t>
            </a:r>
          </a:p>
        </p:txBody>
      </p:sp>
      <p:sp>
        <p:nvSpPr>
          <p:cNvPr id="36" name="TextBox 35"/>
          <p:cNvSpPr txBox="1"/>
          <p:nvPr/>
        </p:nvSpPr>
        <p:spPr>
          <a:xfrm>
            <a:off x="5877794" y="3822191"/>
            <a:ext cx="1671867" cy="45720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6.7%</a:t>
            </a:r>
          </a:p>
        </p:txBody>
      </p:sp>
      <p:sp>
        <p:nvSpPr>
          <p:cNvPr id="37" name="TextBox 36"/>
          <p:cNvSpPr txBox="1"/>
          <p:nvPr/>
        </p:nvSpPr>
        <p:spPr>
          <a:xfrm>
            <a:off x="7769117" y="3822191"/>
            <a:ext cx="1860999" cy="45720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22.7%</a:t>
            </a:r>
          </a:p>
        </p:txBody>
      </p:sp>
      <p:sp>
        <p:nvSpPr>
          <p:cNvPr id="38" name="TextBox 37"/>
          <p:cNvSpPr txBox="1"/>
          <p:nvPr/>
        </p:nvSpPr>
        <p:spPr>
          <a:xfrm>
            <a:off x="9849572" y="3822191"/>
            <a:ext cx="1671867" cy="45720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2.5秒</a:t>
            </a:r>
          </a:p>
        </p:txBody>
      </p:sp>
      <p:sp>
        <p:nvSpPr>
          <p:cNvPr id="39" name="Rectangle 38"/>
          <p:cNvSpPr/>
          <p:nvPr/>
        </p:nvSpPr>
        <p:spPr>
          <a:xfrm>
            <a:off x="566928" y="4279392"/>
            <a:ext cx="1106424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76656" y="4279392"/>
            <a:ext cx="2901227" cy="45720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大阪府</a:t>
            </a:r>
          </a:p>
        </p:txBody>
      </p:sp>
      <p:sp>
        <p:nvSpPr>
          <p:cNvPr id="41" name="TextBox 40"/>
          <p:cNvSpPr txBox="1"/>
          <p:nvPr/>
        </p:nvSpPr>
        <p:spPr>
          <a:xfrm>
            <a:off x="3797339" y="4279392"/>
            <a:ext cx="1860999" cy="45720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1,360</a:t>
            </a:r>
          </a:p>
        </p:txBody>
      </p:sp>
      <p:sp>
        <p:nvSpPr>
          <p:cNvPr id="42" name="TextBox 41"/>
          <p:cNvSpPr txBox="1"/>
          <p:nvPr/>
        </p:nvSpPr>
        <p:spPr>
          <a:xfrm>
            <a:off x="5877794" y="4279392"/>
            <a:ext cx="1671867" cy="45720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4.7%</a:t>
            </a:r>
          </a:p>
        </p:txBody>
      </p:sp>
      <p:sp>
        <p:nvSpPr>
          <p:cNvPr id="43" name="TextBox 42"/>
          <p:cNvSpPr txBox="1"/>
          <p:nvPr/>
        </p:nvSpPr>
        <p:spPr>
          <a:xfrm>
            <a:off x="7769117" y="4279392"/>
            <a:ext cx="1860999" cy="45720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24.0%</a:t>
            </a:r>
          </a:p>
        </p:txBody>
      </p:sp>
      <p:sp>
        <p:nvSpPr>
          <p:cNvPr id="44" name="TextBox 43"/>
          <p:cNvSpPr txBox="1"/>
          <p:nvPr/>
        </p:nvSpPr>
        <p:spPr>
          <a:xfrm>
            <a:off x="9849572" y="4279392"/>
            <a:ext cx="1671867" cy="45720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2.5秒</a:t>
            </a:r>
          </a:p>
        </p:txBody>
      </p:sp>
      <p:sp>
        <p:nvSpPr>
          <p:cNvPr id="45" name="Rectangle 44"/>
          <p:cNvSpPr/>
          <p:nvPr/>
        </p:nvSpPr>
        <p:spPr>
          <a:xfrm>
            <a:off x="566928" y="4864608"/>
            <a:ext cx="11064240" cy="106070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566928" y="4864608"/>
            <a:ext cx="11064240" cy="45720"/>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77240" y="5065776"/>
            <a:ext cx="10643615" cy="274320"/>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所見</a:t>
            </a:r>
          </a:p>
        </p:txBody>
      </p:sp>
      <p:sp>
        <p:nvSpPr>
          <p:cNvPr id="48" name="TextBox 47"/>
          <p:cNvSpPr txBox="1"/>
          <p:nvPr/>
        </p:nvSpPr>
        <p:spPr>
          <a:xfrm>
            <a:off x="777240" y="5303520"/>
            <a:ext cx="10643615" cy="365760"/>
          </a:xfrm>
          <a:prstGeom prst="rect">
            <a:avLst/>
          </a:prstGeom>
          <a:noFill/>
        </p:spPr>
        <p:txBody>
          <a:bodyPr wrap="square" lIns="0" rIns="0" tIns="0" bIns="0" anchor="t">
            <a:spAutoFit/>
          </a:bodyPr>
          <a:lstStyle/>
          <a:p>
            <a:pPr algn="l">
              <a:lnSpc>
                <a:spcPct val="135000"/>
              </a:lnSpc>
              <a:spcAft>
                <a:spcPts val="300"/>
              </a:spcAft>
              <a:defRPr sz="1600" b="1">
                <a:solidFill>
                  <a:srgbClr val="2A2E33"/>
                </a:solidFill>
                <a:latin typeface="Meiryo"/>
              </a:defRPr>
            </a:pPr>
            <a:r>
              <a:rPr sz="1600" b="1">
                <a:solidFill>
                  <a:srgbClr val="2A2E33"/>
                </a:solidFill>
                <a:latin typeface="Meiryo"/>
              </a:rPr>
              <a:t>量は最も少なく、質は最も高い</a:t>
            </a:r>
          </a:p>
        </p:txBody>
      </p:sp>
      <p:sp>
        <p:nvSpPr>
          <p:cNvPr id="49" name="TextBox 48"/>
          <p:cNvSpPr txBox="1"/>
          <p:nvPr/>
        </p:nvSpPr>
        <p:spPr>
          <a:xfrm>
            <a:off x="804672" y="5797296"/>
            <a:ext cx="10588752" cy="-73152"/>
          </a:xfrm>
          <a:prstGeom prst="rect">
            <a:avLst/>
          </a:prstGeom>
          <a:noFill/>
        </p:spPr>
        <p:txBody>
          <a:bodyPr wrap="square" lIns="0" rIns="0" tIns="0" bIns="0" anchor="t">
            <a:spAutoFit/>
          </a:bodyPr>
          <a:lstStyle/>
          <a:p>
            <a:pPr algn="l">
              <a:lnSpc>
                <a:spcPct val="150000"/>
              </a:lnSpc>
              <a:spcAft>
                <a:spcPts val="300"/>
              </a:spcAft>
              <a:defRPr sz="1300" b="0">
                <a:solidFill>
                  <a:srgbClr val="454B52"/>
                </a:solidFill>
                <a:latin typeface="Meiryo"/>
              </a:defRPr>
            </a:pPr>
            <a:r>
              <a:rPr sz="1300" b="0">
                <a:solidFill>
                  <a:srgbClr val="454B52"/>
                </a:solidFill>
                <a:latin typeface="Meiryo"/>
              </a:rPr>
              <a:t>長野県は集客構成比では東京の半分以下。しかし平均滞在は東京の1.8倍、エンゲージ率も最も高い水準です。</a:t>
            </a:r>
          </a:p>
        </p:txBody>
      </p:sp>
      <p:sp>
        <p:nvSpPr>
          <p:cNvPr id="50" name="TextBox 49"/>
          <p:cNvSpPr txBox="1"/>
          <p:nvPr/>
        </p:nvSpPr>
        <p:spPr>
          <a:xfrm>
            <a:off x="566928" y="6053328"/>
            <a:ext cx="11064240" cy="365760"/>
          </a:xfrm>
          <a:prstGeom prst="rect">
            <a:avLst/>
          </a:prstGeom>
          <a:noFill/>
        </p:spPr>
        <p:txBody>
          <a:bodyPr wrap="square" lIns="0" rIns="0" tIns="0" bIns="0" anchor="t">
            <a:spAutoFit/>
          </a:bodyPr>
          <a:lstStyle/>
          <a:p>
            <a:pPr algn="l">
              <a:lnSpc>
                <a:spcPct val="135000"/>
              </a:lnSpc>
              <a:spcAft>
                <a:spcPts val="300"/>
              </a:spcAft>
              <a:defRPr sz="950" b="0">
                <a:solidFill>
                  <a:srgbClr val="8A929C"/>
                </a:solidFill>
                <a:latin typeface="Meiryo"/>
              </a:defRPr>
            </a:pPr>
            <a:r>
              <a:rPr sz="950" b="0">
                <a:solidFill>
                  <a:srgbClr val="8A929C"/>
                </a:solidFill>
                <a:latin typeface="Meiryo"/>
              </a:rPr>
              <a:t>〈実測〉GA4（2026年5月1日〜7月21日）。平均滞在は総エンゲージメント時間÷セッション数で算出。</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57200"/>
            <a:ext cx="82296" cy="237744"/>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31520" y="438912"/>
            <a:ext cx="10515600" cy="274320"/>
          </a:xfrm>
          <a:prstGeom prst="rect">
            <a:avLst/>
          </a:prstGeom>
          <a:noFill/>
        </p:spPr>
        <p:txBody>
          <a:bodyPr wrap="square" lIns="0" rIns="0" tIns="0" bIns="0" anchor="t">
            <a:spAutoFit/>
          </a:bodyPr>
          <a:lstStyle/>
          <a:p>
            <a:pPr algn="l">
              <a:lnSpc>
                <a:spcPct val="135000"/>
              </a:lnSpc>
              <a:spcAft>
                <a:spcPts val="300"/>
              </a:spcAft>
              <a:defRPr sz="1150" b="1">
                <a:solidFill>
                  <a:srgbClr val="405D7B"/>
                </a:solidFill>
                <a:latin typeface="Meiryo"/>
              </a:defRPr>
            </a:pPr>
            <a:r>
              <a:rPr sz="1150" b="1">
                <a:solidFill>
                  <a:srgbClr val="405D7B"/>
                </a:solidFill>
                <a:latin typeface="Meiryo"/>
              </a:rPr>
              <a:t>3 配信</a:t>
            </a:r>
          </a:p>
        </p:txBody>
      </p:sp>
      <p:sp>
        <p:nvSpPr>
          <p:cNvPr id="4" name="TextBox 3"/>
          <p:cNvSpPr txBox="1"/>
          <p:nvPr/>
        </p:nvSpPr>
        <p:spPr>
          <a:xfrm>
            <a:off x="530352" y="731520"/>
            <a:ext cx="10972800" cy="566928"/>
          </a:xfrm>
          <a:prstGeom prst="rect">
            <a:avLst/>
          </a:prstGeom>
          <a:noFill/>
        </p:spPr>
        <p:txBody>
          <a:bodyPr wrap="square" lIns="0" rIns="0" tIns="0" bIns="0" anchor="t">
            <a:spAutoFit/>
          </a:bodyPr>
          <a:lstStyle/>
          <a:p>
            <a:pPr algn="l">
              <a:lnSpc>
                <a:spcPct val="115000"/>
              </a:lnSpc>
              <a:spcAft>
                <a:spcPts val="300"/>
              </a:spcAft>
              <a:defRPr sz="2700" b="1">
                <a:solidFill>
                  <a:srgbClr val="2A2E33"/>
                </a:solidFill>
                <a:latin typeface="Meiryo"/>
              </a:defRPr>
            </a:pPr>
            <a:r>
              <a:rPr sz="2700" b="1">
                <a:solidFill>
                  <a:srgbClr val="2A2E33"/>
                </a:solidFill>
                <a:latin typeface="Meiryo"/>
              </a:rPr>
              <a:t>配信エリアの設定と成果は、月単位で対応していました</a:t>
            </a:r>
          </a:p>
        </p:txBody>
      </p:sp>
      <p:sp>
        <p:nvSpPr>
          <p:cNvPr id="5" name="Rectangle 4"/>
          <p:cNvSpPr/>
          <p:nvPr/>
        </p:nvSpPr>
        <p:spPr>
          <a:xfrm>
            <a:off x="566928" y="1399032"/>
            <a:ext cx="1600200" cy="45720"/>
          </a:xfrm>
          <a:prstGeom prst="rect">
            <a:avLst/>
          </a:prstGeom>
          <a:solidFill>
            <a:srgbClr val="334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6928" y="1417320"/>
            <a:ext cx="11064240" cy="9144"/>
          </a:xfrm>
          <a:prstGeom prst="rect">
            <a:avLst/>
          </a:prstGeom>
          <a:solidFill>
            <a:srgbClr val="E2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338560" y="6510528"/>
            <a:ext cx="640080" cy="274320"/>
          </a:xfrm>
          <a:prstGeom prst="rect">
            <a:avLst/>
          </a:prstGeom>
          <a:noFill/>
        </p:spPr>
        <p:txBody>
          <a:bodyPr wrap="square" lIns="0" rIns="0" tIns="0" bIns="0" anchor="t">
            <a:spAutoFit/>
          </a:bodyPr>
          <a:lstStyle/>
          <a:p>
            <a:pPr algn="r">
              <a:lnSpc>
                <a:spcPct val="135000"/>
              </a:lnSpc>
              <a:spcAft>
                <a:spcPts val="300"/>
              </a:spcAft>
              <a:defRPr sz="1050" b="0">
                <a:solidFill>
                  <a:srgbClr val="8A929C"/>
                </a:solidFill>
                <a:latin typeface="Meiryo"/>
              </a:defRPr>
            </a:pPr>
            <a:r>
              <a:rPr sz="1050" b="0">
                <a:solidFill>
                  <a:srgbClr val="8A929C"/>
                </a:solidFill>
                <a:latin typeface="Meiryo"/>
              </a:rPr>
              <a:t>15</a:t>
            </a:r>
          </a:p>
        </p:txBody>
      </p:sp>
      <p:sp>
        <p:nvSpPr>
          <p:cNvPr id="8" name="Rectangle 7"/>
          <p:cNvSpPr/>
          <p:nvPr/>
        </p:nvSpPr>
        <p:spPr>
          <a:xfrm>
            <a:off x="566928" y="1737360"/>
            <a:ext cx="6675120" cy="384048"/>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76656" y="1737360"/>
            <a:ext cx="1517904" cy="384048"/>
          </a:xfrm>
          <a:prstGeom prst="rect">
            <a:avLst/>
          </a:prstGeom>
          <a:noFill/>
        </p:spPr>
        <p:txBody>
          <a:bodyPr wrap="square" lIns="0" rIns="0" tIns="0" bIns="0" anchor="ctr">
            <a:spAutoFit/>
          </a:bodyPr>
          <a:lstStyle/>
          <a:p>
            <a:pPr algn="l">
              <a:lnSpc>
                <a:spcPct val="100000"/>
              </a:lnSpc>
              <a:spcAft>
                <a:spcPts val="0"/>
              </a:spcAft>
              <a:defRPr sz="1150" b="1">
                <a:solidFill>
                  <a:srgbClr val="FFFFFF"/>
                </a:solidFill>
                <a:latin typeface="Meiryo"/>
              </a:defRPr>
            </a:pPr>
            <a:r>
              <a:rPr sz="1150" b="1">
                <a:solidFill>
                  <a:srgbClr val="FFFFFF"/>
                </a:solidFill>
                <a:latin typeface="Meiryo"/>
              </a:rPr>
              <a:t>月</a:t>
            </a:r>
          </a:p>
        </p:txBody>
      </p:sp>
      <p:sp>
        <p:nvSpPr>
          <p:cNvPr id="10" name="TextBox 9"/>
          <p:cNvSpPr txBox="1"/>
          <p:nvPr/>
        </p:nvSpPr>
        <p:spPr>
          <a:xfrm>
            <a:off x="2414016" y="1737360"/>
            <a:ext cx="3163824" cy="384048"/>
          </a:xfrm>
          <a:prstGeom prst="rect">
            <a:avLst/>
          </a:prstGeom>
          <a:noFill/>
        </p:spPr>
        <p:txBody>
          <a:bodyPr wrap="square" lIns="0" rIns="0" tIns="0" bIns="0" anchor="ctr">
            <a:spAutoFit/>
          </a:bodyPr>
          <a:lstStyle/>
          <a:p>
            <a:pPr algn="l">
              <a:lnSpc>
                <a:spcPct val="100000"/>
              </a:lnSpc>
              <a:spcAft>
                <a:spcPts val="0"/>
              </a:spcAft>
              <a:defRPr sz="1150" b="1">
                <a:solidFill>
                  <a:srgbClr val="FFFFFF"/>
                </a:solidFill>
                <a:latin typeface="Meiryo"/>
              </a:defRPr>
            </a:pPr>
            <a:r>
              <a:rPr sz="1150" b="1">
                <a:solidFill>
                  <a:srgbClr val="FFFFFF"/>
                </a:solidFill>
                <a:latin typeface="Meiryo"/>
              </a:rPr>
              <a:t>Meta広告の配信エリア</a:t>
            </a:r>
          </a:p>
        </p:txBody>
      </p:sp>
      <p:sp>
        <p:nvSpPr>
          <p:cNvPr id="11" name="TextBox 10"/>
          <p:cNvSpPr txBox="1"/>
          <p:nvPr/>
        </p:nvSpPr>
        <p:spPr>
          <a:xfrm>
            <a:off x="5797296" y="1737360"/>
            <a:ext cx="1335024" cy="384048"/>
          </a:xfrm>
          <a:prstGeom prst="rect">
            <a:avLst/>
          </a:prstGeom>
          <a:noFill/>
        </p:spPr>
        <p:txBody>
          <a:bodyPr wrap="square" lIns="0" rIns="0" tIns="0" bIns="0" anchor="ctr">
            <a:spAutoFit/>
          </a:bodyPr>
          <a:lstStyle/>
          <a:p>
            <a:pPr algn="r">
              <a:lnSpc>
                <a:spcPct val="100000"/>
              </a:lnSpc>
              <a:spcAft>
                <a:spcPts val="0"/>
              </a:spcAft>
              <a:defRPr sz="1150" b="1">
                <a:solidFill>
                  <a:srgbClr val="FFFFFF"/>
                </a:solidFill>
                <a:latin typeface="Meiryo"/>
              </a:defRPr>
            </a:pPr>
            <a:r>
              <a:rPr sz="1150" b="1">
                <a:solidFill>
                  <a:srgbClr val="FFFFFF"/>
                </a:solidFill>
                <a:latin typeface="Meiryo"/>
              </a:rPr>
              <a:t>お問い合わせ</a:t>
            </a:r>
          </a:p>
        </p:txBody>
      </p:sp>
      <p:sp>
        <p:nvSpPr>
          <p:cNvPr id="12" name="Rectangle 11"/>
          <p:cNvSpPr/>
          <p:nvPr/>
        </p:nvSpPr>
        <p:spPr>
          <a:xfrm>
            <a:off x="566928" y="2121408"/>
            <a:ext cx="667512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6656" y="2121408"/>
            <a:ext cx="1517904"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2025年9月</a:t>
            </a:r>
          </a:p>
        </p:txBody>
      </p:sp>
      <p:sp>
        <p:nvSpPr>
          <p:cNvPr id="14" name="TextBox 13"/>
          <p:cNvSpPr txBox="1"/>
          <p:nvPr/>
        </p:nvSpPr>
        <p:spPr>
          <a:xfrm>
            <a:off x="2414016" y="2121408"/>
            <a:ext cx="3163824"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東京23区</a:t>
            </a:r>
          </a:p>
        </p:txBody>
      </p:sp>
      <p:sp>
        <p:nvSpPr>
          <p:cNvPr id="15" name="TextBox 14"/>
          <p:cNvSpPr txBox="1"/>
          <p:nvPr/>
        </p:nvSpPr>
        <p:spPr>
          <a:xfrm>
            <a:off x="5797296" y="2121408"/>
            <a:ext cx="1335024"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3件</a:t>
            </a:r>
          </a:p>
        </p:txBody>
      </p:sp>
      <p:sp>
        <p:nvSpPr>
          <p:cNvPr id="16" name="Rectangle 15"/>
          <p:cNvSpPr/>
          <p:nvPr/>
        </p:nvSpPr>
        <p:spPr>
          <a:xfrm>
            <a:off x="566928" y="2487168"/>
            <a:ext cx="6675120" cy="365760"/>
          </a:xfrm>
          <a:prstGeom prst="rect">
            <a:avLst/>
          </a:prstGeom>
          <a:solidFill>
            <a:srgbClr val="EE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6656" y="2487168"/>
            <a:ext cx="1517904"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2025年10月</a:t>
            </a:r>
          </a:p>
        </p:txBody>
      </p:sp>
      <p:sp>
        <p:nvSpPr>
          <p:cNvPr id="18" name="TextBox 17"/>
          <p:cNvSpPr txBox="1"/>
          <p:nvPr/>
        </p:nvSpPr>
        <p:spPr>
          <a:xfrm>
            <a:off x="2414016" y="2487168"/>
            <a:ext cx="3163824"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ゴルフ場から半径40km</a:t>
            </a:r>
          </a:p>
        </p:txBody>
      </p:sp>
      <p:sp>
        <p:nvSpPr>
          <p:cNvPr id="19" name="TextBox 18"/>
          <p:cNvSpPr txBox="1"/>
          <p:nvPr/>
        </p:nvSpPr>
        <p:spPr>
          <a:xfrm>
            <a:off x="5797296" y="2487168"/>
            <a:ext cx="1335024"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3件</a:t>
            </a:r>
          </a:p>
        </p:txBody>
      </p:sp>
      <p:sp>
        <p:nvSpPr>
          <p:cNvPr id="20" name="Rectangle 19"/>
          <p:cNvSpPr/>
          <p:nvPr/>
        </p:nvSpPr>
        <p:spPr>
          <a:xfrm>
            <a:off x="566928" y="2852927"/>
            <a:ext cx="667512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76656" y="2852927"/>
            <a:ext cx="1517904"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2025年11月</a:t>
            </a:r>
          </a:p>
        </p:txBody>
      </p:sp>
      <p:sp>
        <p:nvSpPr>
          <p:cNvPr id="22" name="TextBox 21"/>
          <p:cNvSpPr txBox="1"/>
          <p:nvPr/>
        </p:nvSpPr>
        <p:spPr>
          <a:xfrm>
            <a:off x="2414016" y="2852927"/>
            <a:ext cx="3163824"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Meta配信なし</a:t>
            </a:r>
          </a:p>
        </p:txBody>
      </p:sp>
      <p:sp>
        <p:nvSpPr>
          <p:cNvPr id="23" name="TextBox 22"/>
          <p:cNvSpPr txBox="1"/>
          <p:nvPr/>
        </p:nvSpPr>
        <p:spPr>
          <a:xfrm>
            <a:off x="5797296" y="2852927"/>
            <a:ext cx="1335024"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0件</a:t>
            </a:r>
          </a:p>
        </p:txBody>
      </p:sp>
      <p:sp>
        <p:nvSpPr>
          <p:cNvPr id="24" name="Rectangle 23"/>
          <p:cNvSpPr/>
          <p:nvPr/>
        </p:nvSpPr>
        <p:spPr>
          <a:xfrm>
            <a:off x="566928" y="3218687"/>
            <a:ext cx="6675120" cy="365760"/>
          </a:xfrm>
          <a:prstGeom prst="rect">
            <a:avLst/>
          </a:prstGeom>
          <a:solidFill>
            <a:srgbClr val="EE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76656" y="3218687"/>
            <a:ext cx="1517904"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2025年12月</a:t>
            </a:r>
          </a:p>
        </p:txBody>
      </p:sp>
      <p:sp>
        <p:nvSpPr>
          <p:cNvPr id="26" name="TextBox 25"/>
          <p:cNvSpPr txBox="1"/>
          <p:nvPr/>
        </p:nvSpPr>
        <p:spPr>
          <a:xfrm>
            <a:off x="2414016" y="3218687"/>
            <a:ext cx="3163824"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東京23区</a:t>
            </a:r>
          </a:p>
        </p:txBody>
      </p:sp>
      <p:sp>
        <p:nvSpPr>
          <p:cNvPr id="27" name="TextBox 26"/>
          <p:cNvSpPr txBox="1"/>
          <p:nvPr/>
        </p:nvSpPr>
        <p:spPr>
          <a:xfrm>
            <a:off x="5797296" y="3218687"/>
            <a:ext cx="1335024"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2件</a:t>
            </a:r>
          </a:p>
        </p:txBody>
      </p:sp>
      <p:sp>
        <p:nvSpPr>
          <p:cNvPr id="28" name="Rectangle 27"/>
          <p:cNvSpPr/>
          <p:nvPr/>
        </p:nvSpPr>
        <p:spPr>
          <a:xfrm>
            <a:off x="566928" y="3584447"/>
            <a:ext cx="667512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76656" y="3584447"/>
            <a:ext cx="1517904"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2026年1月</a:t>
            </a:r>
          </a:p>
        </p:txBody>
      </p:sp>
      <p:sp>
        <p:nvSpPr>
          <p:cNvPr id="30" name="TextBox 29"/>
          <p:cNvSpPr txBox="1"/>
          <p:nvPr/>
        </p:nvSpPr>
        <p:spPr>
          <a:xfrm>
            <a:off x="2414016" y="3584447"/>
            <a:ext cx="3163824"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半径24km</a:t>
            </a:r>
          </a:p>
        </p:txBody>
      </p:sp>
      <p:sp>
        <p:nvSpPr>
          <p:cNvPr id="31" name="TextBox 30"/>
          <p:cNvSpPr txBox="1"/>
          <p:nvPr/>
        </p:nvSpPr>
        <p:spPr>
          <a:xfrm>
            <a:off x="5797296" y="3584447"/>
            <a:ext cx="1335024"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2件</a:t>
            </a:r>
          </a:p>
        </p:txBody>
      </p:sp>
      <p:sp>
        <p:nvSpPr>
          <p:cNvPr id="32" name="Rectangle 31"/>
          <p:cNvSpPr/>
          <p:nvPr/>
        </p:nvSpPr>
        <p:spPr>
          <a:xfrm>
            <a:off x="566928" y="3950207"/>
            <a:ext cx="6675120" cy="365760"/>
          </a:xfrm>
          <a:prstGeom prst="rect">
            <a:avLst/>
          </a:prstGeom>
          <a:solidFill>
            <a:srgbClr val="EE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76656" y="3950207"/>
            <a:ext cx="1517904"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2026年2月</a:t>
            </a:r>
          </a:p>
        </p:txBody>
      </p:sp>
      <p:sp>
        <p:nvSpPr>
          <p:cNvPr id="34" name="TextBox 33"/>
          <p:cNvSpPr txBox="1"/>
          <p:nvPr/>
        </p:nvSpPr>
        <p:spPr>
          <a:xfrm>
            <a:off x="2414016" y="3950207"/>
            <a:ext cx="3163824"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半径48〜49km</a:t>
            </a:r>
          </a:p>
        </p:txBody>
      </p:sp>
      <p:sp>
        <p:nvSpPr>
          <p:cNvPr id="35" name="TextBox 34"/>
          <p:cNvSpPr txBox="1"/>
          <p:nvPr/>
        </p:nvSpPr>
        <p:spPr>
          <a:xfrm>
            <a:off x="5797296" y="3950207"/>
            <a:ext cx="1335024"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3件</a:t>
            </a:r>
          </a:p>
        </p:txBody>
      </p:sp>
      <p:sp>
        <p:nvSpPr>
          <p:cNvPr id="36" name="Rectangle 35"/>
          <p:cNvSpPr/>
          <p:nvPr/>
        </p:nvSpPr>
        <p:spPr>
          <a:xfrm>
            <a:off x="566928" y="4315968"/>
            <a:ext cx="6675120" cy="3657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76656" y="4315968"/>
            <a:ext cx="1517904" cy="365760"/>
          </a:xfrm>
          <a:prstGeom prst="rect">
            <a:avLst/>
          </a:prstGeom>
          <a:noFill/>
        </p:spPr>
        <p:txBody>
          <a:bodyPr wrap="square" lIns="0" rIns="0" tIns="0" bIns="0" anchor="ctr">
            <a:spAutoFit/>
          </a:bodyPr>
          <a:lstStyle/>
          <a:p>
            <a:pPr algn="l">
              <a:lnSpc>
                <a:spcPct val="100000"/>
              </a:lnSpc>
              <a:spcAft>
                <a:spcPts val="0"/>
              </a:spcAft>
              <a:defRPr sz="1150" b="1">
                <a:solidFill>
                  <a:srgbClr val="405D7B"/>
                </a:solidFill>
                <a:latin typeface="Meiryo"/>
              </a:defRPr>
            </a:pPr>
            <a:r>
              <a:rPr sz="1150" b="1">
                <a:solidFill>
                  <a:srgbClr val="405D7B"/>
                </a:solidFill>
                <a:latin typeface="Meiryo"/>
              </a:rPr>
              <a:t>2026年3月</a:t>
            </a:r>
          </a:p>
        </p:txBody>
      </p:sp>
      <p:sp>
        <p:nvSpPr>
          <p:cNvPr id="38" name="TextBox 37"/>
          <p:cNvSpPr txBox="1"/>
          <p:nvPr/>
        </p:nvSpPr>
        <p:spPr>
          <a:xfrm>
            <a:off x="2414016" y="4315968"/>
            <a:ext cx="3163824" cy="365760"/>
          </a:xfrm>
          <a:prstGeom prst="rect">
            <a:avLst/>
          </a:prstGeom>
          <a:noFill/>
        </p:spPr>
        <p:txBody>
          <a:bodyPr wrap="square" lIns="0" rIns="0" tIns="0" bIns="0" anchor="ctr">
            <a:spAutoFit/>
          </a:bodyPr>
          <a:lstStyle/>
          <a:p>
            <a:pPr algn="l">
              <a:lnSpc>
                <a:spcPct val="100000"/>
              </a:lnSpc>
              <a:spcAft>
                <a:spcPts val="0"/>
              </a:spcAft>
              <a:defRPr sz="1150" b="1">
                <a:solidFill>
                  <a:srgbClr val="405D7B"/>
                </a:solidFill>
                <a:latin typeface="Meiryo"/>
              </a:defRPr>
            </a:pPr>
            <a:r>
              <a:rPr sz="1150" b="1">
                <a:solidFill>
                  <a:srgbClr val="405D7B"/>
                </a:solidFill>
                <a:latin typeface="Meiryo"/>
              </a:rPr>
              <a:t>半径48〜49km</a:t>
            </a:r>
          </a:p>
        </p:txBody>
      </p:sp>
      <p:sp>
        <p:nvSpPr>
          <p:cNvPr id="39" name="TextBox 38"/>
          <p:cNvSpPr txBox="1"/>
          <p:nvPr/>
        </p:nvSpPr>
        <p:spPr>
          <a:xfrm>
            <a:off x="5797296" y="4315968"/>
            <a:ext cx="1335024" cy="365760"/>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5件（最良）</a:t>
            </a:r>
          </a:p>
        </p:txBody>
      </p:sp>
      <p:sp>
        <p:nvSpPr>
          <p:cNvPr id="40" name="Rectangle 39"/>
          <p:cNvSpPr/>
          <p:nvPr/>
        </p:nvSpPr>
        <p:spPr>
          <a:xfrm>
            <a:off x="566928" y="4681728"/>
            <a:ext cx="6675120" cy="365760"/>
          </a:xfrm>
          <a:prstGeom prst="rect">
            <a:avLst/>
          </a:prstGeom>
          <a:solidFill>
            <a:srgbClr val="EE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76656" y="4681728"/>
            <a:ext cx="1517904"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2026年6月</a:t>
            </a:r>
          </a:p>
        </p:txBody>
      </p:sp>
      <p:sp>
        <p:nvSpPr>
          <p:cNvPr id="42" name="TextBox 41"/>
          <p:cNvSpPr txBox="1"/>
          <p:nvPr/>
        </p:nvSpPr>
        <p:spPr>
          <a:xfrm>
            <a:off x="2414016" y="4681728"/>
            <a:ext cx="3163824"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半径50km</a:t>
            </a:r>
          </a:p>
        </p:txBody>
      </p:sp>
      <p:sp>
        <p:nvSpPr>
          <p:cNvPr id="43" name="TextBox 42"/>
          <p:cNvSpPr txBox="1"/>
          <p:nvPr/>
        </p:nvSpPr>
        <p:spPr>
          <a:xfrm>
            <a:off x="5797296" y="4681728"/>
            <a:ext cx="1335024"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1件</a:t>
            </a:r>
          </a:p>
        </p:txBody>
      </p:sp>
      <p:sp>
        <p:nvSpPr>
          <p:cNvPr id="44" name="Rectangle 43"/>
          <p:cNvSpPr/>
          <p:nvPr/>
        </p:nvSpPr>
        <p:spPr>
          <a:xfrm>
            <a:off x="566928" y="5047488"/>
            <a:ext cx="667512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76656" y="5047488"/>
            <a:ext cx="1517904" cy="365760"/>
          </a:xfrm>
          <a:prstGeom prst="rect">
            <a:avLst/>
          </a:prstGeom>
          <a:noFill/>
        </p:spPr>
        <p:txBody>
          <a:bodyPr wrap="square" lIns="0" rIns="0" tIns="0" bIns="0" anchor="ctr">
            <a:spAutoFit/>
          </a:bodyPr>
          <a:lstStyle/>
          <a:p>
            <a:pPr algn="l">
              <a:lnSpc>
                <a:spcPct val="100000"/>
              </a:lnSpc>
              <a:spcAft>
                <a:spcPts val="0"/>
              </a:spcAft>
              <a:defRPr sz="1150" b="1">
                <a:solidFill>
                  <a:srgbClr val="405D7B"/>
                </a:solidFill>
                <a:latin typeface="Meiryo"/>
              </a:defRPr>
            </a:pPr>
            <a:r>
              <a:rPr sz="1150" b="1">
                <a:solidFill>
                  <a:srgbClr val="405D7B"/>
                </a:solidFill>
                <a:latin typeface="Meiryo"/>
              </a:rPr>
              <a:t>2026年7月</a:t>
            </a:r>
          </a:p>
        </p:txBody>
      </p:sp>
      <p:sp>
        <p:nvSpPr>
          <p:cNvPr id="46" name="TextBox 45"/>
          <p:cNvSpPr txBox="1"/>
          <p:nvPr/>
        </p:nvSpPr>
        <p:spPr>
          <a:xfrm>
            <a:off x="2414016" y="5047488"/>
            <a:ext cx="3163824" cy="365760"/>
          </a:xfrm>
          <a:prstGeom prst="rect">
            <a:avLst/>
          </a:prstGeom>
          <a:noFill/>
        </p:spPr>
        <p:txBody>
          <a:bodyPr wrap="square" lIns="0" rIns="0" tIns="0" bIns="0" anchor="ctr">
            <a:spAutoFit/>
          </a:bodyPr>
          <a:lstStyle/>
          <a:p>
            <a:pPr algn="l">
              <a:lnSpc>
                <a:spcPct val="100000"/>
              </a:lnSpc>
              <a:spcAft>
                <a:spcPts val="0"/>
              </a:spcAft>
              <a:defRPr sz="1150" b="1">
                <a:solidFill>
                  <a:srgbClr val="405D7B"/>
                </a:solidFill>
                <a:latin typeface="Meiryo"/>
              </a:defRPr>
            </a:pPr>
            <a:r>
              <a:rPr sz="1150" b="1">
                <a:solidFill>
                  <a:srgbClr val="405D7B"/>
                </a:solidFill>
                <a:latin typeface="Meiryo"/>
              </a:rPr>
              <a:t>東京・神奈川・長野の3都県に拡大</a:t>
            </a:r>
          </a:p>
        </p:txBody>
      </p:sp>
      <p:sp>
        <p:nvSpPr>
          <p:cNvPr id="47" name="TextBox 46"/>
          <p:cNvSpPr txBox="1"/>
          <p:nvPr/>
        </p:nvSpPr>
        <p:spPr>
          <a:xfrm>
            <a:off x="5797296" y="5047488"/>
            <a:ext cx="1335024" cy="365760"/>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0件</a:t>
            </a:r>
          </a:p>
        </p:txBody>
      </p:sp>
      <p:sp>
        <p:nvSpPr>
          <p:cNvPr id="48" name="Rectangle 47"/>
          <p:cNvSpPr/>
          <p:nvPr/>
        </p:nvSpPr>
        <p:spPr>
          <a:xfrm>
            <a:off x="7424927" y="1737360"/>
            <a:ext cx="4206240" cy="12801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7424927" y="1737360"/>
            <a:ext cx="4206240" cy="45720"/>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626096" y="1938528"/>
            <a:ext cx="3803903" cy="256032"/>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半径24〜50km圏で運用していた月の合計</a:t>
            </a:r>
          </a:p>
        </p:txBody>
      </p:sp>
      <p:sp>
        <p:nvSpPr>
          <p:cNvPr id="51" name="TextBox 50"/>
          <p:cNvSpPr txBox="1"/>
          <p:nvPr/>
        </p:nvSpPr>
        <p:spPr>
          <a:xfrm>
            <a:off x="7626096" y="2231136"/>
            <a:ext cx="3803903" cy="566928"/>
          </a:xfrm>
          <a:prstGeom prst="rect">
            <a:avLst/>
          </a:prstGeom>
          <a:noFill/>
        </p:spPr>
        <p:txBody>
          <a:bodyPr wrap="square" lIns="0" rIns="0" tIns="0" bIns="0" anchor="t">
            <a:spAutoFit/>
          </a:bodyPr>
          <a:lstStyle/>
          <a:p>
            <a:pPr algn="l">
              <a:lnSpc>
                <a:spcPct val="110000"/>
              </a:lnSpc>
              <a:spcAft>
                <a:spcPts val="300"/>
              </a:spcAft>
              <a:defRPr sz="3000" b="1">
                <a:solidFill>
                  <a:srgbClr val="405D7B"/>
                </a:solidFill>
                <a:latin typeface="Meiryo"/>
              </a:defRPr>
            </a:pPr>
            <a:r>
              <a:rPr sz="3000" b="1">
                <a:solidFill>
                  <a:srgbClr val="405D7B"/>
                </a:solidFill>
                <a:latin typeface="Meiryo"/>
              </a:rPr>
              <a:t>12件</a:t>
            </a:r>
          </a:p>
        </p:txBody>
      </p:sp>
      <p:sp>
        <p:nvSpPr>
          <p:cNvPr id="52" name="Rectangle 51"/>
          <p:cNvSpPr/>
          <p:nvPr/>
        </p:nvSpPr>
        <p:spPr>
          <a:xfrm>
            <a:off x="7424927" y="3200400"/>
            <a:ext cx="4206240" cy="12801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7424927" y="3200400"/>
            <a:ext cx="4206240" cy="45720"/>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7626096" y="3401568"/>
            <a:ext cx="3803903" cy="256032"/>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3都県に広げた2026年7月</a:t>
            </a:r>
          </a:p>
        </p:txBody>
      </p:sp>
      <p:sp>
        <p:nvSpPr>
          <p:cNvPr id="55" name="TextBox 54"/>
          <p:cNvSpPr txBox="1"/>
          <p:nvPr/>
        </p:nvSpPr>
        <p:spPr>
          <a:xfrm>
            <a:off x="7626096" y="3694176"/>
            <a:ext cx="3803903" cy="566928"/>
          </a:xfrm>
          <a:prstGeom prst="rect">
            <a:avLst/>
          </a:prstGeom>
          <a:noFill/>
        </p:spPr>
        <p:txBody>
          <a:bodyPr wrap="square" lIns="0" rIns="0" tIns="0" bIns="0" anchor="t">
            <a:spAutoFit/>
          </a:bodyPr>
          <a:lstStyle/>
          <a:p>
            <a:pPr algn="l">
              <a:lnSpc>
                <a:spcPct val="110000"/>
              </a:lnSpc>
              <a:spcAft>
                <a:spcPts val="300"/>
              </a:spcAft>
              <a:defRPr sz="3000" b="1">
                <a:solidFill>
                  <a:srgbClr val="A96933"/>
                </a:solidFill>
                <a:latin typeface="Meiryo"/>
              </a:defRPr>
            </a:pPr>
            <a:r>
              <a:rPr sz="3000" b="1">
                <a:solidFill>
                  <a:srgbClr val="A96933"/>
                </a:solidFill>
                <a:latin typeface="Meiryo"/>
              </a:rPr>
              <a:t>0件</a:t>
            </a:r>
          </a:p>
        </p:txBody>
      </p:sp>
      <p:sp>
        <p:nvSpPr>
          <p:cNvPr id="56" name="Rectangle 55"/>
          <p:cNvSpPr/>
          <p:nvPr/>
        </p:nvSpPr>
        <p:spPr>
          <a:xfrm>
            <a:off x="7424927" y="4663440"/>
            <a:ext cx="4206240" cy="1225296"/>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7424927" y="4663440"/>
            <a:ext cx="4206240" cy="45720"/>
          </a:xfrm>
          <a:prstGeom prst="rect">
            <a:avLst/>
          </a:prstGeom>
          <a:solidFill>
            <a:srgbClr val="6C75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635240" y="4864607"/>
            <a:ext cx="3785615" cy="274320"/>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留保</a:t>
            </a:r>
          </a:p>
        </p:txBody>
      </p:sp>
      <p:sp>
        <p:nvSpPr>
          <p:cNvPr id="59" name="TextBox 58"/>
          <p:cNvSpPr txBox="1"/>
          <p:nvPr/>
        </p:nvSpPr>
        <p:spPr>
          <a:xfrm>
            <a:off x="7635240" y="5102352"/>
            <a:ext cx="3785615" cy="365760"/>
          </a:xfrm>
          <a:prstGeom prst="rect">
            <a:avLst/>
          </a:prstGeom>
          <a:noFill/>
        </p:spPr>
        <p:txBody>
          <a:bodyPr wrap="square" lIns="0" rIns="0" tIns="0" bIns="0" anchor="t">
            <a:spAutoFit/>
          </a:bodyPr>
          <a:lstStyle/>
          <a:p>
            <a:pPr algn="l">
              <a:lnSpc>
                <a:spcPct val="135000"/>
              </a:lnSpc>
              <a:spcAft>
                <a:spcPts val="300"/>
              </a:spcAft>
              <a:defRPr sz="1600" b="1">
                <a:solidFill>
                  <a:srgbClr val="2A2E33"/>
                </a:solidFill>
                <a:latin typeface="Meiryo"/>
              </a:defRPr>
            </a:pPr>
            <a:r>
              <a:rPr sz="1600" b="1">
                <a:solidFill>
                  <a:srgbClr val="2A2E33"/>
                </a:solidFill>
                <a:latin typeface="Meiryo"/>
              </a:rPr>
              <a:t>因果は証明できません</a:t>
            </a:r>
          </a:p>
        </p:txBody>
      </p:sp>
      <p:sp>
        <p:nvSpPr>
          <p:cNvPr id="60" name="TextBox 59"/>
          <p:cNvSpPr txBox="1"/>
          <p:nvPr/>
        </p:nvSpPr>
        <p:spPr>
          <a:xfrm>
            <a:off x="7662671" y="5596127"/>
            <a:ext cx="3730752" cy="91440"/>
          </a:xfrm>
          <a:prstGeom prst="rect">
            <a:avLst/>
          </a:prstGeom>
          <a:noFill/>
        </p:spPr>
        <p:txBody>
          <a:bodyPr wrap="square" lIns="0" rIns="0" tIns="0" bIns="0" anchor="t">
            <a:spAutoFit/>
          </a:bodyPr>
          <a:lstStyle/>
          <a:p>
            <a:pPr algn="l">
              <a:lnSpc>
                <a:spcPct val="150000"/>
              </a:lnSpc>
              <a:spcAft>
                <a:spcPts val="300"/>
              </a:spcAft>
              <a:defRPr sz="1300" b="0">
                <a:solidFill>
                  <a:srgbClr val="454B52"/>
                </a:solidFill>
                <a:latin typeface="Meiryo"/>
              </a:defRPr>
            </a:pPr>
            <a:r>
              <a:rPr sz="1300" b="0">
                <a:solidFill>
                  <a:srgbClr val="454B52"/>
                </a:solidFill>
                <a:latin typeface="Meiryo"/>
              </a:rPr>
              <a:t>7月1日にはエリア拡大に加え、Google広告のP-MAX移行・DV360停止も同時に発生しています。</a:t>
            </a:r>
          </a:p>
        </p:txBody>
      </p:sp>
      <p:sp>
        <p:nvSpPr>
          <p:cNvPr id="61" name="TextBox 60"/>
          <p:cNvSpPr txBox="1"/>
          <p:nvPr/>
        </p:nvSpPr>
        <p:spPr>
          <a:xfrm>
            <a:off x="566928" y="6053328"/>
            <a:ext cx="11064240" cy="365760"/>
          </a:xfrm>
          <a:prstGeom prst="rect">
            <a:avLst/>
          </a:prstGeom>
          <a:noFill/>
        </p:spPr>
        <p:txBody>
          <a:bodyPr wrap="square" lIns="0" rIns="0" tIns="0" bIns="0" anchor="t">
            <a:spAutoFit/>
          </a:bodyPr>
          <a:lstStyle/>
          <a:p>
            <a:pPr algn="l">
              <a:lnSpc>
                <a:spcPct val="135000"/>
              </a:lnSpc>
              <a:spcAft>
                <a:spcPts val="300"/>
              </a:spcAft>
              <a:defRPr sz="950" b="0">
                <a:solidFill>
                  <a:srgbClr val="8A929C"/>
                </a:solidFill>
                <a:latin typeface="Meiryo"/>
              </a:defRPr>
            </a:pPr>
            <a:r>
              <a:rPr sz="950" b="0">
                <a:solidFill>
                  <a:srgbClr val="8A929C"/>
                </a:solidFill>
                <a:latin typeface="Meiryo"/>
              </a:rPr>
              <a:t>〈実測〉Meta Marketing API から月別の広告セット設定を取得。〈両論併記〉因果の留保を右下に明記しています。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57200"/>
            <a:ext cx="82296" cy="237744"/>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31520" y="438912"/>
            <a:ext cx="10515600" cy="274320"/>
          </a:xfrm>
          <a:prstGeom prst="rect">
            <a:avLst/>
          </a:prstGeom>
          <a:noFill/>
        </p:spPr>
        <p:txBody>
          <a:bodyPr wrap="square" lIns="0" rIns="0" tIns="0" bIns="0" anchor="t">
            <a:spAutoFit/>
          </a:bodyPr>
          <a:lstStyle/>
          <a:p>
            <a:pPr algn="l">
              <a:lnSpc>
                <a:spcPct val="135000"/>
              </a:lnSpc>
              <a:spcAft>
                <a:spcPts val="300"/>
              </a:spcAft>
              <a:defRPr sz="1150" b="1">
                <a:solidFill>
                  <a:srgbClr val="405D7B"/>
                </a:solidFill>
                <a:latin typeface="Meiryo"/>
              </a:defRPr>
            </a:pPr>
            <a:r>
              <a:rPr sz="1150" b="1">
                <a:solidFill>
                  <a:srgbClr val="405D7B"/>
                </a:solidFill>
                <a:latin typeface="Meiryo"/>
              </a:rPr>
              <a:t>3 配信</a:t>
            </a:r>
          </a:p>
        </p:txBody>
      </p:sp>
      <p:sp>
        <p:nvSpPr>
          <p:cNvPr id="4" name="TextBox 3"/>
          <p:cNvSpPr txBox="1"/>
          <p:nvPr/>
        </p:nvSpPr>
        <p:spPr>
          <a:xfrm>
            <a:off x="530352" y="731520"/>
            <a:ext cx="10972800" cy="566928"/>
          </a:xfrm>
          <a:prstGeom prst="rect">
            <a:avLst/>
          </a:prstGeom>
          <a:noFill/>
        </p:spPr>
        <p:txBody>
          <a:bodyPr wrap="square" lIns="0" rIns="0" tIns="0" bIns="0" anchor="t">
            <a:spAutoFit/>
          </a:bodyPr>
          <a:lstStyle/>
          <a:p>
            <a:pPr algn="l">
              <a:lnSpc>
                <a:spcPct val="115000"/>
              </a:lnSpc>
              <a:spcAft>
                <a:spcPts val="300"/>
              </a:spcAft>
              <a:defRPr sz="2700" b="1">
                <a:solidFill>
                  <a:srgbClr val="2A2E33"/>
                </a:solidFill>
                <a:latin typeface="Meiryo"/>
              </a:defRPr>
            </a:pPr>
            <a:r>
              <a:rPr sz="2700" b="1">
                <a:solidFill>
                  <a:srgbClr val="2A2E33"/>
                </a:solidFill>
                <a:latin typeface="Meiryo"/>
              </a:rPr>
              <a:t>成果が出ていた時期は、3媒体がバランスしていました</a:t>
            </a:r>
          </a:p>
        </p:txBody>
      </p:sp>
      <p:sp>
        <p:nvSpPr>
          <p:cNvPr id="5" name="Rectangle 4"/>
          <p:cNvSpPr/>
          <p:nvPr/>
        </p:nvSpPr>
        <p:spPr>
          <a:xfrm>
            <a:off x="566928" y="1399032"/>
            <a:ext cx="1600200" cy="45720"/>
          </a:xfrm>
          <a:prstGeom prst="rect">
            <a:avLst/>
          </a:prstGeom>
          <a:solidFill>
            <a:srgbClr val="334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6928" y="1417320"/>
            <a:ext cx="11064240" cy="9144"/>
          </a:xfrm>
          <a:prstGeom prst="rect">
            <a:avLst/>
          </a:prstGeom>
          <a:solidFill>
            <a:srgbClr val="E2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338560" y="6510528"/>
            <a:ext cx="640080" cy="274320"/>
          </a:xfrm>
          <a:prstGeom prst="rect">
            <a:avLst/>
          </a:prstGeom>
          <a:noFill/>
        </p:spPr>
        <p:txBody>
          <a:bodyPr wrap="square" lIns="0" rIns="0" tIns="0" bIns="0" anchor="t">
            <a:spAutoFit/>
          </a:bodyPr>
          <a:lstStyle/>
          <a:p>
            <a:pPr algn="r">
              <a:lnSpc>
                <a:spcPct val="135000"/>
              </a:lnSpc>
              <a:spcAft>
                <a:spcPts val="300"/>
              </a:spcAft>
              <a:defRPr sz="1050" b="0">
                <a:solidFill>
                  <a:srgbClr val="8A929C"/>
                </a:solidFill>
                <a:latin typeface="Meiryo"/>
              </a:defRPr>
            </a:pPr>
            <a:r>
              <a:rPr sz="1050" b="0">
                <a:solidFill>
                  <a:srgbClr val="8A929C"/>
                </a:solidFill>
                <a:latin typeface="Meiryo"/>
              </a:rPr>
              <a:t>16</a:t>
            </a:r>
          </a:p>
        </p:txBody>
      </p:sp>
      <p:graphicFrame>
        <p:nvGraphicFramePr>
          <p:cNvPr id="8" name="Chart 7"/>
          <p:cNvGraphicFramePr>
            <a:graphicFrameLocks noGrp="1"/>
          </p:cNvGraphicFramePr>
          <p:nvPr/>
        </p:nvGraphicFramePr>
        <p:xfrm>
          <a:off x="566928" y="1737360"/>
          <a:ext cx="6949440" cy="3291840"/>
        </p:xfrm>
        <a:graphic>
          <a:graphicData uri="http://schemas.openxmlformats.org/drawingml/2006/chart">
            <c:chart xmlns:c="http://schemas.openxmlformats.org/drawingml/2006/chart" r:id="rId2"/>
          </a:graphicData>
        </a:graphic>
      </p:graphicFrame>
      <p:sp>
        <p:nvSpPr>
          <p:cNvPr id="9" name="Rectangle 8"/>
          <p:cNvSpPr/>
          <p:nvPr/>
        </p:nvSpPr>
        <p:spPr>
          <a:xfrm>
            <a:off x="7699247" y="1737360"/>
            <a:ext cx="3931920" cy="384048"/>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808975" y="1737360"/>
            <a:ext cx="1048905" cy="384048"/>
          </a:xfrm>
          <a:prstGeom prst="rect">
            <a:avLst/>
          </a:prstGeom>
          <a:noFill/>
        </p:spPr>
        <p:txBody>
          <a:bodyPr wrap="square" lIns="0" rIns="0" tIns="0" bIns="0" anchor="ctr">
            <a:spAutoFit/>
          </a:bodyPr>
          <a:lstStyle/>
          <a:p>
            <a:pPr algn="l">
              <a:lnSpc>
                <a:spcPct val="100000"/>
              </a:lnSpc>
              <a:spcAft>
                <a:spcPts val="0"/>
              </a:spcAft>
              <a:defRPr sz="1050" b="1">
                <a:solidFill>
                  <a:srgbClr val="FFFFFF"/>
                </a:solidFill>
                <a:latin typeface="Meiryo"/>
              </a:defRPr>
            </a:pPr>
          </a:p>
        </p:txBody>
      </p:sp>
      <p:sp>
        <p:nvSpPr>
          <p:cNvPr id="11" name="TextBox 10"/>
          <p:cNvSpPr txBox="1"/>
          <p:nvPr/>
        </p:nvSpPr>
        <p:spPr>
          <a:xfrm>
            <a:off x="9077337" y="1737360"/>
            <a:ext cx="414724" cy="384048"/>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Google</a:t>
            </a:r>
          </a:p>
        </p:txBody>
      </p:sp>
      <p:sp>
        <p:nvSpPr>
          <p:cNvPr id="12" name="TextBox 11"/>
          <p:cNvSpPr txBox="1"/>
          <p:nvPr/>
        </p:nvSpPr>
        <p:spPr>
          <a:xfrm>
            <a:off x="9711517" y="1737360"/>
            <a:ext cx="372445" cy="384048"/>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Meta</a:t>
            </a:r>
          </a:p>
        </p:txBody>
      </p:sp>
      <p:sp>
        <p:nvSpPr>
          <p:cNvPr id="13" name="TextBox 12"/>
          <p:cNvSpPr txBox="1"/>
          <p:nvPr/>
        </p:nvSpPr>
        <p:spPr>
          <a:xfrm>
            <a:off x="10303419" y="1737360"/>
            <a:ext cx="457003" cy="384048"/>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DV360</a:t>
            </a:r>
          </a:p>
        </p:txBody>
      </p:sp>
      <p:sp>
        <p:nvSpPr>
          <p:cNvPr id="14" name="TextBox 13"/>
          <p:cNvSpPr txBox="1"/>
          <p:nvPr/>
        </p:nvSpPr>
        <p:spPr>
          <a:xfrm>
            <a:off x="10979879" y="1737360"/>
            <a:ext cx="541560" cy="384048"/>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件数/月</a:t>
            </a:r>
          </a:p>
        </p:txBody>
      </p:sp>
      <p:sp>
        <p:nvSpPr>
          <p:cNvPr id="15" name="Rectangle 14"/>
          <p:cNvSpPr/>
          <p:nvPr/>
        </p:nvSpPr>
        <p:spPr>
          <a:xfrm>
            <a:off x="7699247" y="2121408"/>
            <a:ext cx="393192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808975" y="2121408"/>
            <a:ext cx="1048905" cy="457200"/>
          </a:xfrm>
          <a:prstGeom prst="rect">
            <a:avLst/>
          </a:prstGeom>
          <a:noFill/>
        </p:spPr>
        <p:txBody>
          <a:bodyPr wrap="square" lIns="0" rIns="0" tIns="0" bIns="0" anchor="ctr">
            <a:spAutoFit/>
          </a:bodyPr>
          <a:lstStyle/>
          <a:p>
            <a:pPr algn="l">
              <a:lnSpc>
                <a:spcPct val="100000"/>
              </a:lnSpc>
              <a:spcAft>
                <a:spcPts val="0"/>
              </a:spcAft>
              <a:defRPr sz="1050" b="1">
                <a:solidFill>
                  <a:srgbClr val="405D7B"/>
                </a:solidFill>
                <a:latin typeface="Meiryo"/>
              </a:defRPr>
            </a:pPr>
            <a:r>
              <a:rPr sz="1050" b="1">
                <a:solidFill>
                  <a:srgbClr val="405D7B"/>
                </a:solidFill>
                <a:latin typeface="Meiryo"/>
              </a:rPr>
              <a:t>第1期 月平均</a:t>
            </a:r>
          </a:p>
        </p:txBody>
      </p:sp>
      <p:sp>
        <p:nvSpPr>
          <p:cNvPr id="17" name="TextBox 16"/>
          <p:cNvSpPr txBox="1"/>
          <p:nvPr/>
        </p:nvSpPr>
        <p:spPr>
          <a:xfrm>
            <a:off x="9077337" y="2121408"/>
            <a:ext cx="414724" cy="457200"/>
          </a:xfrm>
          <a:prstGeom prst="rect">
            <a:avLst/>
          </a:prstGeom>
          <a:noFill/>
        </p:spPr>
        <p:txBody>
          <a:bodyPr wrap="square" lIns="0" rIns="0" tIns="0" bIns="0" anchor="ctr">
            <a:spAutoFit/>
          </a:bodyPr>
          <a:lstStyle/>
          <a:p>
            <a:pPr algn="r">
              <a:lnSpc>
                <a:spcPct val="100000"/>
              </a:lnSpc>
              <a:spcAft>
                <a:spcPts val="0"/>
              </a:spcAft>
              <a:defRPr sz="1050" b="1">
                <a:solidFill>
                  <a:srgbClr val="405D7B"/>
                </a:solidFill>
                <a:latin typeface="Meiryo"/>
              </a:defRPr>
            </a:pPr>
            <a:r>
              <a:rPr sz="1050" b="1">
                <a:solidFill>
                  <a:srgbClr val="405D7B"/>
                </a:solidFill>
                <a:latin typeface="Meiryo"/>
              </a:rPr>
              <a:t>38%</a:t>
            </a:r>
          </a:p>
        </p:txBody>
      </p:sp>
      <p:sp>
        <p:nvSpPr>
          <p:cNvPr id="18" name="TextBox 17"/>
          <p:cNvSpPr txBox="1"/>
          <p:nvPr/>
        </p:nvSpPr>
        <p:spPr>
          <a:xfrm>
            <a:off x="9711517" y="2121408"/>
            <a:ext cx="372445" cy="45720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33%</a:t>
            </a:r>
          </a:p>
        </p:txBody>
      </p:sp>
      <p:sp>
        <p:nvSpPr>
          <p:cNvPr id="19" name="TextBox 18"/>
          <p:cNvSpPr txBox="1"/>
          <p:nvPr/>
        </p:nvSpPr>
        <p:spPr>
          <a:xfrm>
            <a:off x="10303419" y="2121408"/>
            <a:ext cx="457003" cy="45720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28%</a:t>
            </a:r>
          </a:p>
        </p:txBody>
      </p:sp>
      <p:sp>
        <p:nvSpPr>
          <p:cNvPr id="20" name="TextBox 19"/>
          <p:cNvSpPr txBox="1"/>
          <p:nvPr/>
        </p:nvSpPr>
        <p:spPr>
          <a:xfrm>
            <a:off x="10979879" y="2121408"/>
            <a:ext cx="541560" cy="457200"/>
          </a:xfrm>
          <a:prstGeom prst="rect">
            <a:avLst/>
          </a:prstGeom>
          <a:noFill/>
        </p:spPr>
        <p:txBody>
          <a:bodyPr wrap="square" lIns="0" rIns="0" tIns="0" bIns="0" anchor="ctr">
            <a:spAutoFit/>
          </a:bodyPr>
          <a:lstStyle/>
          <a:p>
            <a:pPr algn="r">
              <a:lnSpc>
                <a:spcPct val="100000"/>
              </a:lnSpc>
              <a:spcAft>
                <a:spcPts val="0"/>
              </a:spcAft>
              <a:defRPr sz="1050" b="1">
                <a:solidFill>
                  <a:srgbClr val="405D7B"/>
                </a:solidFill>
                <a:latin typeface="Meiryo"/>
              </a:defRPr>
            </a:pPr>
            <a:r>
              <a:rPr sz="1050" b="1">
                <a:solidFill>
                  <a:srgbClr val="405D7B"/>
                </a:solidFill>
                <a:latin typeface="Meiryo"/>
              </a:rPr>
              <a:t>2.4件</a:t>
            </a:r>
          </a:p>
        </p:txBody>
      </p:sp>
      <p:sp>
        <p:nvSpPr>
          <p:cNvPr id="21" name="Rectangle 20"/>
          <p:cNvSpPr/>
          <p:nvPr/>
        </p:nvSpPr>
        <p:spPr>
          <a:xfrm>
            <a:off x="7699247" y="2578608"/>
            <a:ext cx="3931920" cy="457200"/>
          </a:xfrm>
          <a:prstGeom prst="rect">
            <a:avLst/>
          </a:prstGeom>
          <a:solidFill>
            <a:srgbClr val="EE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808975" y="2578608"/>
            <a:ext cx="1048905" cy="457200"/>
          </a:xfrm>
          <a:prstGeom prst="rect">
            <a:avLst/>
          </a:prstGeom>
          <a:noFill/>
        </p:spPr>
        <p:txBody>
          <a:bodyPr wrap="square" lIns="0" rIns="0" tIns="0" bIns="0" anchor="ctr">
            <a:spAutoFit/>
          </a:bodyPr>
          <a:lstStyle/>
          <a:p>
            <a:pPr algn="l">
              <a:lnSpc>
                <a:spcPct val="100000"/>
              </a:lnSpc>
              <a:spcAft>
                <a:spcPts val="0"/>
              </a:spcAft>
              <a:defRPr sz="1050" b="1">
                <a:solidFill>
                  <a:srgbClr val="405D7B"/>
                </a:solidFill>
                <a:latin typeface="Meiryo"/>
              </a:defRPr>
            </a:pPr>
            <a:r>
              <a:rPr sz="1050" b="1">
                <a:solidFill>
                  <a:srgbClr val="405D7B"/>
                </a:solidFill>
                <a:latin typeface="Meiryo"/>
              </a:rPr>
              <a:t>第2期 月平均</a:t>
            </a:r>
          </a:p>
        </p:txBody>
      </p:sp>
      <p:sp>
        <p:nvSpPr>
          <p:cNvPr id="23" name="TextBox 22"/>
          <p:cNvSpPr txBox="1"/>
          <p:nvPr/>
        </p:nvSpPr>
        <p:spPr>
          <a:xfrm>
            <a:off x="9077337" y="2578608"/>
            <a:ext cx="414724" cy="457200"/>
          </a:xfrm>
          <a:prstGeom prst="rect">
            <a:avLst/>
          </a:prstGeom>
          <a:noFill/>
        </p:spPr>
        <p:txBody>
          <a:bodyPr wrap="square" lIns="0" rIns="0" tIns="0" bIns="0" anchor="ctr">
            <a:spAutoFit/>
          </a:bodyPr>
          <a:lstStyle/>
          <a:p>
            <a:pPr algn="r">
              <a:lnSpc>
                <a:spcPct val="100000"/>
              </a:lnSpc>
              <a:spcAft>
                <a:spcPts val="0"/>
              </a:spcAft>
              <a:defRPr sz="1050" b="1">
                <a:solidFill>
                  <a:srgbClr val="405D7B"/>
                </a:solidFill>
                <a:latin typeface="Meiryo"/>
              </a:defRPr>
            </a:pPr>
            <a:r>
              <a:rPr sz="1050" b="1">
                <a:solidFill>
                  <a:srgbClr val="405D7B"/>
                </a:solidFill>
                <a:latin typeface="Meiryo"/>
              </a:rPr>
              <a:t>16%</a:t>
            </a:r>
          </a:p>
        </p:txBody>
      </p:sp>
      <p:sp>
        <p:nvSpPr>
          <p:cNvPr id="24" name="TextBox 23"/>
          <p:cNvSpPr txBox="1"/>
          <p:nvPr/>
        </p:nvSpPr>
        <p:spPr>
          <a:xfrm>
            <a:off x="9711517" y="2578608"/>
            <a:ext cx="372445" cy="45720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42%</a:t>
            </a:r>
          </a:p>
        </p:txBody>
      </p:sp>
      <p:sp>
        <p:nvSpPr>
          <p:cNvPr id="25" name="TextBox 24"/>
          <p:cNvSpPr txBox="1"/>
          <p:nvPr/>
        </p:nvSpPr>
        <p:spPr>
          <a:xfrm>
            <a:off x="10303419" y="2578608"/>
            <a:ext cx="457003" cy="457200"/>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42%</a:t>
            </a:r>
          </a:p>
        </p:txBody>
      </p:sp>
      <p:sp>
        <p:nvSpPr>
          <p:cNvPr id="26" name="TextBox 25"/>
          <p:cNvSpPr txBox="1"/>
          <p:nvPr/>
        </p:nvSpPr>
        <p:spPr>
          <a:xfrm>
            <a:off x="10979879" y="2578608"/>
            <a:ext cx="541560" cy="457200"/>
          </a:xfrm>
          <a:prstGeom prst="rect">
            <a:avLst/>
          </a:prstGeom>
          <a:noFill/>
        </p:spPr>
        <p:txBody>
          <a:bodyPr wrap="square" lIns="0" rIns="0" tIns="0" bIns="0" anchor="ctr">
            <a:spAutoFit/>
          </a:bodyPr>
          <a:lstStyle/>
          <a:p>
            <a:pPr algn="r">
              <a:lnSpc>
                <a:spcPct val="100000"/>
              </a:lnSpc>
              <a:spcAft>
                <a:spcPts val="0"/>
              </a:spcAft>
              <a:defRPr sz="1050" b="1">
                <a:solidFill>
                  <a:srgbClr val="405D7B"/>
                </a:solidFill>
                <a:latin typeface="Meiryo"/>
              </a:defRPr>
            </a:pPr>
            <a:r>
              <a:rPr sz="1050" b="1">
                <a:solidFill>
                  <a:srgbClr val="405D7B"/>
                </a:solidFill>
                <a:latin typeface="Meiryo"/>
              </a:rPr>
              <a:t>0.67件</a:t>
            </a:r>
          </a:p>
        </p:txBody>
      </p:sp>
      <p:sp>
        <p:nvSpPr>
          <p:cNvPr id="27" name="Rectangle 26"/>
          <p:cNvSpPr/>
          <p:nvPr/>
        </p:nvSpPr>
        <p:spPr>
          <a:xfrm>
            <a:off x="7699247" y="3108960"/>
            <a:ext cx="3931920" cy="1920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699247" y="3108960"/>
            <a:ext cx="3931920" cy="45720"/>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909559" y="3310128"/>
            <a:ext cx="3511296" cy="274320"/>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所見</a:t>
            </a:r>
          </a:p>
        </p:txBody>
      </p:sp>
      <p:sp>
        <p:nvSpPr>
          <p:cNvPr id="30" name="TextBox 29"/>
          <p:cNvSpPr txBox="1"/>
          <p:nvPr/>
        </p:nvSpPr>
        <p:spPr>
          <a:xfrm>
            <a:off x="7909559" y="3547872"/>
            <a:ext cx="3511296" cy="365760"/>
          </a:xfrm>
          <a:prstGeom prst="rect">
            <a:avLst/>
          </a:prstGeom>
          <a:noFill/>
        </p:spPr>
        <p:txBody>
          <a:bodyPr wrap="square" lIns="0" rIns="0" tIns="0" bIns="0" anchor="t">
            <a:spAutoFit/>
          </a:bodyPr>
          <a:lstStyle/>
          <a:p>
            <a:pPr algn="l">
              <a:lnSpc>
                <a:spcPct val="135000"/>
              </a:lnSpc>
              <a:spcAft>
                <a:spcPts val="300"/>
              </a:spcAft>
              <a:defRPr sz="1600" b="1">
                <a:solidFill>
                  <a:srgbClr val="2A2E33"/>
                </a:solidFill>
                <a:latin typeface="Meiryo"/>
              </a:defRPr>
            </a:pPr>
            <a:r>
              <a:rPr sz="1600" b="1">
                <a:solidFill>
                  <a:srgbClr val="2A2E33"/>
                </a:solidFill>
                <a:latin typeface="Meiryo"/>
              </a:rPr>
              <a:t>Google広告が半減しました</a:t>
            </a:r>
          </a:p>
        </p:txBody>
      </p:sp>
      <p:sp>
        <p:nvSpPr>
          <p:cNvPr id="31" name="TextBox 30"/>
          <p:cNvSpPr txBox="1"/>
          <p:nvPr/>
        </p:nvSpPr>
        <p:spPr>
          <a:xfrm>
            <a:off x="7936991" y="4041648"/>
            <a:ext cx="3456432" cy="786384"/>
          </a:xfrm>
          <a:prstGeom prst="rect">
            <a:avLst/>
          </a:prstGeom>
          <a:noFill/>
        </p:spPr>
        <p:txBody>
          <a:bodyPr wrap="square" lIns="0" rIns="0" tIns="0" bIns="0" anchor="t">
            <a:spAutoFit/>
          </a:bodyPr>
          <a:lstStyle/>
          <a:p>
            <a:pPr algn="l">
              <a:lnSpc>
                <a:spcPct val="150000"/>
              </a:lnSpc>
              <a:spcAft>
                <a:spcPts val="300"/>
              </a:spcAft>
              <a:defRPr sz="1300" b="0">
                <a:solidFill>
                  <a:srgbClr val="454B52"/>
                </a:solidFill>
                <a:latin typeface="Meiryo"/>
              </a:defRPr>
            </a:pPr>
            <a:r>
              <a:rPr sz="1300" b="0">
                <a:solidFill>
                  <a:srgbClr val="454B52"/>
                </a:solidFill>
                <a:latin typeface="Meiryo"/>
              </a:rPr>
              <a:t>月¥75,000から¥40,000へ約半減。</a:t>
            </a:r>
          </a:p>
          <a:p>
            <a:pPr algn="l">
              <a:lnSpc>
                <a:spcPct val="150000"/>
              </a:lnSpc>
              <a:spcAft>
                <a:spcPts val="300"/>
              </a:spcAft>
              <a:defRPr sz="1300" b="0">
                <a:solidFill>
                  <a:srgbClr val="454B52"/>
                </a:solidFill>
                <a:latin typeface="Meiryo"/>
              </a:defRPr>
            </a:pPr>
            <a:r>
              <a:rPr sz="1300" b="0">
                <a:solidFill>
                  <a:srgbClr val="454B52"/>
                </a:solidFill>
                <a:latin typeface="Meiryo"/>
              </a:rPr>
              <a:t>2026年7月はMeta広告に83%が集中し、0件でした。</a:t>
            </a:r>
          </a:p>
          <a:p>
            <a:pPr algn="l">
              <a:lnSpc>
                <a:spcPct val="150000"/>
              </a:lnSpc>
              <a:spcAft>
                <a:spcPts val="300"/>
              </a:spcAft>
              <a:defRPr sz="1300" b="0">
                <a:solidFill>
                  <a:srgbClr val="454B52"/>
                </a:solidFill>
                <a:latin typeface="Meiryo"/>
              </a:defRPr>
            </a:pPr>
            <a:r>
              <a:rPr sz="1300" b="0">
                <a:solidFill>
                  <a:srgbClr val="454B52"/>
                </a:solidFill>
                <a:latin typeface="Meiryo"/>
              </a:rPr>
              <a:t>最良月でさえMeta広告は¥40,000です。</a:t>
            </a:r>
          </a:p>
        </p:txBody>
      </p:sp>
      <p:sp>
        <p:nvSpPr>
          <p:cNvPr id="32" name="TextBox 31"/>
          <p:cNvSpPr txBox="1"/>
          <p:nvPr/>
        </p:nvSpPr>
        <p:spPr>
          <a:xfrm>
            <a:off x="566928" y="5486400"/>
            <a:ext cx="11064240" cy="365760"/>
          </a:xfrm>
          <a:prstGeom prst="rect">
            <a:avLst/>
          </a:prstGeom>
          <a:noFill/>
        </p:spPr>
        <p:txBody>
          <a:bodyPr wrap="square" lIns="0" rIns="0" tIns="0" bIns="0" anchor="t">
            <a:spAutoFit/>
          </a:bodyPr>
          <a:lstStyle/>
          <a:p>
            <a:pPr algn="l">
              <a:lnSpc>
                <a:spcPct val="135000"/>
              </a:lnSpc>
              <a:spcAft>
                <a:spcPts val="300"/>
              </a:spcAft>
              <a:defRPr sz="950" b="0">
                <a:solidFill>
                  <a:srgbClr val="8A929C"/>
                </a:solidFill>
                <a:latin typeface="Meiryo"/>
              </a:defRPr>
            </a:pPr>
            <a:r>
              <a:rPr sz="950" b="0">
                <a:solidFill>
                  <a:srgbClr val="8A929C"/>
                </a:solidFill>
                <a:latin typeface="Meiryo"/>
              </a:rPr>
              <a:t>〈実測〉構成比＝ご請求データの配信費ベース。金額の多寡ではなく、媒体の組み合わせが成果に対応していました。</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54864" cy="6858000"/>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143000" y="2697480"/>
            <a:ext cx="9144000" cy="310896"/>
          </a:xfrm>
          <a:prstGeom prst="rect">
            <a:avLst/>
          </a:prstGeom>
          <a:noFill/>
        </p:spPr>
        <p:txBody>
          <a:bodyPr wrap="square" lIns="0" rIns="0" tIns="0" bIns="0" anchor="t">
            <a:spAutoFit/>
          </a:bodyPr>
          <a:lstStyle/>
          <a:p>
            <a:pPr algn="l">
              <a:lnSpc>
                <a:spcPct val="135000"/>
              </a:lnSpc>
              <a:spcAft>
                <a:spcPts val="300"/>
              </a:spcAft>
              <a:defRPr sz="1300" b="1">
                <a:solidFill>
                  <a:srgbClr val="A96933"/>
                </a:solidFill>
                <a:latin typeface="Meiryo"/>
              </a:defRPr>
            </a:pPr>
            <a:r>
              <a:rPr sz="1300" b="1">
                <a:solidFill>
                  <a:srgbClr val="A96933"/>
                </a:solidFill>
                <a:latin typeface="Meiryo"/>
              </a:rPr>
              <a:t>PART 4</a:t>
            </a:r>
          </a:p>
        </p:txBody>
      </p:sp>
      <p:sp>
        <p:nvSpPr>
          <p:cNvPr id="5" name="TextBox 4"/>
          <p:cNvSpPr txBox="1"/>
          <p:nvPr/>
        </p:nvSpPr>
        <p:spPr>
          <a:xfrm>
            <a:off x="1143000" y="3127248"/>
            <a:ext cx="9601200" cy="640080"/>
          </a:xfrm>
          <a:prstGeom prst="rect">
            <a:avLst/>
          </a:prstGeom>
          <a:noFill/>
        </p:spPr>
        <p:txBody>
          <a:bodyPr wrap="square" lIns="0" rIns="0" tIns="0" bIns="0" anchor="t">
            <a:spAutoFit/>
          </a:bodyPr>
          <a:lstStyle/>
          <a:p>
            <a:pPr algn="l">
              <a:lnSpc>
                <a:spcPct val="115000"/>
              </a:lnSpc>
              <a:spcAft>
                <a:spcPts val="300"/>
              </a:spcAft>
              <a:defRPr sz="3300" b="1">
                <a:solidFill>
                  <a:srgbClr val="FFFFFF"/>
                </a:solidFill>
                <a:latin typeface="Meiryo"/>
              </a:defRPr>
            </a:pPr>
            <a:r>
              <a:rPr sz="3300" b="1">
                <a:solidFill>
                  <a:srgbClr val="FFFFFF"/>
                </a:solidFill>
                <a:latin typeface="Meiryo"/>
              </a:rPr>
              <a:t>配信品質の分析</a:t>
            </a:r>
          </a:p>
        </p:txBody>
      </p:sp>
      <p:sp>
        <p:nvSpPr>
          <p:cNvPr id="6" name="Rectangle 5"/>
          <p:cNvSpPr/>
          <p:nvPr/>
        </p:nvSpPr>
        <p:spPr>
          <a:xfrm>
            <a:off x="1143000" y="4041648"/>
            <a:ext cx="2103120" cy="36576"/>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43000" y="4315968"/>
            <a:ext cx="9601200" cy="457200"/>
          </a:xfrm>
          <a:prstGeom prst="rect">
            <a:avLst/>
          </a:prstGeom>
          <a:noFill/>
        </p:spPr>
        <p:txBody>
          <a:bodyPr wrap="square" lIns="0" rIns="0" tIns="0" bIns="0" anchor="t">
            <a:spAutoFit/>
          </a:bodyPr>
          <a:lstStyle/>
          <a:p>
            <a:pPr algn="l">
              <a:lnSpc>
                <a:spcPct val="140000"/>
              </a:lnSpc>
              <a:spcAft>
                <a:spcPts val="300"/>
              </a:spcAft>
              <a:defRPr sz="1500" b="0">
                <a:solidFill>
                  <a:srgbClr val="D6DBE1"/>
                </a:solidFill>
                <a:latin typeface="Meiryo"/>
              </a:defRPr>
            </a:pPr>
            <a:r>
              <a:rPr sz="1500" b="0">
                <a:solidFill>
                  <a:srgbClr val="D6DBE1"/>
                </a:solidFill>
                <a:latin typeface="Meiryo"/>
              </a:rPr>
              <a:t>買ったクリックは、本当にサイトに届いているか。新しい評価軸で媒体を比較します。</a:t>
            </a:r>
          </a:p>
        </p:txBody>
      </p:sp>
      <p:sp>
        <p:nvSpPr>
          <p:cNvPr id="8" name="TextBox 7"/>
          <p:cNvSpPr txBox="1"/>
          <p:nvPr/>
        </p:nvSpPr>
        <p:spPr>
          <a:xfrm>
            <a:off x="11338560" y="6510528"/>
            <a:ext cx="640080" cy="274320"/>
          </a:xfrm>
          <a:prstGeom prst="rect">
            <a:avLst/>
          </a:prstGeom>
          <a:noFill/>
        </p:spPr>
        <p:txBody>
          <a:bodyPr wrap="square" lIns="0" rIns="0" tIns="0" bIns="0" anchor="t">
            <a:spAutoFit/>
          </a:bodyPr>
          <a:lstStyle/>
          <a:p>
            <a:pPr algn="r">
              <a:lnSpc>
                <a:spcPct val="135000"/>
              </a:lnSpc>
              <a:spcAft>
                <a:spcPts val="300"/>
              </a:spcAft>
              <a:defRPr sz="1050" b="0">
                <a:solidFill>
                  <a:srgbClr val="8FA3B8"/>
                </a:solidFill>
                <a:latin typeface="Meiryo"/>
              </a:defRPr>
            </a:pPr>
            <a:r>
              <a:rPr sz="1050" b="0">
                <a:solidFill>
                  <a:srgbClr val="8FA3B8"/>
                </a:solidFill>
                <a:latin typeface="Meiryo"/>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57200"/>
            <a:ext cx="82296" cy="237744"/>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31520" y="438912"/>
            <a:ext cx="10515600" cy="274320"/>
          </a:xfrm>
          <a:prstGeom prst="rect">
            <a:avLst/>
          </a:prstGeom>
          <a:noFill/>
        </p:spPr>
        <p:txBody>
          <a:bodyPr wrap="square" lIns="0" rIns="0" tIns="0" bIns="0" anchor="t">
            <a:spAutoFit/>
          </a:bodyPr>
          <a:lstStyle/>
          <a:p>
            <a:pPr algn="l">
              <a:lnSpc>
                <a:spcPct val="135000"/>
              </a:lnSpc>
              <a:spcAft>
                <a:spcPts val="300"/>
              </a:spcAft>
              <a:defRPr sz="1150" b="1">
                <a:solidFill>
                  <a:srgbClr val="405D7B"/>
                </a:solidFill>
                <a:latin typeface="Meiryo"/>
              </a:defRPr>
            </a:pPr>
            <a:r>
              <a:rPr sz="1150" b="1">
                <a:solidFill>
                  <a:srgbClr val="405D7B"/>
                </a:solidFill>
                <a:latin typeface="Meiryo"/>
              </a:rPr>
              <a:t>4 品質</a:t>
            </a:r>
          </a:p>
        </p:txBody>
      </p:sp>
      <p:sp>
        <p:nvSpPr>
          <p:cNvPr id="4" name="TextBox 3"/>
          <p:cNvSpPr txBox="1"/>
          <p:nvPr/>
        </p:nvSpPr>
        <p:spPr>
          <a:xfrm>
            <a:off x="530352" y="731520"/>
            <a:ext cx="10972800" cy="566928"/>
          </a:xfrm>
          <a:prstGeom prst="rect">
            <a:avLst/>
          </a:prstGeom>
          <a:noFill/>
        </p:spPr>
        <p:txBody>
          <a:bodyPr wrap="square" lIns="0" rIns="0" tIns="0" bIns="0" anchor="t">
            <a:spAutoFit/>
          </a:bodyPr>
          <a:lstStyle/>
          <a:p>
            <a:pPr algn="l">
              <a:lnSpc>
                <a:spcPct val="115000"/>
              </a:lnSpc>
              <a:spcAft>
                <a:spcPts val="300"/>
              </a:spcAft>
              <a:defRPr sz="2700" b="1">
                <a:solidFill>
                  <a:srgbClr val="2A2E33"/>
                </a:solidFill>
                <a:latin typeface="Meiryo"/>
              </a:defRPr>
            </a:pPr>
            <a:r>
              <a:rPr sz="2700" b="1">
                <a:solidFill>
                  <a:srgbClr val="2A2E33"/>
                </a:solidFill>
                <a:latin typeface="Meiryo"/>
              </a:rPr>
              <a:t>新しい評価軸 ── サイト到達率</a:t>
            </a:r>
          </a:p>
        </p:txBody>
      </p:sp>
      <p:sp>
        <p:nvSpPr>
          <p:cNvPr id="5" name="Rectangle 4"/>
          <p:cNvSpPr/>
          <p:nvPr/>
        </p:nvSpPr>
        <p:spPr>
          <a:xfrm>
            <a:off x="566928" y="1399032"/>
            <a:ext cx="1600200" cy="45720"/>
          </a:xfrm>
          <a:prstGeom prst="rect">
            <a:avLst/>
          </a:prstGeom>
          <a:solidFill>
            <a:srgbClr val="334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6928" y="1417320"/>
            <a:ext cx="11064240" cy="9144"/>
          </a:xfrm>
          <a:prstGeom prst="rect">
            <a:avLst/>
          </a:prstGeom>
          <a:solidFill>
            <a:srgbClr val="E2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338560" y="6510528"/>
            <a:ext cx="640080" cy="274320"/>
          </a:xfrm>
          <a:prstGeom prst="rect">
            <a:avLst/>
          </a:prstGeom>
          <a:noFill/>
        </p:spPr>
        <p:txBody>
          <a:bodyPr wrap="square" lIns="0" rIns="0" tIns="0" bIns="0" anchor="t">
            <a:spAutoFit/>
          </a:bodyPr>
          <a:lstStyle/>
          <a:p>
            <a:pPr algn="r">
              <a:lnSpc>
                <a:spcPct val="135000"/>
              </a:lnSpc>
              <a:spcAft>
                <a:spcPts val="300"/>
              </a:spcAft>
              <a:defRPr sz="1050" b="0">
                <a:solidFill>
                  <a:srgbClr val="8A929C"/>
                </a:solidFill>
                <a:latin typeface="Meiryo"/>
              </a:defRPr>
            </a:pPr>
            <a:r>
              <a:rPr sz="1050" b="0">
                <a:solidFill>
                  <a:srgbClr val="8A929C"/>
                </a:solidFill>
                <a:latin typeface="Meiryo"/>
              </a:rPr>
              <a:t>18</a:t>
            </a:r>
          </a:p>
        </p:txBody>
      </p:sp>
      <p:sp>
        <p:nvSpPr>
          <p:cNvPr id="8" name="Rectangle 7"/>
          <p:cNvSpPr/>
          <p:nvPr/>
        </p:nvSpPr>
        <p:spPr>
          <a:xfrm>
            <a:off x="566928" y="1737360"/>
            <a:ext cx="11064240" cy="65836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1737360"/>
            <a:ext cx="11064240" cy="45720"/>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1737360"/>
            <a:ext cx="11064240" cy="658368"/>
          </a:xfrm>
          <a:prstGeom prst="rect">
            <a:avLst/>
          </a:prstGeom>
          <a:noFill/>
        </p:spPr>
        <p:txBody>
          <a:bodyPr wrap="square" lIns="0" rIns="0" tIns="0" bIns="0" anchor="ctr">
            <a:spAutoFit/>
          </a:bodyPr>
          <a:lstStyle/>
          <a:p>
            <a:pPr algn="ctr">
              <a:lnSpc>
                <a:spcPct val="135000"/>
              </a:lnSpc>
              <a:spcAft>
                <a:spcPts val="300"/>
              </a:spcAft>
              <a:defRPr sz="1600" b="1">
                <a:solidFill>
                  <a:srgbClr val="2A2E33"/>
                </a:solidFill>
                <a:latin typeface="Meiryo"/>
              </a:defRPr>
            </a:pPr>
            <a:r>
              <a:rPr sz="1600" b="1">
                <a:solidFill>
                  <a:srgbClr val="2A2E33"/>
                </a:solidFill>
                <a:latin typeface="Meiryo"/>
              </a:rPr>
              <a:t>サイト到達率　＝　GA4のセッション数　÷　広告のクリック数</a:t>
            </a:r>
          </a:p>
        </p:txBody>
      </p:sp>
      <p:sp>
        <p:nvSpPr>
          <p:cNvPr id="11" name="TextBox 10"/>
          <p:cNvSpPr txBox="1"/>
          <p:nvPr/>
        </p:nvSpPr>
        <p:spPr>
          <a:xfrm>
            <a:off x="566928" y="2578608"/>
            <a:ext cx="11064240" cy="365760"/>
          </a:xfrm>
          <a:prstGeom prst="rect">
            <a:avLst/>
          </a:prstGeom>
          <a:noFill/>
        </p:spPr>
        <p:txBody>
          <a:bodyPr wrap="square" lIns="0" rIns="0" tIns="0" bIns="0" anchor="t">
            <a:spAutoFit/>
          </a:bodyPr>
          <a:lstStyle/>
          <a:p>
            <a:pPr algn="l">
              <a:lnSpc>
                <a:spcPct val="135000"/>
              </a:lnSpc>
              <a:spcAft>
                <a:spcPts val="300"/>
              </a:spcAft>
              <a:defRPr sz="1300" b="0">
                <a:solidFill>
                  <a:srgbClr val="454B52"/>
                </a:solidFill>
                <a:latin typeface="Meiryo"/>
              </a:defRPr>
            </a:pPr>
            <a:r>
              <a:rPr sz="1300" b="0">
                <a:solidFill>
                  <a:srgbClr val="454B52"/>
                </a:solidFill>
                <a:latin typeface="Meiryo"/>
              </a:rPr>
              <a:t>広告レポートの「クリック数」は、そのままサイト訪問数にはなりません。誤タップや、読み込み前の離脱があるためです。</a:t>
            </a:r>
          </a:p>
        </p:txBody>
      </p:sp>
      <p:sp>
        <p:nvSpPr>
          <p:cNvPr id="12" name="Rectangle 11"/>
          <p:cNvSpPr/>
          <p:nvPr/>
        </p:nvSpPr>
        <p:spPr>
          <a:xfrm>
            <a:off x="566928" y="3054096"/>
            <a:ext cx="5440680" cy="17373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054096"/>
            <a:ext cx="5440680" cy="45720"/>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68096" y="3255264"/>
            <a:ext cx="5038344" cy="256032"/>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LINEヤフー広告（2024年10月〜2025年5月）</a:t>
            </a:r>
          </a:p>
        </p:txBody>
      </p:sp>
      <p:sp>
        <p:nvSpPr>
          <p:cNvPr id="15" name="TextBox 14"/>
          <p:cNvSpPr txBox="1"/>
          <p:nvPr/>
        </p:nvSpPr>
        <p:spPr>
          <a:xfrm>
            <a:off x="768096" y="3547872"/>
            <a:ext cx="5038344" cy="566928"/>
          </a:xfrm>
          <a:prstGeom prst="rect">
            <a:avLst/>
          </a:prstGeom>
          <a:noFill/>
        </p:spPr>
        <p:txBody>
          <a:bodyPr wrap="square" lIns="0" rIns="0" tIns="0" bIns="0" anchor="t">
            <a:spAutoFit/>
          </a:bodyPr>
          <a:lstStyle/>
          <a:p>
            <a:pPr algn="l">
              <a:lnSpc>
                <a:spcPct val="110000"/>
              </a:lnSpc>
              <a:spcAft>
                <a:spcPts val="300"/>
              </a:spcAft>
              <a:defRPr sz="3800" b="1">
                <a:solidFill>
                  <a:srgbClr val="405D7B"/>
                </a:solidFill>
                <a:latin typeface="Meiryo"/>
              </a:defRPr>
            </a:pPr>
            <a:r>
              <a:rPr sz="3800" b="1">
                <a:solidFill>
                  <a:srgbClr val="405D7B"/>
                </a:solidFill>
                <a:latin typeface="Meiryo"/>
              </a:rPr>
              <a:t>43.0%</a:t>
            </a:r>
          </a:p>
        </p:txBody>
      </p:sp>
      <p:sp>
        <p:nvSpPr>
          <p:cNvPr id="16" name="TextBox 15"/>
          <p:cNvSpPr txBox="1"/>
          <p:nvPr/>
        </p:nvSpPr>
        <p:spPr>
          <a:xfrm>
            <a:off x="768096" y="4242816"/>
            <a:ext cx="5038344" cy="457200"/>
          </a:xfrm>
          <a:prstGeom prst="rect">
            <a:avLst/>
          </a:prstGeom>
          <a:noFill/>
        </p:spPr>
        <p:txBody>
          <a:bodyPr wrap="square" lIns="0" rIns="0" tIns="0" bIns="0" anchor="t">
            <a:spAutoFit/>
          </a:bodyPr>
          <a:lstStyle/>
          <a:p>
            <a:pPr algn="l">
              <a:lnSpc>
                <a:spcPct val="130000"/>
              </a:lnSpc>
              <a:spcAft>
                <a:spcPts val="300"/>
              </a:spcAft>
              <a:defRPr sz="950" b="0">
                <a:solidFill>
                  <a:srgbClr val="8A929C"/>
                </a:solidFill>
                <a:latin typeface="Meiryo"/>
              </a:defRPr>
            </a:pPr>
            <a:r>
              <a:rPr sz="950" b="0">
                <a:solidFill>
                  <a:srgbClr val="8A929C"/>
                </a:solidFill>
                <a:latin typeface="Meiryo"/>
              </a:rPr>
              <a:t>クリック率 0.12%　／　健全な水準</a:t>
            </a:r>
          </a:p>
        </p:txBody>
      </p:sp>
      <p:sp>
        <p:nvSpPr>
          <p:cNvPr id="17" name="Rectangle 16"/>
          <p:cNvSpPr/>
          <p:nvPr/>
        </p:nvSpPr>
        <p:spPr>
          <a:xfrm>
            <a:off x="6190488" y="3054096"/>
            <a:ext cx="5440680" cy="17373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190488" y="3054096"/>
            <a:ext cx="5440680" cy="45720"/>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391656" y="3255264"/>
            <a:ext cx="5038344" cy="256032"/>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DV360（2026年5〜6月）</a:t>
            </a:r>
          </a:p>
        </p:txBody>
      </p:sp>
      <p:sp>
        <p:nvSpPr>
          <p:cNvPr id="20" name="TextBox 19"/>
          <p:cNvSpPr txBox="1"/>
          <p:nvPr/>
        </p:nvSpPr>
        <p:spPr>
          <a:xfrm>
            <a:off x="6391656" y="3547872"/>
            <a:ext cx="5038344" cy="566928"/>
          </a:xfrm>
          <a:prstGeom prst="rect">
            <a:avLst/>
          </a:prstGeom>
          <a:noFill/>
        </p:spPr>
        <p:txBody>
          <a:bodyPr wrap="square" lIns="0" rIns="0" tIns="0" bIns="0" anchor="t">
            <a:spAutoFit/>
          </a:bodyPr>
          <a:lstStyle/>
          <a:p>
            <a:pPr algn="l">
              <a:lnSpc>
                <a:spcPct val="110000"/>
              </a:lnSpc>
              <a:spcAft>
                <a:spcPts val="300"/>
              </a:spcAft>
              <a:defRPr sz="3800" b="1">
                <a:solidFill>
                  <a:srgbClr val="A96933"/>
                </a:solidFill>
                <a:latin typeface="Meiryo"/>
              </a:defRPr>
            </a:pPr>
            <a:r>
              <a:rPr sz="3800" b="1">
                <a:solidFill>
                  <a:srgbClr val="A96933"/>
                </a:solidFill>
                <a:latin typeface="Meiryo"/>
              </a:rPr>
              <a:t>15.9%</a:t>
            </a:r>
          </a:p>
        </p:txBody>
      </p:sp>
      <p:sp>
        <p:nvSpPr>
          <p:cNvPr id="21" name="TextBox 20"/>
          <p:cNvSpPr txBox="1"/>
          <p:nvPr/>
        </p:nvSpPr>
        <p:spPr>
          <a:xfrm>
            <a:off x="6391656" y="4242816"/>
            <a:ext cx="5038344" cy="457200"/>
          </a:xfrm>
          <a:prstGeom prst="rect">
            <a:avLst/>
          </a:prstGeom>
          <a:noFill/>
        </p:spPr>
        <p:txBody>
          <a:bodyPr wrap="square" lIns="0" rIns="0" tIns="0" bIns="0" anchor="t">
            <a:spAutoFit/>
          </a:bodyPr>
          <a:lstStyle/>
          <a:p>
            <a:pPr algn="l">
              <a:lnSpc>
                <a:spcPct val="130000"/>
              </a:lnSpc>
              <a:spcAft>
                <a:spcPts val="300"/>
              </a:spcAft>
              <a:defRPr sz="950" b="0">
                <a:solidFill>
                  <a:srgbClr val="8A929C"/>
                </a:solidFill>
                <a:latin typeface="Meiryo"/>
              </a:defRPr>
            </a:pPr>
            <a:r>
              <a:rPr sz="950" b="0">
                <a:solidFill>
                  <a:srgbClr val="8A929C"/>
                </a:solidFill>
                <a:latin typeface="Meiryo"/>
              </a:rPr>
              <a:t>クリック率 11.30%　／　誤タップ主体</a:t>
            </a:r>
          </a:p>
        </p:txBody>
      </p:sp>
      <p:sp>
        <p:nvSpPr>
          <p:cNvPr id="22" name="TextBox 21"/>
          <p:cNvSpPr txBox="1"/>
          <p:nvPr/>
        </p:nvSpPr>
        <p:spPr>
          <a:xfrm>
            <a:off x="566928" y="5486400"/>
            <a:ext cx="11064240" cy="365760"/>
          </a:xfrm>
          <a:prstGeom prst="rect">
            <a:avLst/>
          </a:prstGeom>
          <a:noFill/>
        </p:spPr>
        <p:txBody>
          <a:bodyPr wrap="square" lIns="0" rIns="0" tIns="0" bIns="0" anchor="t">
            <a:spAutoFit/>
          </a:bodyPr>
          <a:lstStyle/>
          <a:p>
            <a:pPr algn="l">
              <a:lnSpc>
                <a:spcPct val="135000"/>
              </a:lnSpc>
              <a:spcAft>
                <a:spcPts val="300"/>
              </a:spcAft>
              <a:defRPr sz="950" b="0">
                <a:solidFill>
                  <a:srgbClr val="8A929C"/>
                </a:solidFill>
                <a:latin typeface="Meiryo"/>
              </a:defRPr>
            </a:pPr>
            <a:r>
              <a:rPr sz="950" b="0">
                <a:solidFill>
                  <a:srgbClr val="8A929C"/>
                </a:solidFill>
                <a:latin typeface="Meiryo"/>
              </a:rPr>
              <a:t>〈実測〉クリック数＝各媒体API／セッション数＝GA4。〈業界一般〉ディスプレイ広告のクリック率は通常0.1〜0.5%程度とされます。</a:t>
            </a:r>
          </a:p>
          <a:p>
            <a:pPr algn="l">
              <a:lnSpc>
                <a:spcPct val="135000"/>
              </a:lnSpc>
              <a:spcAft>
                <a:spcPts val="300"/>
              </a:spcAft>
              <a:defRPr sz="950" b="0">
                <a:solidFill>
                  <a:srgbClr val="8A929C"/>
                </a:solidFill>
                <a:latin typeface="Meiryo"/>
              </a:defRPr>
            </a:pPr>
            <a:r>
              <a:rPr sz="950" b="0">
                <a:solidFill>
                  <a:srgbClr val="8A929C"/>
                </a:solidFill>
                <a:latin typeface="Meiryo"/>
              </a:rPr>
              <a:t>〈両論併記〉DV360にも良質な配信面は存在します（次ページ）。</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57200"/>
            <a:ext cx="82296" cy="237744"/>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31520" y="438912"/>
            <a:ext cx="10515600" cy="274320"/>
          </a:xfrm>
          <a:prstGeom prst="rect">
            <a:avLst/>
          </a:prstGeom>
          <a:noFill/>
        </p:spPr>
        <p:txBody>
          <a:bodyPr wrap="square" lIns="0" rIns="0" tIns="0" bIns="0" anchor="t">
            <a:spAutoFit/>
          </a:bodyPr>
          <a:lstStyle/>
          <a:p>
            <a:pPr algn="l">
              <a:lnSpc>
                <a:spcPct val="135000"/>
              </a:lnSpc>
              <a:spcAft>
                <a:spcPts val="300"/>
              </a:spcAft>
              <a:defRPr sz="1150" b="1">
                <a:solidFill>
                  <a:srgbClr val="405D7B"/>
                </a:solidFill>
                <a:latin typeface="Meiryo"/>
              </a:defRPr>
            </a:pPr>
            <a:r>
              <a:rPr sz="1150" b="1">
                <a:solidFill>
                  <a:srgbClr val="405D7B"/>
                </a:solidFill>
                <a:latin typeface="Meiryo"/>
              </a:rPr>
              <a:t>4 品質</a:t>
            </a:r>
          </a:p>
        </p:txBody>
      </p:sp>
      <p:sp>
        <p:nvSpPr>
          <p:cNvPr id="4" name="TextBox 3"/>
          <p:cNvSpPr txBox="1"/>
          <p:nvPr/>
        </p:nvSpPr>
        <p:spPr>
          <a:xfrm>
            <a:off x="530352" y="731520"/>
            <a:ext cx="10972800" cy="566928"/>
          </a:xfrm>
          <a:prstGeom prst="rect">
            <a:avLst/>
          </a:prstGeom>
          <a:noFill/>
        </p:spPr>
        <p:txBody>
          <a:bodyPr wrap="square" lIns="0" rIns="0" tIns="0" bIns="0" anchor="t">
            <a:spAutoFit/>
          </a:bodyPr>
          <a:lstStyle/>
          <a:p>
            <a:pPr algn="l">
              <a:lnSpc>
                <a:spcPct val="115000"/>
              </a:lnSpc>
              <a:spcAft>
                <a:spcPts val="300"/>
              </a:spcAft>
              <a:defRPr sz="2700" b="1">
                <a:solidFill>
                  <a:srgbClr val="2A2E33"/>
                </a:solidFill>
                <a:latin typeface="Meiryo"/>
              </a:defRPr>
            </a:pPr>
            <a:r>
              <a:rPr sz="2700" b="1">
                <a:solidFill>
                  <a:srgbClr val="2A2E33"/>
                </a:solidFill>
                <a:latin typeface="Meiryo"/>
              </a:rPr>
              <a:t>DV360の配信面を1面ずつ分析しました</a:t>
            </a:r>
          </a:p>
        </p:txBody>
      </p:sp>
      <p:sp>
        <p:nvSpPr>
          <p:cNvPr id="5" name="Rectangle 4"/>
          <p:cNvSpPr/>
          <p:nvPr/>
        </p:nvSpPr>
        <p:spPr>
          <a:xfrm>
            <a:off x="566928" y="1399032"/>
            <a:ext cx="1600200" cy="45720"/>
          </a:xfrm>
          <a:prstGeom prst="rect">
            <a:avLst/>
          </a:prstGeom>
          <a:solidFill>
            <a:srgbClr val="334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6928" y="1417320"/>
            <a:ext cx="11064240" cy="9144"/>
          </a:xfrm>
          <a:prstGeom prst="rect">
            <a:avLst/>
          </a:prstGeom>
          <a:solidFill>
            <a:srgbClr val="E2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338560" y="6510528"/>
            <a:ext cx="640080" cy="274320"/>
          </a:xfrm>
          <a:prstGeom prst="rect">
            <a:avLst/>
          </a:prstGeom>
          <a:noFill/>
        </p:spPr>
        <p:txBody>
          <a:bodyPr wrap="square" lIns="0" rIns="0" tIns="0" bIns="0" anchor="t">
            <a:spAutoFit/>
          </a:bodyPr>
          <a:lstStyle/>
          <a:p>
            <a:pPr algn="r">
              <a:lnSpc>
                <a:spcPct val="135000"/>
              </a:lnSpc>
              <a:spcAft>
                <a:spcPts val="300"/>
              </a:spcAft>
              <a:defRPr sz="1050" b="0">
                <a:solidFill>
                  <a:srgbClr val="8A929C"/>
                </a:solidFill>
                <a:latin typeface="Meiryo"/>
              </a:defRPr>
            </a:pPr>
            <a:r>
              <a:rPr sz="1050" b="0">
                <a:solidFill>
                  <a:srgbClr val="8A929C"/>
                </a:solidFill>
                <a:latin typeface="Meiryo"/>
              </a:rPr>
              <a:t>19</a:t>
            </a:r>
          </a:p>
        </p:txBody>
      </p:sp>
      <p:sp>
        <p:nvSpPr>
          <p:cNvPr id="8" name="TextBox 7"/>
          <p:cNvSpPr txBox="1"/>
          <p:nvPr/>
        </p:nvSpPr>
        <p:spPr>
          <a:xfrm>
            <a:off x="566928" y="1536192"/>
            <a:ext cx="11064240" cy="274320"/>
          </a:xfrm>
          <a:prstGeom prst="rect">
            <a:avLst/>
          </a:prstGeom>
          <a:noFill/>
        </p:spPr>
        <p:txBody>
          <a:bodyPr wrap="square" lIns="0" rIns="0" tIns="0" bIns="0" anchor="t">
            <a:spAutoFit/>
          </a:bodyPr>
          <a:lstStyle/>
          <a:p>
            <a:pPr algn="l">
              <a:lnSpc>
                <a:spcPct val="135000"/>
              </a:lnSpc>
              <a:spcAft>
                <a:spcPts val="300"/>
              </a:spcAft>
              <a:defRPr sz="1150" b="0">
                <a:solidFill>
                  <a:srgbClr val="8A929C"/>
                </a:solidFill>
                <a:latin typeface="Meiryo"/>
              </a:defRPr>
            </a:pPr>
            <a:r>
              <a:rPr sz="1150" b="0">
                <a:solidFill>
                  <a:srgbClr val="8A929C"/>
                </a:solidFill>
                <a:latin typeface="Meiryo"/>
              </a:rPr>
              <a:t>2026年5〜6月の全配信面 9,833行を取得し、GA4と突き合わせました。</a:t>
            </a:r>
          </a:p>
        </p:txBody>
      </p:sp>
      <p:sp>
        <p:nvSpPr>
          <p:cNvPr id="9" name="Rectangle 8"/>
          <p:cNvSpPr/>
          <p:nvPr/>
        </p:nvSpPr>
        <p:spPr>
          <a:xfrm>
            <a:off x="566928" y="1956815"/>
            <a:ext cx="11064240" cy="384048"/>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6656" y="1956815"/>
            <a:ext cx="2928129" cy="384048"/>
          </a:xfrm>
          <a:prstGeom prst="rect">
            <a:avLst/>
          </a:prstGeom>
          <a:noFill/>
        </p:spPr>
        <p:txBody>
          <a:bodyPr wrap="square" lIns="0" rIns="0" tIns="0" bIns="0" anchor="ctr">
            <a:spAutoFit/>
          </a:bodyPr>
          <a:lstStyle/>
          <a:p>
            <a:pPr algn="l">
              <a:lnSpc>
                <a:spcPct val="100000"/>
              </a:lnSpc>
              <a:spcAft>
                <a:spcPts val="0"/>
              </a:spcAft>
              <a:defRPr sz="1150" b="1">
                <a:solidFill>
                  <a:srgbClr val="FFFFFF"/>
                </a:solidFill>
                <a:latin typeface="Meiryo"/>
              </a:defRPr>
            </a:pPr>
            <a:r>
              <a:rPr sz="1150" b="1">
                <a:solidFill>
                  <a:srgbClr val="FFFFFF"/>
                </a:solidFill>
                <a:latin typeface="Meiryo"/>
              </a:rPr>
              <a:t>配信面</a:t>
            </a:r>
          </a:p>
        </p:txBody>
      </p:sp>
      <p:sp>
        <p:nvSpPr>
          <p:cNvPr id="11" name="TextBox 10"/>
          <p:cNvSpPr txBox="1"/>
          <p:nvPr/>
        </p:nvSpPr>
        <p:spPr>
          <a:xfrm>
            <a:off x="3824241" y="1956815"/>
            <a:ext cx="1402027" cy="384048"/>
          </a:xfrm>
          <a:prstGeom prst="rect">
            <a:avLst/>
          </a:prstGeom>
          <a:noFill/>
        </p:spPr>
        <p:txBody>
          <a:bodyPr wrap="square" lIns="0" rIns="0" tIns="0" bIns="0" anchor="ctr">
            <a:spAutoFit/>
          </a:bodyPr>
          <a:lstStyle/>
          <a:p>
            <a:pPr algn="r">
              <a:lnSpc>
                <a:spcPct val="100000"/>
              </a:lnSpc>
              <a:spcAft>
                <a:spcPts val="0"/>
              </a:spcAft>
              <a:defRPr sz="1150" b="1">
                <a:solidFill>
                  <a:srgbClr val="FFFFFF"/>
                </a:solidFill>
                <a:latin typeface="Meiryo"/>
              </a:defRPr>
            </a:pPr>
            <a:r>
              <a:rPr sz="1150" b="1">
                <a:solidFill>
                  <a:srgbClr val="FFFFFF"/>
                </a:solidFill>
                <a:latin typeface="Meiryo"/>
              </a:rPr>
              <a:t>表示</a:t>
            </a:r>
          </a:p>
        </p:txBody>
      </p:sp>
      <p:sp>
        <p:nvSpPr>
          <p:cNvPr id="12" name="TextBox 11"/>
          <p:cNvSpPr txBox="1"/>
          <p:nvPr/>
        </p:nvSpPr>
        <p:spPr>
          <a:xfrm>
            <a:off x="5445724" y="1956815"/>
            <a:ext cx="1306646" cy="384048"/>
          </a:xfrm>
          <a:prstGeom prst="rect">
            <a:avLst/>
          </a:prstGeom>
          <a:noFill/>
        </p:spPr>
        <p:txBody>
          <a:bodyPr wrap="square" lIns="0" rIns="0" tIns="0" bIns="0" anchor="ctr">
            <a:spAutoFit/>
          </a:bodyPr>
          <a:lstStyle/>
          <a:p>
            <a:pPr algn="r">
              <a:lnSpc>
                <a:spcPct val="100000"/>
              </a:lnSpc>
              <a:spcAft>
                <a:spcPts val="0"/>
              </a:spcAft>
              <a:defRPr sz="1150" b="1">
                <a:solidFill>
                  <a:srgbClr val="FFFFFF"/>
                </a:solidFill>
                <a:latin typeface="Meiryo"/>
              </a:defRPr>
            </a:pPr>
            <a:r>
              <a:rPr sz="1150" b="1">
                <a:solidFill>
                  <a:srgbClr val="FFFFFF"/>
                </a:solidFill>
                <a:latin typeface="Meiryo"/>
              </a:rPr>
              <a:t>クリック</a:t>
            </a:r>
          </a:p>
        </p:txBody>
      </p:sp>
      <p:sp>
        <p:nvSpPr>
          <p:cNvPr id="13" name="TextBox 12"/>
          <p:cNvSpPr txBox="1"/>
          <p:nvPr/>
        </p:nvSpPr>
        <p:spPr>
          <a:xfrm>
            <a:off x="6971827" y="1956815"/>
            <a:ext cx="1306646" cy="384048"/>
          </a:xfrm>
          <a:prstGeom prst="rect">
            <a:avLst/>
          </a:prstGeom>
          <a:noFill/>
        </p:spPr>
        <p:txBody>
          <a:bodyPr wrap="square" lIns="0" rIns="0" tIns="0" bIns="0" anchor="ctr">
            <a:spAutoFit/>
          </a:bodyPr>
          <a:lstStyle/>
          <a:p>
            <a:pPr algn="r">
              <a:lnSpc>
                <a:spcPct val="100000"/>
              </a:lnSpc>
              <a:spcAft>
                <a:spcPts val="0"/>
              </a:spcAft>
              <a:defRPr sz="1150" b="1">
                <a:solidFill>
                  <a:srgbClr val="FFFFFF"/>
                </a:solidFill>
                <a:latin typeface="Meiryo"/>
              </a:defRPr>
            </a:pPr>
            <a:r>
              <a:rPr sz="1150" b="1">
                <a:solidFill>
                  <a:srgbClr val="FFFFFF"/>
                </a:solidFill>
                <a:latin typeface="Meiryo"/>
              </a:rPr>
              <a:t>クリック率</a:t>
            </a:r>
          </a:p>
        </p:txBody>
      </p:sp>
      <p:sp>
        <p:nvSpPr>
          <p:cNvPr id="14" name="TextBox 13"/>
          <p:cNvSpPr txBox="1"/>
          <p:nvPr/>
        </p:nvSpPr>
        <p:spPr>
          <a:xfrm>
            <a:off x="8497929" y="1956815"/>
            <a:ext cx="1592790" cy="384048"/>
          </a:xfrm>
          <a:prstGeom prst="rect">
            <a:avLst/>
          </a:prstGeom>
          <a:noFill/>
        </p:spPr>
        <p:txBody>
          <a:bodyPr wrap="square" lIns="0" rIns="0" tIns="0" bIns="0" anchor="ctr">
            <a:spAutoFit/>
          </a:bodyPr>
          <a:lstStyle/>
          <a:p>
            <a:pPr algn="r">
              <a:lnSpc>
                <a:spcPct val="100000"/>
              </a:lnSpc>
              <a:spcAft>
                <a:spcPts val="0"/>
              </a:spcAft>
              <a:defRPr sz="1150" b="1">
                <a:solidFill>
                  <a:srgbClr val="FFFFFF"/>
                </a:solidFill>
                <a:latin typeface="Meiryo"/>
              </a:defRPr>
            </a:pPr>
            <a:r>
              <a:rPr sz="1150" b="1">
                <a:solidFill>
                  <a:srgbClr val="FFFFFF"/>
                </a:solidFill>
                <a:latin typeface="Meiryo"/>
              </a:rPr>
              <a:t>サイト到達率</a:t>
            </a:r>
          </a:p>
        </p:txBody>
      </p:sp>
      <p:sp>
        <p:nvSpPr>
          <p:cNvPr id="15" name="TextBox 14"/>
          <p:cNvSpPr txBox="1"/>
          <p:nvPr/>
        </p:nvSpPr>
        <p:spPr>
          <a:xfrm>
            <a:off x="10310175" y="1956815"/>
            <a:ext cx="1211264" cy="384048"/>
          </a:xfrm>
          <a:prstGeom prst="rect">
            <a:avLst/>
          </a:prstGeom>
          <a:noFill/>
        </p:spPr>
        <p:txBody>
          <a:bodyPr wrap="square" lIns="0" rIns="0" tIns="0" bIns="0" anchor="ctr">
            <a:spAutoFit/>
          </a:bodyPr>
          <a:lstStyle/>
          <a:p>
            <a:pPr algn="r">
              <a:lnSpc>
                <a:spcPct val="100000"/>
              </a:lnSpc>
              <a:spcAft>
                <a:spcPts val="0"/>
              </a:spcAft>
              <a:defRPr sz="1150" b="1">
                <a:solidFill>
                  <a:srgbClr val="FFFFFF"/>
                </a:solidFill>
                <a:latin typeface="Meiryo"/>
              </a:defRPr>
            </a:pPr>
            <a:r>
              <a:rPr sz="1150" b="1">
                <a:solidFill>
                  <a:srgbClr val="FFFFFF"/>
                </a:solidFill>
                <a:latin typeface="Meiryo"/>
              </a:rPr>
              <a:t>平均滞在</a:t>
            </a:r>
          </a:p>
        </p:txBody>
      </p:sp>
      <p:sp>
        <p:nvSpPr>
          <p:cNvPr id="16" name="Rectangle 15"/>
          <p:cNvSpPr/>
          <p:nvPr/>
        </p:nvSpPr>
        <p:spPr>
          <a:xfrm>
            <a:off x="566928" y="2340863"/>
            <a:ext cx="1106424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6656" y="2340863"/>
            <a:ext cx="2928129"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trilltrill.jp</a:t>
            </a:r>
          </a:p>
        </p:txBody>
      </p:sp>
      <p:sp>
        <p:nvSpPr>
          <p:cNvPr id="18" name="TextBox 17"/>
          <p:cNvSpPr txBox="1"/>
          <p:nvPr/>
        </p:nvSpPr>
        <p:spPr>
          <a:xfrm>
            <a:off x="3824241" y="2340863"/>
            <a:ext cx="1402027"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88,947</a:t>
            </a:r>
          </a:p>
        </p:txBody>
      </p:sp>
      <p:sp>
        <p:nvSpPr>
          <p:cNvPr id="19" name="TextBox 18"/>
          <p:cNvSpPr txBox="1"/>
          <p:nvPr/>
        </p:nvSpPr>
        <p:spPr>
          <a:xfrm>
            <a:off x="5445724" y="2340863"/>
            <a:ext cx="1306646"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7,574</a:t>
            </a:r>
          </a:p>
        </p:txBody>
      </p:sp>
      <p:sp>
        <p:nvSpPr>
          <p:cNvPr id="20" name="TextBox 19"/>
          <p:cNvSpPr txBox="1"/>
          <p:nvPr/>
        </p:nvSpPr>
        <p:spPr>
          <a:xfrm>
            <a:off x="6971827" y="2340863"/>
            <a:ext cx="1306646"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8.5%</a:t>
            </a:r>
          </a:p>
        </p:txBody>
      </p:sp>
      <p:sp>
        <p:nvSpPr>
          <p:cNvPr id="21" name="TextBox 20"/>
          <p:cNvSpPr txBox="1"/>
          <p:nvPr/>
        </p:nvSpPr>
        <p:spPr>
          <a:xfrm>
            <a:off x="8497929" y="2340863"/>
            <a:ext cx="1592790" cy="365760"/>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18.5%</a:t>
            </a:r>
          </a:p>
        </p:txBody>
      </p:sp>
      <p:sp>
        <p:nvSpPr>
          <p:cNvPr id="22" name="TextBox 21"/>
          <p:cNvSpPr txBox="1"/>
          <p:nvPr/>
        </p:nvSpPr>
        <p:spPr>
          <a:xfrm>
            <a:off x="10310175" y="2340863"/>
            <a:ext cx="1211264" cy="365760"/>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0.0秒</a:t>
            </a:r>
          </a:p>
        </p:txBody>
      </p:sp>
      <p:sp>
        <p:nvSpPr>
          <p:cNvPr id="23" name="Rectangle 22"/>
          <p:cNvSpPr/>
          <p:nvPr/>
        </p:nvSpPr>
        <p:spPr>
          <a:xfrm>
            <a:off x="566928" y="2706623"/>
            <a:ext cx="11064240" cy="365760"/>
          </a:xfrm>
          <a:prstGeom prst="rect">
            <a:avLst/>
          </a:prstGeom>
          <a:solidFill>
            <a:srgbClr val="EE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76656" y="2706623"/>
            <a:ext cx="2928129"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SmartNews（iOSアプリ）</a:t>
            </a:r>
          </a:p>
        </p:txBody>
      </p:sp>
      <p:sp>
        <p:nvSpPr>
          <p:cNvPr id="25" name="TextBox 24"/>
          <p:cNvSpPr txBox="1"/>
          <p:nvPr/>
        </p:nvSpPr>
        <p:spPr>
          <a:xfrm>
            <a:off x="3824241" y="2706623"/>
            <a:ext cx="1402027"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23,728</a:t>
            </a:r>
          </a:p>
        </p:txBody>
      </p:sp>
      <p:sp>
        <p:nvSpPr>
          <p:cNvPr id="26" name="TextBox 25"/>
          <p:cNvSpPr txBox="1"/>
          <p:nvPr/>
        </p:nvSpPr>
        <p:spPr>
          <a:xfrm>
            <a:off x="5445724" y="2706623"/>
            <a:ext cx="1306646"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4,261</a:t>
            </a:r>
          </a:p>
        </p:txBody>
      </p:sp>
      <p:sp>
        <p:nvSpPr>
          <p:cNvPr id="27" name="TextBox 26"/>
          <p:cNvSpPr txBox="1"/>
          <p:nvPr/>
        </p:nvSpPr>
        <p:spPr>
          <a:xfrm>
            <a:off x="6971827" y="2706623"/>
            <a:ext cx="1306646" cy="365760"/>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18.0%</a:t>
            </a:r>
          </a:p>
        </p:txBody>
      </p:sp>
      <p:sp>
        <p:nvSpPr>
          <p:cNvPr id="28" name="TextBox 27"/>
          <p:cNvSpPr txBox="1"/>
          <p:nvPr/>
        </p:nvSpPr>
        <p:spPr>
          <a:xfrm>
            <a:off x="8497929" y="2706623"/>
            <a:ext cx="1592790"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77.6%</a:t>
            </a:r>
          </a:p>
        </p:txBody>
      </p:sp>
      <p:sp>
        <p:nvSpPr>
          <p:cNvPr id="29" name="TextBox 28"/>
          <p:cNvSpPr txBox="1"/>
          <p:nvPr/>
        </p:nvSpPr>
        <p:spPr>
          <a:xfrm>
            <a:off x="10310175" y="2706623"/>
            <a:ext cx="1211264" cy="365760"/>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0.9秒</a:t>
            </a:r>
          </a:p>
        </p:txBody>
      </p:sp>
      <p:sp>
        <p:nvSpPr>
          <p:cNvPr id="30" name="Rectangle 29"/>
          <p:cNvSpPr/>
          <p:nvPr/>
        </p:nvSpPr>
        <p:spPr>
          <a:xfrm>
            <a:off x="566928" y="3072383"/>
            <a:ext cx="1106424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76656" y="3072383"/>
            <a:ext cx="2928129"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nlab.itmedia.co.jp</a:t>
            </a:r>
          </a:p>
        </p:txBody>
      </p:sp>
      <p:sp>
        <p:nvSpPr>
          <p:cNvPr id="32" name="TextBox 31"/>
          <p:cNvSpPr txBox="1"/>
          <p:nvPr/>
        </p:nvSpPr>
        <p:spPr>
          <a:xfrm>
            <a:off x="3824241" y="3072383"/>
            <a:ext cx="1402027"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25,312</a:t>
            </a:r>
          </a:p>
        </p:txBody>
      </p:sp>
      <p:sp>
        <p:nvSpPr>
          <p:cNvPr id="33" name="TextBox 32"/>
          <p:cNvSpPr txBox="1"/>
          <p:nvPr/>
        </p:nvSpPr>
        <p:spPr>
          <a:xfrm>
            <a:off x="5445724" y="3072383"/>
            <a:ext cx="1306646"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1,564</a:t>
            </a:r>
          </a:p>
        </p:txBody>
      </p:sp>
      <p:sp>
        <p:nvSpPr>
          <p:cNvPr id="34" name="TextBox 33"/>
          <p:cNvSpPr txBox="1"/>
          <p:nvPr/>
        </p:nvSpPr>
        <p:spPr>
          <a:xfrm>
            <a:off x="6971827" y="3072383"/>
            <a:ext cx="1306646"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6.2%</a:t>
            </a:r>
          </a:p>
        </p:txBody>
      </p:sp>
      <p:sp>
        <p:nvSpPr>
          <p:cNvPr id="35" name="TextBox 34"/>
          <p:cNvSpPr txBox="1"/>
          <p:nvPr/>
        </p:nvSpPr>
        <p:spPr>
          <a:xfrm>
            <a:off x="8497929" y="3072383"/>
            <a:ext cx="1592790"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12.6%</a:t>
            </a:r>
          </a:p>
        </p:txBody>
      </p:sp>
      <p:sp>
        <p:nvSpPr>
          <p:cNvPr id="36" name="TextBox 35"/>
          <p:cNvSpPr txBox="1"/>
          <p:nvPr/>
        </p:nvSpPr>
        <p:spPr>
          <a:xfrm>
            <a:off x="10310175" y="3072383"/>
            <a:ext cx="1211264"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0.8秒</a:t>
            </a:r>
          </a:p>
        </p:txBody>
      </p:sp>
      <p:sp>
        <p:nvSpPr>
          <p:cNvPr id="37" name="Rectangle 36"/>
          <p:cNvSpPr/>
          <p:nvPr/>
        </p:nvSpPr>
        <p:spPr>
          <a:xfrm>
            <a:off x="566928" y="3438143"/>
            <a:ext cx="11064240" cy="365760"/>
          </a:xfrm>
          <a:prstGeom prst="rect">
            <a:avLst/>
          </a:prstGeom>
          <a:solidFill>
            <a:srgbClr val="EE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76656" y="3438143"/>
            <a:ext cx="2928129"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mamastar.jp</a:t>
            </a:r>
          </a:p>
        </p:txBody>
      </p:sp>
      <p:sp>
        <p:nvSpPr>
          <p:cNvPr id="39" name="TextBox 38"/>
          <p:cNvSpPr txBox="1"/>
          <p:nvPr/>
        </p:nvSpPr>
        <p:spPr>
          <a:xfrm>
            <a:off x="3824241" y="3438143"/>
            <a:ext cx="1402027"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23,619</a:t>
            </a:r>
          </a:p>
        </p:txBody>
      </p:sp>
      <p:sp>
        <p:nvSpPr>
          <p:cNvPr id="40" name="TextBox 39"/>
          <p:cNvSpPr txBox="1"/>
          <p:nvPr/>
        </p:nvSpPr>
        <p:spPr>
          <a:xfrm>
            <a:off x="5445724" y="3438143"/>
            <a:ext cx="1306646"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1,206</a:t>
            </a:r>
          </a:p>
        </p:txBody>
      </p:sp>
      <p:sp>
        <p:nvSpPr>
          <p:cNvPr id="41" name="TextBox 40"/>
          <p:cNvSpPr txBox="1"/>
          <p:nvPr/>
        </p:nvSpPr>
        <p:spPr>
          <a:xfrm>
            <a:off x="6971827" y="3438143"/>
            <a:ext cx="1306646"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5.1%</a:t>
            </a:r>
          </a:p>
        </p:txBody>
      </p:sp>
      <p:sp>
        <p:nvSpPr>
          <p:cNvPr id="42" name="TextBox 41"/>
          <p:cNvSpPr txBox="1"/>
          <p:nvPr/>
        </p:nvSpPr>
        <p:spPr>
          <a:xfrm>
            <a:off x="8497929" y="3438143"/>
            <a:ext cx="1592790" cy="365760"/>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4.1%</a:t>
            </a:r>
          </a:p>
        </p:txBody>
      </p:sp>
      <p:sp>
        <p:nvSpPr>
          <p:cNvPr id="43" name="TextBox 42"/>
          <p:cNvSpPr txBox="1"/>
          <p:nvPr/>
        </p:nvSpPr>
        <p:spPr>
          <a:xfrm>
            <a:off x="10310175" y="3438143"/>
            <a:ext cx="1211264"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0.3秒</a:t>
            </a:r>
          </a:p>
        </p:txBody>
      </p:sp>
      <p:sp>
        <p:nvSpPr>
          <p:cNvPr id="44" name="Rectangle 43"/>
          <p:cNvSpPr/>
          <p:nvPr/>
        </p:nvSpPr>
        <p:spPr>
          <a:xfrm>
            <a:off x="566928" y="3803903"/>
            <a:ext cx="11064240" cy="3657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76656" y="3803903"/>
            <a:ext cx="2928129"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MILE mobile（Androidアプリ）</a:t>
            </a:r>
          </a:p>
        </p:txBody>
      </p:sp>
      <p:sp>
        <p:nvSpPr>
          <p:cNvPr id="46" name="TextBox 45"/>
          <p:cNvSpPr txBox="1"/>
          <p:nvPr/>
        </p:nvSpPr>
        <p:spPr>
          <a:xfrm>
            <a:off x="3824241" y="3803903"/>
            <a:ext cx="1402027"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a:t>
            </a:r>
          </a:p>
        </p:txBody>
      </p:sp>
      <p:sp>
        <p:nvSpPr>
          <p:cNvPr id="47" name="TextBox 46"/>
          <p:cNvSpPr txBox="1"/>
          <p:nvPr/>
        </p:nvSpPr>
        <p:spPr>
          <a:xfrm>
            <a:off x="5445724" y="3803903"/>
            <a:ext cx="1306646"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a:t>
            </a:r>
          </a:p>
        </p:txBody>
      </p:sp>
      <p:sp>
        <p:nvSpPr>
          <p:cNvPr id="48" name="TextBox 47"/>
          <p:cNvSpPr txBox="1"/>
          <p:nvPr/>
        </p:nvSpPr>
        <p:spPr>
          <a:xfrm>
            <a:off x="6971827" y="3803903"/>
            <a:ext cx="1306646"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a:t>
            </a:r>
          </a:p>
        </p:txBody>
      </p:sp>
      <p:sp>
        <p:nvSpPr>
          <p:cNvPr id="49" name="TextBox 48"/>
          <p:cNvSpPr txBox="1"/>
          <p:nvPr/>
        </p:nvSpPr>
        <p:spPr>
          <a:xfrm>
            <a:off x="8497929" y="3803903"/>
            <a:ext cx="1592790"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a:t>
            </a:r>
          </a:p>
        </p:txBody>
      </p:sp>
      <p:sp>
        <p:nvSpPr>
          <p:cNvPr id="50" name="TextBox 49"/>
          <p:cNvSpPr txBox="1"/>
          <p:nvPr/>
        </p:nvSpPr>
        <p:spPr>
          <a:xfrm>
            <a:off x="10310175" y="3803903"/>
            <a:ext cx="1211264" cy="365760"/>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28.7秒</a:t>
            </a:r>
          </a:p>
        </p:txBody>
      </p:sp>
      <p:sp>
        <p:nvSpPr>
          <p:cNvPr id="51" name="Rectangle 50"/>
          <p:cNvSpPr/>
          <p:nvPr/>
        </p:nvSpPr>
        <p:spPr>
          <a:xfrm>
            <a:off x="566928" y="4169663"/>
            <a:ext cx="11064240" cy="3657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76656" y="4169663"/>
            <a:ext cx="2928129" cy="365760"/>
          </a:xfrm>
          <a:prstGeom prst="rect">
            <a:avLst/>
          </a:prstGeom>
          <a:noFill/>
        </p:spPr>
        <p:txBody>
          <a:bodyPr wrap="square" lIns="0" rIns="0" tIns="0" bIns="0" anchor="ctr">
            <a:spAutoFit/>
          </a:bodyPr>
          <a:lstStyle/>
          <a:p>
            <a:pPr algn="l">
              <a:lnSpc>
                <a:spcPct val="100000"/>
              </a:lnSpc>
              <a:spcAft>
                <a:spcPts val="0"/>
              </a:spcAft>
              <a:defRPr sz="1150" b="1">
                <a:solidFill>
                  <a:srgbClr val="405D7B"/>
                </a:solidFill>
                <a:latin typeface="Meiryo"/>
              </a:defRPr>
            </a:pPr>
            <a:r>
              <a:rPr sz="1150" b="1">
                <a:solidFill>
                  <a:srgbClr val="405D7B"/>
                </a:solidFill>
                <a:latin typeface="Meiryo"/>
              </a:rPr>
              <a:t>全体</a:t>
            </a:r>
          </a:p>
        </p:txBody>
      </p:sp>
      <p:sp>
        <p:nvSpPr>
          <p:cNvPr id="53" name="TextBox 52"/>
          <p:cNvSpPr txBox="1"/>
          <p:nvPr/>
        </p:nvSpPr>
        <p:spPr>
          <a:xfrm>
            <a:off x="3824241" y="4169663"/>
            <a:ext cx="1402027" cy="365760"/>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672,105</a:t>
            </a:r>
          </a:p>
        </p:txBody>
      </p:sp>
      <p:sp>
        <p:nvSpPr>
          <p:cNvPr id="54" name="TextBox 53"/>
          <p:cNvSpPr txBox="1"/>
          <p:nvPr/>
        </p:nvSpPr>
        <p:spPr>
          <a:xfrm>
            <a:off x="5445724" y="4169663"/>
            <a:ext cx="1306646" cy="365760"/>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43,723</a:t>
            </a:r>
          </a:p>
        </p:txBody>
      </p:sp>
      <p:sp>
        <p:nvSpPr>
          <p:cNvPr id="55" name="TextBox 54"/>
          <p:cNvSpPr txBox="1"/>
          <p:nvPr/>
        </p:nvSpPr>
        <p:spPr>
          <a:xfrm>
            <a:off x="6971827" y="4169663"/>
            <a:ext cx="1306646" cy="365760"/>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6.51%</a:t>
            </a:r>
          </a:p>
        </p:txBody>
      </p:sp>
      <p:sp>
        <p:nvSpPr>
          <p:cNvPr id="56" name="TextBox 55"/>
          <p:cNvSpPr txBox="1"/>
          <p:nvPr/>
        </p:nvSpPr>
        <p:spPr>
          <a:xfrm>
            <a:off x="8497929" y="4169663"/>
            <a:ext cx="1592790" cy="365760"/>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15.9%</a:t>
            </a:r>
          </a:p>
        </p:txBody>
      </p:sp>
      <p:sp>
        <p:nvSpPr>
          <p:cNvPr id="57" name="TextBox 56"/>
          <p:cNvSpPr txBox="1"/>
          <p:nvPr/>
        </p:nvSpPr>
        <p:spPr>
          <a:xfrm>
            <a:off x="10310175" y="4169663"/>
            <a:ext cx="1211264"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a:t>
            </a:r>
          </a:p>
        </p:txBody>
      </p:sp>
      <p:sp>
        <p:nvSpPr>
          <p:cNvPr id="58" name="Rectangle 57"/>
          <p:cNvSpPr/>
          <p:nvPr/>
        </p:nvSpPr>
        <p:spPr>
          <a:xfrm>
            <a:off x="566928" y="4626864"/>
            <a:ext cx="11064240"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566928" y="4626864"/>
            <a:ext cx="11064240" cy="45720"/>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777240" y="4828032"/>
            <a:ext cx="10643615" cy="274320"/>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所見</a:t>
            </a:r>
          </a:p>
        </p:txBody>
      </p:sp>
      <p:sp>
        <p:nvSpPr>
          <p:cNvPr id="61" name="TextBox 60"/>
          <p:cNvSpPr txBox="1"/>
          <p:nvPr/>
        </p:nvSpPr>
        <p:spPr>
          <a:xfrm>
            <a:off x="777240" y="5065776"/>
            <a:ext cx="10643615" cy="365760"/>
          </a:xfrm>
          <a:prstGeom prst="rect">
            <a:avLst/>
          </a:prstGeom>
          <a:noFill/>
        </p:spPr>
        <p:txBody>
          <a:bodyPr wrap="square" lIns="0" rIns="0" tIns="0" bIns="0" anchor="t">
            <a:spAutoFit/>
          </a:bodyPr>
          <a:lstStyle/>
          <a:p>
            <a:pPr algn="l">
              <a:lnSpc>
                <a:spcPct val="135000"/>
              </a:lnSpc>
              <a:spcAft>
                <a:spcPts val="300"/>
              </a:spcAft>
              <a:defRPr sz="1600" b="1">
                <a:solidFill>
                  <a:srgbClr val="2A2E33"/>
                </a:solidFill>
                <a:latin typeface="Meiryo"/>
              </a:defRPr>
            </a:pPr>
            <a:r>
              <a:rPr sz="1600" b="1">
                <a:solidFill>
                  <a:srgbClr val="2A2E33"/>
                </a:solidFill>
                <a:latin typeface="Meiryo"/>
              </a:rPr>
              <a:t>面ごとの選別が有効です</a:t>
            </a:r>
          </a:p>
        </p:txBody>
      </p:sp>
      <p:sp>
        <p:nvSpPr>
          <p:cNvPr id="62" name="TextBox 61"/>
          <p:cNvSpPr txBox="1"/>
          <p:nvPr/>
        </p:nvSpPr>
        <p:spPr>
          <a:xfrm>
            <a:off x="804672" y="5559552"/>
            <a:ext cx="10588752" cy="-36576"/>
          </a:xfrm>
          <a:prstGeom prst="rect">
            <a:avLst/>
          </a:prstGeom>
          <a:noFill/>
        </p:spPr>
        <p:txBody>
          <a:bodyPr wrap="square" lIns="0" rIns="0" tIns="0" bIns="0" anchor="t">
            <a:spAutoFit/>
          </a:bodyPr>
          <a:lstStyle/>
          <a:p>
            <a:pPr algn="l">
              <a:lnSpc>
                <a:spcPct val="150000"/>
              </a:lnSpc>
              <a:spcAft>
                <a:spcPts val="300"/>
              </a:spcAft>
              <a:defRPr sz="1300" b="0">
                <a:solidFill>
                  <a:srgbClr val="454B52"/>
                </a:solidFill>
                <a:latin typeface="Meiryo"/>
              </a:defRPr>
            </a:pPr>
            <a:r>
              <a:rPr sz="1300" b="0">
                <a:solidFill>
                  <a:srgbClr val="454B52"/>
                </a:solidFill>
                <a:latin typeface="Meiryo"/>
              </a:rPr>
              <a:t>クリック率5%超の配信面が65面あり、クリックの61%・配信費の47%を占めています。一方でMILE mobileは平均滞在28.7秒と良質で、アプリ面が一律に悪いわけではありません。</a:t>
            </a:r>
          </a:p>
        </p:txBody>
      </p:sp>
      <p:sp>
        <p:nvSpPr>
          <p:cNvPr id="63" name="TextBox 62"/>
          <p:cNvSpPr txBox="1"/>
          <p:nvPr/>
        </p:nvSpPr>
        <p:spPr>
          <a:xfrm>
            <a:off x="566928" y="5943600"/>
            <a:ext cx="11064240" cy="365760"/>
          </a:xfrm>
          <a:prstGeom prst="rect">
            <a:avLst/>
          </a:prstGeom>
          <a:noFill/>
        </p:spPr>
        <p:txBody>
          <a:bodyPr wrap="square" lIns="0" rIns="0" tIns="0" bIns="0" anchor="t">
            <a:spAutoFit/>
          </a:bodyPr>
          <a:lstStyle/>
          <a:p>
            <a:pPr algn="l">
              <a:lnSpc>
                <a:spcPct val="135000"/>
              </a:lnSpc>
              <a:spcAft>
                <a:spcPts val="300"/>
              </a:spcAft>
              <a:defRPr sz="950" b="0">
                <a:solidFill>
                  <a:srgbClr val="8A929C"/>
                </a:solidFill>
                <a:latin typeface="Meiryo"/>
              </a:defRPr>
            </a:pPr>
            <a:r>
              <a:rPr sz="950" b="0">
                <a:solidFill>
                  <a:srgbClr val="8A929C"/>
                </a:solidFill>
                <a:latin typeface="Meiryo"/>
              </a:rPr>
              <a:t>〈実測〉DV360 Bid Manager API の配信面別レポート（9,833行）をGA4と突合。</a:t>
            </a:r>
          </a:p>
          <a:p>
            <a:pPr algn="l">
              <a:lnSpc>
                <a:spcPct val="135000"/>
              </a:lnSpc>
              <a:spcAft>
                <a:spcPts val="300"/>
              </a:spcAft>
              <a:defRPr sz="950" b="0">
                <a:solidFill>
                  <a:srgbClr val="8A929C"/>
                </a:solidFill>
                <a:latin typeface="Meiryo"/>
              </a:defRPr>
            </a:pPr>
            <a:r>
              <a:rPr sz="950" b="0">
                <a:solidFill>
                  <a:srgbClr val="8A929C"/>
                </a:solidFill>
                <a:latin typeface="Meiryo"/>
              </a:rPr>
              <a:t>※アプリ内ブラウザでは滞在時間が過少計測されうるため、判断の主軸は到達率に置いています。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57200"/>
            <a:ext cx="82296" cy="237744"/>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31520" y="438912"/>
            <a:ext cx="10515600" cy="274320"/>
          </a:xfrm>
          <a:prstGeom prst="rect">
            <a:avLst/>
          </a:prstGeom>
          <a:noFill/>
        </p:spPr>
        <p:txBody>
          <a:bodyPr wrap="square" lIns="0" rIns="0" tIns="0" bIns="0" anchor="t">
            <a:spAutoFit/>
          </a:bodyPr>
          <a:lstStyle/>
          <a:p>
            <a:pPr algn="l">
              <a:lnSpc>
                <a:spcPct val="135000"/>
              </a:lnSpc>
              <a:spcAft>
                <a:spcPts val="300"/>
              </a:spcAft>
              <a:defRPr sz="1150" b="1">
                <a:solidFill>
                  <a:srgbClr val="405D7B"/>
                </a:solidFill>
                <a:latin typeface="Meiryo"/>
              </a:defRPr>
            </a:pPr>
            <a:r>
              <a:rPr sz="1150" b="1">
                <a:solidFill>
                  <a:srgbClr val="405D7B"/>
                </a:solidFill>
                <a:latin typeface="Meiryo"/>
              </a:rPr>
              <a:t>4 品質</a:t>
            </a:r>
          </a:p>
        </p:txBody>
      </p:sp>
      <p:sp>
        <p:nvSpPr>
          <p:cNvPr id="4" name="TextBox 3"/>
          <p:cNvSpPr txBox="1"/>
          <p:nvPr/>
        </p:nvSpPr>
        <p:spPr>
          <a:xfrm>
            <a:off x="530352" y="731520"/>
            <a:ext cx="10972800" cy="566928"/>
          </a:xfrm>
          <a:prstGeom prst="rect">
            <a:avLst/>
          </a:prstGeom>
          <a:noFill/>
        </p:spPr>
        <p:txBody>
          <a:bodyPr wrap="square" lIns="0" rIns="0" tIns="0" bIns="0" anchor="t">
            <a:spAutoFit/>
          </a:bodyPr>
          <a:lstStyle/>
          <a:p>
            <a:pPr algn="l">
              <a:lnSpc>
                <a:spcPct val="115000"/>
              </a:lnSpc>
              <a:spcAft>
                <a:spcPts val="300"/>
              </a:spcAft>
              <a:defRPr sz="2700" b="1">
                <a:solidFill>
                  <a:srgbClr val="2A2E33"/>
                </a:solidFill>
                <a:latin typeface="Meiryo"/>
              </a:defRPr>
            </a:pPr>
            <a:r>
              <a:rPr sz="2700" b="1">
                <a:solidFill>
                  <a:srgbClr val="2A2E33"/>
                </a:solidFill>
                <a:latin typeface="Meiryo"/>
              </a:rPr>
              <a:t>LINEヤフー広告は、最も質の高い到達を実現していました</a:t>
            </a:r>
          </a:p>
        </p:txBody>
      </p:sp>
      <p:sp>
        <p:nvSpPr>
          <p:cNvPr id="5" name="Rectangle 4"/>
          <p:cNvSpPr/>
          <p:nvPr/>
        </p:nvSpPr>
        <p:spPr>
          <a:xfrm>
            <a:off x="566928" y="1399032"/>
            <a:ext cx="1600200" cy="45720"/>
          </a:xfrm>
          <a:prstGeom prst="rect">
            <a:avLst/>
          </a:prstGeom>
          <a:solidFill>
            <a:srgbClr val="334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6928" y="1417320"/>
            <a:ext cx="11064240" cy="9144"/>
          </a:xfrm>
          <a:prstGeom prst="rect">
            <a:avLst/>
          </a:prstGeom>
          <a:solidFill>
            <a:srgbClr val="E2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338560" y="6510528"/>
            <a:ext cx="640080" cy="274320"/>
          </a:xfrm>
          <a:prstGeom prst="rect">
            <a:avLst/>
          </a:prstGeom>
          <a:noFill/>
        </p:spPr>
        <p:txBody>
          <a:bodyPr wrap="square" lIns="0" rIns="0" tIns="0" bIns="0" anchor="t">
            <a:spAutoFit/>
          </a:bodyPr>
          <a:lstStyle/>
          <a:p>
            <a:pPr algn="r">
              <a:lnSpc>
                <a:spcPct val="135000"/>
              </a:lnSpc>
              <a:spcAft>
                <a:spcPts val="300"/>
              </a:spcAft>
              <a:defRPr sz="1050" b="0">
                <a:solidFill>
                  <a:srgbClr val="8A929C"/>
                </a:solidFill>
                <a:latin typeface="Meiryo"/>
              </a:defRPr>
            </a:pPr>
            <a:r>
              <a:rPr sz="1050" b="0">
                <a:solidFill>
                  <a:srgbClr val="8A929C"/>
                </a:solidFill>
                <a:latin typeface="Meiryo"/>
              </a:rPr>
              <a:t>20</a:t>
            </a:r>
          </a:p>
        </p:txBody>
      </p:sp>
      <p:sp>
        <p:nvSpPr>
          <p:cNvPr id="8" name="Rectangle 7"/>
          <p:cNvSpPr/>
          <p:nvPr/>
        </p:nvSpPr>
        <p:spPr>
          <a:xfrm>
            <a:off x="566928" y="1737360"/>
            <a:ext cx="6400800" cy="438912"/>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76656" y="1737360"/>
            <a:ext cx="1673738" cy="438912"/>
          </a:xfrm>
          <a:prstGeom prst="rect">
            <a:avLst/>
          </a:prstGeom>
          <a:noFill/>
        </p:spPr>
        <p:txBody>
          <a:bodyPr wrap="square" lIns="0" rIns="0" tIns="0" bIns="0" anchor="ctr">
            <a:spAutoFit/>
          </a:bodyPr>
          <a:lstStyle/>
          <a:p>
            <a:pPr algn="l">
              <a:lnSpc>
                <a:spcPct val="100000"/>
              </a:lnSpc>
              <a:spcAft>
                <a:spcPts val="0"/>
              </a:spcAft>
              <a:defRPr sz="1150" b="1">
                <a:solidFill>
                  <a:srgbClr val="FFFFFF"/>
                </a:solidFill>
                <a:latin typeface="Meiryo"/>
              </a:defRPr>
            </a:pPr>
            <a:r>
              <a:rPr sz="1150" b="1">
                <a:solidFill>
                  <a:srgbClr val="FFFFFF"/>
                </a:solidFill>
                <a:latin typeface="Meiryo"/>
              </a:rPr>
              <a:t>配信月</a:t>
            </a:r>
          </a:p>
        </p:txBody>
      </p:sp>
      <p:sp>
        <p:nvSpPr>
          <p:cNvPr id="10" name="TextBox 9"/>
          <p:cNvSpPr txBox="1"/>
          <p:nvPr/>
        </p:nvSpPr>
        <p:spPr>
          <a:xfrm>
            <a:off x="2569850" y="1737360"/>
            <a:ext cx="1583586" cy="438912"/>
          </a:xfrm>
          <a:prstGeom prst="rect">
            <a:avLst/>
          </a:prstGeom>
          <a:noFill/>
        </p:spPr>
        <p:txBody>
          <a:bodyPr wrap="square" lIns="0" rIns="0" tIns="0" bIns="0" anchor="ctr">
            <a:spAutoFit/>
          </a:bodyPr>
          <a:lstStyle/>
          <a:p>
            <a:pPr algn="r">
              <a:lnSpc>
                <a:spcPct val="100000"/>
              </a:lnSpc>
              <a:spcAft>
                <a:spcPts val="0"/>
              </a:spcAft>
              <a:defRPr sz="1150" b="1">
                <a:solidFill>
                  <a:srgbClr val="FFFFFF"/>
                </a:solidFill>
                <a:latin typeface="Meiryo"/>
              </a:defRPr>
            </a:pPr>
            <a:r>
              <a:rPr sz="1150" b="1">
                <a:solidFill>
                  <a:srgbClr val="FFFFFF"/>
                </a:solidFill>
                <a:latin typeface="Meiryo"/>
              </a:rPr>
              <a:t>表示回数</a:t>
            </a:r>
          </a:p>
        </p:txBody>
      </p:sp>
      <p:sp>
        <p:nvSpPr>
          <p:cNvPr id="11" name="TextBox 10"/>
          <p:cNvSpPr txBox="1"/>
          <p:nvPr/>
        </p:nvSpPr>
        <p:spPr>
          <a:xfrm>
            <a:off x="4372892" y="1737360"/>
            <a:ext cx="1132825" cy="438912"/>
          </a:xfrm>
          <a:prstGeom prst="rect">
            <a:avLst/>
          </a:prstGeom>
          <a:noFill/>
        </p:spPr>
        <p:txBody>
          <a:bodyPr wrap="square" lIns="0" rIns="0" tIns="0" bIns="0" anchor="ctr">
            <a:spAutoFit/>
          </a:bodyPr>
          <a:lstStyle/>
          <a:p>
            <a:pPr algn="r">
              <a:lnSpc>
                <a:spcPct val="100000"/>
              </a:lnSpc>
              <a:spcAft>
                <a:spcPts val="0"/>
              </a:spcAft>
              <a:defRPr sz="1150" b="1">
                <a:solidFill>
                  <a:srgbClr val="FFFFFF"/>
                </a:solidFill>
                <a:latin typeface="Meiryo"/>
              </a:defRPr>
            </a:pPr>
            <a:r>
              <a:rPr sz="1150" b="1">
                <a:solidFill>
                  <a:srgbClr val="FFFFFF"/>
                </a:solidFill>
                <a:latin typeface="Meiryo"/>
              </a:rPr>
              <a:t>クリック</a:t>
            </a:r>
          </a:p>
        </p:txBody>
      </p:sp>
      <p:sp>
        <p:nvSpPr>
          <p:cNvPr id="12" name="TextBox 11"/>
          <p:cNvSpPr txBox="1"/>
          <p:nvPr/>
        </p:nvSpPr>
        <p:spPr>
          <a:xfrm>
            <a:off x="5725174" y="1737360"/>
            <a:ext cx="1132825" cy="438912"/>
          </a:xfrm>
          <a:prstGeom prst="rect">
            <a:avLst/>
          </a:prstGeom>
          <a:noFill/>
        </p:spPr>
        <p:txBody>
          <a:bodyPr wrap="square" lIns="0" rIns="0" tIns="0" bIns="0" anchor="ctr">
            <a:spAutoFit/>
          </a:bodyPr>
          <a:lstStyle/>
          <a:p>
            <a:pPr algn="r">
              <a:lnSpc>
                <a:spcPct val="100000"/>
              </a:lnSpc>
              <a:spcAft>
                <a:spcPts val="0"/>
              </a:spcAft>
              <a:defRPr sz="1150" b="1">
                <a:solidFill>
                  <a:srgbClr val="FFFFFF"/>
                </a:solidFill>
                <a:latin typeface="Meiryo"/>
              </a:defRPr>
            </a:pPr>
            <a:r>
              <a:rPr sz="1150" b="1">
                <a:solidFill>
                  <a:srgbClr val="FFFFFF"/>
                </a:solidFill>
                <a:latin typeface="Meiryo"/>
              </a:rPr>
              <a:t>クリック率</a:t>
            </a:r>
          </a:p>
        </p:txBody>
      </p:sp>
      <p:sp>
        <p:nvSpPr>
          <p:cNvPr id="13" name="Rectangle 12"/>
          <p:cNvSpPr/>
          <p:nvPr/>
        </p:nvSpPr>
        <p:spPr>
          <a:xfrm>
            <a:off x="566928" y="2176272"/>
            <a:ext cx="6400800" cy="4389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76656" y="2176272"/>
            <a:ext cx="1673738" cy="438912"/>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2024年10月</a:t>
            </a:r>
          </a:p>
        </p:txBody>
      </p:sp>
      <p:sp>
        <p:nvSpPr>
          <p:cNvPr id="15" name="TextBox 14"/>
          <p:cNvSpPr txBox="1"/>
          <p:nvPr/>
        </p:nvSpPr>
        <p:spPr>
          <a:xfrm>
            <a:off x="2569850" y="2176272"/>
            <a:ext cx="1583586" cy="438912"/>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1,657,045</a:t>
            </a:r>
          </a:p>
        </p:txBody>
      </p:sp>
      <p:sp>
        <p:nvSpPr>
          <p:cNvPr id="16" name="TextBox 15"/>
          <p:cNvSpPr txBox="1"/>
          <p:nvPr/>
        </p:nvSpPr>
        <p:spPr>
          <a:xfrm>
            <a:off x="4372892" y="2176272"/>
            <a:ext cx="1132825" cy="438912"/>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2,944</a:t>
            </a:r>
          </a:p>
        </p:txBody>
      </p:sp>
      <p:sp>
        <p:nvSpPr>
          <p:cNvPr id="17" name="TextBox 16"/>
          <p:cNvSpPr txBox="1"/>
          <p:nvPr/>
        </p:nvSpPr>
        <p:spPr>
          <a:xfrm>
            <a:off x="5725174" y="2176272"/>
            <a:ext cx="1132825" cy="438912"/>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0.18%</a:t>
            </a:r>
          </a:p>
        </p:txBody>
      </p:sp>
      <p:sp>
        <p:nvSpPr>
          <p:cNvPr id="18" name="Rectangle 17"/>
          <p:cNvSpPr/>
          <p:nvPr/>
        </p:nvSpPr>
        <p:spPr>
          <a:xfrm>
            <a:off x="566928" y="2615184"/>
            <a:ext cx="6400800" cy="438912"/>
          </a:xfrm>
          <a:prstGeom prst="rect">
            <a:avLst/>
          </a:prstGeom>
          <a:solidFill>
            <a:srgbClr val="EE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6656" y="2615184"/>
            <a:ext cx="1673738" cy="438912"/>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2024年11月</a:t>
            </a:r>
          </a:p>
        </p:txBody>
      </p:sp>
      <p:sp>
        <p:nvSpPr>
          <p:cNvPr id="20" name="TextBox 19"/>
          <p:cNvSpPr txBox="1"/>
          <p:nvPr/>
        </p:nvSpPr>
        <p:spPr>
          <a:xfrm>
            <a:off x="2569850" y="2615184"/>
            <a:ext cx="1583586" cy="438912"/>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1,397,408</a:t>
            </a:r>
          </a:p>
        </p:txBody>
      </p:sp>
      <p:sp>
        <p:nvSpPr>
          <p:cNvPr id="21" name="TextBox 20"/>
          <p:cNvSpPr txBox="1"/>
          <p:nvPr/>
        </p:nvSpPr>
        <p:spPr>
          <a:xfrm>
            <a:off x="4372892" y="2615184"/>
            <a:ext cx="1132825" cy="438912"/>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2,544</a:t>
            </a:r>
          </a:p>
        </p:txBody>
      </p:sp>
      <p:sp>
        <p:nvSpPr>
          <p:cNvPr id="22" name="TextBox 21"/>
          <p:cNvSpPr txBox="1"/>
          <p:nvPr/>
        </p:nvSpPr>
        <p:spPr>
          <a:xfrm>
            <a:off x="5725174" y="2615184"/>
            <a:ext cx="1132825" cy="438912"/>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0.18%</a:t>
            </a:r>
          </a:p>
        </p:txBody>
      </p:sp>
      <p:sp>
        <p:nvSpPr>
          <p:cNvPr id="23" name="Rectangle 22"/>
          <p:cNvSpPr/>
          <p:nvPr/>
        </p:nvSpPr>
        <p:spPr>
          <a:xfrm>
            <a:off x="566928" y="3054096"/>
            <a:ext cx="6400800" cy="4389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76656" y="3054096"/>
            <a:ext cx="1673738" cy="438912"/>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2025年5月</a:t>
            </a:r>
          </a:p>
        </p:txBody>
      </p:sp>
      <p:sp>
        <p:nvSpPr>
          <p:cNvPr id="25" name="TextBox 24"/>
          <p:cNvSpPr txBox="1"/>
          <p:nvPr/>
        </p:nvSpPr>
        <p:spPr>
          <a:xfrm>
            <a:off x="2569850" y="3054096"/>
            <a:ext cx="1583586" cy="438912"/>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3,738,868</a:t>
            </a:r>
          </a:p>
        </p:txBody>
      </p:sp>
      <p:sp>
        <p:nvSpPr>
          <p:cNvPr id="26" name="TextBox 25"/>
          <p:cNvSpPr txBox="1"/>
          <p:nvPr/>
        </p:nvSpPr>
        <p:spPr>
          <a:xfrm>
            <a:off x="4372892" y="3054096"/>
            <a:ext cx="1132825" cy="438912"/>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2,772</a:t>
            </a:r>
          </a:p>
        </p:txBody>
      </p:sp>
      <p:sp>
        <p:nvSpPr>
          <p:cNvPr id="27" name="TextBox 26"/>
          <p:cNvSpPr txBox="1"/>
          <p:nvPr/>
        </p:nvSpPr>
        <p:spPr>
          <a:xfrm>
            <a:off x="5725174" y="3054096"/>
            <a:ext cx="1132825" cy="438912"/>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0.07%</a:t>
            </a:r>
          </a:p>
        </p:txBody>
      </p:sp>
      <p:sp>
        <p:nvSpPr>
          <p:cNvPr id="28" name="Rectangle 27"/>
          <p:cNvSpPr/>
          <p:nvPr/>
        </p:nvSpPr>
        <p:spPr>
          <a:xfrm>
            <a:off x="566928" y="3493008"/>
            <a:ext cx="6400800" cy="43891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76656" y="3493008"/>
            <a:ext cx="1673738" cy="438912"/>
          </a:xfrm>
          <a:prstGeom prst="rect">
            <a:avLst/>
          </a:prstGeom>
          <a:noFill/>
        </p:spPr>
        <p:txBody>
          <a:bodyPr wrap="square" lIns="0" rIns="0" tIns="0" bIns="0" anchor="ctr">
            <a:spAutoFit/>
          </a:bodyPr>
          <a:lstStyle/>
          <a:p>
            <a:pPr algn="l">
              <a:lnSpc>
                <a:spcPct val="100000"/>
              </a:lnSpc>
              <a:spcAft>
                <a:spcPts val="0"/>
              </a:spcAft>
              <a:defRPr sz="1150" b="1">
                <a:solidFill>
                  <a:srgbClr val="405D7B"/>
                </a:solidFill>
                <a:latin typeface="Meiryo"/>
              </a:defRPr>
            </a:pPr>
            <a:r>
              <a:rPr sz="1150" b="1">
                <a:solidFill>
                  <a:srgbClr val="405D7B"/>
                </a:solidFill>
                <a:latin typeface="Meiryo"/>
              </a:rPr>
              <a:t>合計</a:t>
            </a:r>
          </a:p>
        </p:txBody>
      </p:sp>
      <p:sp>
        <p:nvSpPr>
          <p:cNvPr id="30" name="TextBox 29"/>
          <p:cNvSpPr txBox="1"/>
          <p:nvPr/>
        </p:nvSpPr>
        <p:spPr>
          <a:xfrm>
            <a:off x="2569850" y="3493008"/>
            <a:ext cx="1583586" cy="438912"/>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6,793,326</a:t>
            </a:r>
          </a:p>
        </p:txBody>
      </p:sp>
      <p:sp>
        <p:nvSpPr>
          <p:cNvPr id="31" name="TextBox 30"/>
          <p:cNvSpPr txBox="1"/>
          <p:nvPr/>
        </p:nvSpPr>
        <p:spPr>
          <a:xfrm>
            <a:off x="4372892" y="3493008"/>
            <a:ext cx="1132825" cy="438912"/>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8,260</a:t>
            </a:r>
          </a:p>
        </p:txBody>
      </p:sp>
      <p:sp>
        <p:nvSpPr>
          <p:cNvPr id="32" name="TextBox 31"/>
          <p:cNvSpPr txBox="1"/>
          <p:nvPr/>
        </p:nvSpPr>
        <p:spPr>
          <a:xfrm>
            <a:off x="5725174" y="3493008"/>
            <a:ext cx="1132825" cy="438912"/>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0.12%</a:t>
            </a:r>
          </a:p>
        </p:txBody>
      </p:sp>
      <p:sp>
        <p:nvSpPr>
          <p:cNvPr id="33" name="Rectangle 32"/>
          <p:cNvSpPr/>
          <p:nvPr/>
        </p:nvSpPr>
        <p:spPr>
          <a:xfrm>
            <a:off x="7150608" y="1737360"/>
            <a:ext cx="4480559"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150608" y="1737360"/>
            <a:ext cx="4480559" cy="45720"/>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351776" y="1938528"/>
            <a:ext cx="4078223" cy="256032"/>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サイト到達率</a:t>
            </a:r>
          </a:p>
        </p:txBody>
      </p:sp>
      <p:sp>
        <p:nvSpPr>
          <p:cNvPr id="36" name="TextBox 35"/>
          <p:cNvSpPr txBox="1"/>
          <p:nvPr/>
        </p:nvSpPr>
        <p:spPr>
          <a:xfrm>
            <a:off x="7351776" y="2231136"/>
            <a:ext cx="4078223" cy="566928"/>
          </a:xfrm>
          <a:prstGeom prst="rect">
            <a:avLst/>
          </a:prstGeom>
          <a:noFill/>
        </p:spPr>
        <p:txBody>
          <a:bodyPr wrap="square" lIns="0" rIns="0" tIns="0" bIns="0" anchor="t">
            <a:spAutoFit/>
          </a:bodyPr>
          <a:lstStyle/>
          <a:p>
            <a:pPr algn="l">
              <a:lnSpc>
                <a:spcPct val="110000"/>
              </a:lnSpc>
              <a:spcAft>
                <a:spcPts val="300"/>
              </a:spcAft>
              <a:defRPr sz="3600" b="1">
                <a:solidFill>
                  <a:srgbClr val="405D7B"/>
                </a:solidFill>
                <a:latin typeface="Meiryo"/>
              </a:defRPr>
            </a:pPr>
            <a:r>
              <a:rPr sz="3600" b="1">
                <a:solidFill>
                  <a:srgbClr val="405D7B"/>
                </a:solidFill>
                <a:latin typeface="Meiryo"/>
              </a:rPr>
              <a:t>43.0%</a:t>
            </a:r>
          </a:p>
        </p:txBody>
      </p:sp>
      <p:sp>
        <p:nvSpPr>
          <p:cNvPr id="37" name="TextBox 36"/>
          <p:cNvSpPr txBox="1"/>
          <p:nvPr/>
        </p:nvSpPr>
        <p:spPr>
          <a:xfrm>
            <a:off x="7351776" y="2560320"/>
            <a:ext cx="4078223" cy="457200"/>
          </a:xfrm>
          <a:prstGeom prst="rect">
            <a:avLst/>
          </a:prstGeom>
          <a:noFill/>
        </p:spPr>
        <p:txBody>
          <a:bodyPr wrap="square" lIns="0" rIns="0" tIns="0" bIns="0" anchor="t">
            <a:spAutoFit/>
          </a:bodyPr>
          <a:lstStyle/>
          <a:p>
            <a:pPr algn="l">
              <a:lnSpc>
                <a:spcPct val="130000"/>
              </a:lnSpc>
              <a:spcAft>
                <a:spcPts val="300"/>
              </a:spcAft>
              <a:defRPr sz="950" b="0">
                <a:solidFill>
                  <a:srgbClr val="8A929C"/>
                </a:solidFill>
                <a:latin typeface="Meiryo"/>
              </a:defRPr>
            </a:pPr>
            <a:r>
              <a:rPr sz="950" b="0">
                <a:solidFill>
                  <a:srgbClr val="8A929C"/>
                </a:solidFill>
                <a:latin typeface="Meiryo"/>
              </a:rPr>
              <a:t>DV360（15.9%）の2.7倍</a:t>
            </a:r>
          </a:p>
        </p:txBody>
      </p:sp>
      <p:sp>
        <p:nvSpPr>
          <p:cNvPr id="38" name="Rectangle 37"/>
          <p:cNvSpPr/>
          <p:nvPr/>
        </p:nvSpPr>
        <p:spPr>
          <a:xfrm>
            <a:off x="7150608" y="3291839"/>
            <a:ext cx="4480559" cy="12070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150608" y="3291839"/>
            <a:ext cx="4480559" cy="45720"/>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351776" y="3493008"/>
            <a:ext cx="4078223" cy="256032"/>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累計表示回数</a:t>
            </a:r>
          </a:p>
        </p:txBody>
      </p:sp>
      <p:sp>
        <p:nvSpPr>
          <p:cNvPr id="41" name="TextBox 40"/>
          <p:cNvSpPr txBox="1"/>
          <p:nvPr/>
        </p:nvSpPr>
        <p:spPr>
          <a:xfrm>
            <a:off x="7351776" y="3785615"/>
            <a:ext cx="4078223" cy="566928"/>
          </a:xfrm>
          <a:prstGeom prst="rect">
            <a:avLst/>
          </a:prstGeom>
          <a:noFill/>
        </p:spPr>
        <p:txBody>
          <a:bodyPr wrap="square" lIns="0" rIns="0" tIns="0" bIns="0" anchor="t">
            <a:spAutoFit/>
          </a:bodyPr>
          <a:lstStyle/>
          <a:p>
            <a:pPr algn="l">
              <a:lnSpc>
                <a:spcPct val="110000"/>
              </a:lnSpc>
              <a:spcAft>
                <a:spcPts val="300"/>
              </a:spcAft>
              <a:defRPr sz="2800" b="1">
                <a:solidFill>
                  <a:srgbClr val="405D7B"/>
                </a:solidFill>
                <a:latin typeface="Meiryo"/>
              </a:defRPr>
            </a:pPr>
            <a:r>
              <a:rPr sz="2800" b="1">
                <a:solidFill>
                  <a:srgbClr val="405D7B"/>
                </a:solidFill>
                <a:latin typeface="Meiryo"/>
              </a:rPr>
              <a:t>680万回</a:t>
            </a:r>
          </a:p>
        </p:txBody>
      </p:sp>
      <p:sp>
        <p:nvSpPr>
          <p:cNvPr id="42" name="Rectangle 41"/>
          <p:cNvSpPr/>
          <p:nvPr/>
        </p:nvSpPr>
        <p:spPr>
          <a:xfrm>
            <a:off x="566928" y="4114800"/>
            <a:ext cx="6400800" cy="124358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566928" y="4114800"/>
            <a:ext cx="6400800" cy="45720"/>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77240" y="4315968"/>
            <a:ext cx="5980176" cy="274320"/>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再開について</a:t>
            </a:r>
          </a:p>
        </p:txBody>
      </p:sp>
      <p:sp>
        <p:nvSpPr>
          <p:cNvPr id="45" name="TextBox 44"/>
          <p:cNvSpPr txBox="1"/>
          <p:nvPr/>
        </p:nvSpPr>
        <p:spPr>
          <a:xfrm>
            <a:off x="777240" y="4553712"/>
            <a:ext cx="5980176" cy="365760"/>
          </a:xfrm>
          <a:prstGeom prst="rect">
            <a:avLst/>
          </a:prstGeom>
          <a:noFill/>
        </p:spPr>
        <p:txBody>
          <a:bodyPr wrap="square" lIns="0" rIns="0" tIns="0" bIns="0" anchor="t">
            <a:spAutoFit/>
          </a:bodyPr>
          <a:lstStyle/>
          <a:p>
            <a:pPr algn="l">
              <a:lnSpc>
                <a:spcPct val="135000"/>
              </a:lnSpc>
              <a:spcAft>
                <a:spcPts val="300"/>
              </a:spcAft>
              <a:defRPr sz="1600" b="1">
                <a:solidFill>
                  <a:srgbClr val="2A2E33"/>
                </a:solidFill>
                <a:latin typeface="Meiryo"/>
              </a:defRPr>
            </a:pPr>
            <a:r>
              <a:rPr sz="1600" b="1">
                <a:solidFill>
                  <a:srgbClr val="2A2E33"/>
                </a:solidFill>
                <a:latin typeface="Meiryo"/>
              </a:rPr>
              <a:t>開設手続きなしで8月1日から配信できます</a:t>
            </a:r>
          </a:p>
        </p:txBody>
      </p:sp>
      <p:sp>
        <p:nvSpPr>
          <p:cNvPr id="46" name="TextBox 45"/>
          <p:cNvSpPr txBox="1"/>
          <p:nvPr/>
        </p:nvSpPr>
        <p:spPr>
          <a:xfrm>
            <a:off x="804672" y="5047488"/>
            <a:ext cx="5925312" cy="109728"/>
          </a:xfrm>
          <a:prstGeom prst="rect">
            <a:avLst/>
          </a:prstGeom>
          <a:noFill/>
        </p:spPr>
        <p:txBody>
          <a:bodyPr wrap="square" lIns="0" rIns="0" tIns="0" bIns="0" anchor="t">
            <a:spAutoFit/>
          </a:bodyPr>
          <a:lstStyle/>
          <a:p>
            <a:pPr algn="l">
              <a:lnSpc>
                <a:spcPct val="150000"/>
              </a:lnSpc>
              <a:spcAft>
                <a:spcPts val="300"/>
              </a:spcAft>
              <a:defRPr sz="1300" b="0">
                <a:solidFill>
                  <a:srgbClr val="454B52"/>
                </a:solidFill>
                <a:latin typeface="Meiryo"/>
              </a:defRPr>
            </a:pPr>
            <a:r>
              <a:rPr sz="1300" b="0">
                <a:solidFill>
                  <a:srgbClr val="454B52"/>
                </a:solidFill>
                <a:latin typeface="Meiryo"/>
              </a:rPr>
              <a:t>貴クラブ専用アカウントが稼働可能な状態で残っています。</a:t>
            </a:r>
          </a:p>
        </p:txBody>
      </p:sp>
      <p:sp>
        <p:nvSpPr>
          <p:cNvPr id="47" name="TextBox 46"/>
          <p:cNvSpPr txBox="1"/>
          <p:nvPr/>
        </p:nvSpPr>
        <p:spPr>
          <a:xfrm>
            <a:off x="566928" y="5669280"/>
            <a:ext cx="11064240" cy="365760"/>
          </a:xfrm>
          <a:prstGeom prst="rect">
            <a:avLst/>
          </a:prstGeom>
          <a:noFill/>
        </p:spPr>
        <p:txBody>
          <a:bodyPr wrap="square" lIns="0" rIns="0" tIns="0" bIns="0" anchor="t">
            <a:spAutoFit/>
          </a:bodyPr>
          <a:lstStyle/>
          <a:p>
            <a:pPr algn="l">
              <a:lnSpc>
                <a:spcPct val="135000"/>
              </a:lnSpc>
              <a:spcAft>
                <a:spcPts val="300"/>
              </a:spcAft>
              <a:defRPr sz="950" b="0">
                <a:solidFill>
                  <a:srgbClr val="8A929C"/>
                </a:solidFill>
                <a:latin typeface="Meiryo"/>
              </a:defRPr>
            </a:pPr>
            <a:r>
              <a:rPr sz="950" b="0">
                <a:solidFill>
                  <a:srgbClr val="8A929C"/>
                </a:solidFill>
                <a:latin typeface="Meiryo"/>
              </a:rPr>
              <a:t>〈実測〉LINEヤフー広告API。〈両論併記〉この期間のコンバージョンは0件でした。ただし当時コンバージョン計測が</a:t>
            </a:r>
          </a:p>
          <a:p>
            <a:pPr algn="l">
              <a:lnSpc>
                <a:spcPct val="135000"/>
              </a:lnSpc>
              <a:spcAft>
                <a:spcPts val="300"/>
              </a:spcAft>
              <a:defRPr sz="950" b="0">
                <a:solidFill>
                  <a:srgbClr val="8A929C"/>
                </a:solidFill>
                <a:latin typeface="Meiryo"/>
              </a:defRPr>
            </a:pPr>
            <a:r>
              <a:rPr sz="950" b="0">
                <a:solidFill>
                  <a:srgbClr val="8A929C"/>
                </a:solidFill>
                <a:latin typeface="Meiryo"/>
              </a:rPr>
              <a:t>設定されていたかは未確認のため、成果の有無は断定できません。再開時は計測を設定したうえで配信します。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57200"/>
            <a:ext cx="82296" cy="237744"/>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31520" y="438912"/>
            <a:ext cx="10515600" cy="274320"/>
          </a:xfrm>
          <a:prstGeom prst="rect">
            <a:avLst/>
          </a:prstGeom>
          <a:noFill/>
        </p:spPr>
        <p:txBody>
          <a:bodyPr wrap="square" lIns="0" rIns="0" tIns="0" bIns="0" anchor="t">
            <a:spAutoFit/>
          </a:bodyPr>
          <a:lstStyle/>
          <a:p>
            <a:pPr algn="l">
              <a:lnSpc>
                <a:spcPct val="135000"/>
              </a:lnSpc>
              <a:spcAft>
                <a:spcPts val="300"/>
              </a:spcAft>
              <a:defRPr sz="1150" b="1">
                <a:solidFill>
                  <a:srgbClr val="405D7B"/>
                </a:solidFill>
                <a:latin typeface="Meiryo"/>
              </a:defRPr>
            </a:pPr>
            <a:r>
              <a:rPr sz="1150" b="1">
                <a:solidFill>
                  <a:srgbClr val="405D7B"/>
                </a:solidFill>
                <a:latin typeface="Meiryo"/>
              </a:rPr>
              <a:t>4 品質</a:t>
            </a:r>
          </a:p>
        </p:txBody>
      </p:sp>
      <p:sp>
        <p:nvSpPr>
          <p:cNvPr id="4" name="TextBox 3"/>
          <p:cNvSpPr txBox="1"/>
          <p:nvPr/>
        </p:nvSpPr>
        <p:spPr>
          <a:xfrm>
            <a:off x="530352" y="731520"/>
            <a:ext cx="10972800" cy="566928"/>
          </a:xfrm>
          <a:prstGeom prst="rect">
            <a:avLst/>
          </a:prstGeom>
          <a:noFill/>
        </p:spPr>
        <p:txBody>
          <a:bodyPr wrap="square" lIns="0" rIns="0" tIns="0" bIns="0" anchor="t">
            <a:spAutoFit/>
          </a:bodyPr>
          <a:lstStyle/>
          <a:p>
            <a:pPr algn="l">
              <a:lnSpc>
                <a:spcPct val="115000"/>
              </a:lnSpc>
              <a:spcAft>
                <a:spcPts val="300"/>
              </a:spcAft>
              <a:defRPr sz="2700" b="1">
                <a:solidFill>
                  <a:srgbClr val="2A2E33"/>
                </a:solidFill>
                <a:latin typeface="Meiryo"/>
              </a:defRPr>
            </a:pPr>
            <a:r>
              <a:rPr sz="2700" b="1">
                <a:solidFill>
                  <a:srgbClr val="2A2E33"/>
                </a:solidFill>
                <a:latin typeface="Meiryo"/>
              </a:rPr>
              <a:t>検索クリックの70%が、すでに貴クラブをご存知の方でした</a:t>
            </a:r>
          </a:p>
        </p:txBody>
      </p:sp>
      <p:sp>
        <p:nvSpPr>
          <p:cNvPr id="5" name="Rectangle 4"/>
          <p:cNvSpPr/>
          <p:nvPr/>
        </p:nvSpPr>
        <p:spPr>
          <a:xfrm>
            <a:off x="566928" y="1399032"/>
            <a:ext cx="1600200" cy="45720"/>
          </a:xfrm>
          <a:prstGeom prst="rect">
            <a:avLst/>
          </a:prstGeom>
          <a:solidFill>
            <a:srgbClr val="334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6928" y="1417320"/>
            <a:ext cx="11064240" cy="9144"/>
          </a:xfrm>
          <a:prstGeom prst="rect">
            <a:avLst/>
          </a:prstGeom>
          <a:solidFill>
            <a:srgbClr val="E2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338560" y="6510528"/>
            <a:ext cx="640080" cy="274320"/>
          </a:xfrm>
          <a:prstGeom prst="rect">
            <a:avLst/>
          </a:prstGeom>
          <a:noFill/>
        </p:spPr>
        <p:txBody>
          <a:bodyPr wrap="square" lIns="0" rIns="0" tIns="0" bIns="0" anchor="t">
            <a:spAutoFit/>
          </a:bodyPr>
          <a:lstStyle/>
          <a:p>
            <a:pPr algn="r">
              <a:lnSpc>
                <a:spcPct val="135000"/>
              </a:lnSpc>
              <a:spcAft>
                <a:spcPts val="300"/>
              </a:spcAft>
              <a:defRPr sz="1050" b="0">
                <a:solidFill>
                  <a:srgbClr val="8A929C"/>
                </a:solidFill>
                <a:latin typeface="Meiryo"/>
              </a:defRPr>
            </a:pPr>
            <a:r>
              <a:rPr sz="1050" b="0">
                <a:solidFill>
                  <a:srgbClr val="8A929C"/>
                </a:solidFill>
                <a:latin typeface="Meiryo"/>
              </a:rPr>
              <a:t>21</a:t>
            </a:r>
          </a:p>
        </p:txBody>
      </p:sp>
      <p:sp>
        <p:nvSpPr>
          <p:cNvPr id="8" name="Rectangle 7"/>
          <p:cNvSpPr/>
          <p:nvPr/>
        </p:nvSpPr>
        <p:spPr>
          <a:xfrm>
            <a:off x="566928" y="1737360"/>
            <a:ext cx="6309360" cy="420624"/>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76656" y="1737360"/>
            <a:ext cx="3438144" cy="420624"/>
          </a:xfrm>
          <a:prstGeom prst="rect">
            <a:avLst/>
          </a:prstGeom>
          <a:noFill/>
        </p:spPr>
        <p:txBody>
          <a:bodyPr wrap="square" lIns="0" rIns="0" tIns="0" bIns="0" anchor="ctr">
            <a:spAutoFit/>
          </a:bodyPr>
          <a:lstStyle/>
          <a:p>
            <a:pPr algn="l">
              <a:lnSpc>
                <a:spcPct val="100000"/>
              </a:lnSpc>
              <a:spcAft>
                <a:spcPts val="0"/>
              </a:spcAft>
              <a:defRPr sz="1150" b="1">
                <a:solidFill>
                  <a:srgbClr val="FFFFFF"/>
                </a:solidFill>
                <a:latin typeface="Meiryo"/>
              </a:defRPr>
            </a:pPr>
            <a:r>
              <a:rPr sz="1150" b="1">
                <a:solidFill>
                  <a:srgbClr val="FFFFFF"/>
                </a:solidFill>
                <a:latin typeface="Meiryo"/>
              </a:rPr>
              <a:t>検索テーマ（2026年7月・Google広告）</a:t>
            </a:r>
          </a:p>
        </p:txBody>
      </p:sp>
      <p:sp>
        <p:nvSpPr>
          <p:cNvPr id="10" name="TextBox 9"/>
          <p:cNvSpPr txBox="1"/>
          <p:nvPr/>
        </p:nvSpPr>
        <p:spPr>
          <a:xfrm>
            <a:off x="4334256" y="1737360"/>
            <a:ext cx="1152144" cy="420624"/>
          </a:xfrm>
          <a:prstGeom prst="rect">
            <a:avLst/>
          </a:prstGeom>
          <a:noFill/>
        </p:spPr>
        <p:txBody>
          <a:bodyPr wrap="square" lIns="0" rIns="0" tIns="0" bIns="0" anchor="ctr">
            <a:spAutoFit/>
          </a:bodyPr>
          <a:lstStyle/>
          <a:p>
            <a:pPr algn="r">
              <a:lnSpc>
                <a:spcPct val="100000"/>
              </a:lnSpc>
              <a:spcAft>
                <a:spcPts val="0"/>
              </a:spcAft>
              <a:defRPr sz="1150" b="1">
                <a:solidFill>
                  <a:srgbClr val="FFFFFF"/>
                </a:solidFill>
                <a:latin typeface="Meiryo"/>
              </a:defRPr>
            </a:pPr>
            <a:r>
              <a:rPr sz="1150" b="1">
                <a:solidFill>
                  <a:srgbClr val="FFFFFF"/>
                </a:solidFill>
                <a:latin typeface="Meiryo"/>
              </a:rPr>
              <a:t>クリック</a:t>
            </a:r>
          </a:p>
        </p:txBody>
      </p:sp>
      <p:sp>
        <p:nvSpPr>
          <p:cNvPr id="11" name="TextBox 10"/>
          <p:cNvSpPr txBox="1"/>
          <p:nvPr/>
        </p:nvSpPr>
        <p:spPr>
          <a:xfrm>
            <a:off x="5705856" y="1737360"/>
            <a:ext cx="1060704" cy="420624"/>
          </a:xfrm>
          <a:prstGeom prst="rect">
            <a:avLst/>
          </a:prstGeom>
          <a:noFill/>
        </p:spPr>
        <p:txBody>
          <a:bodyPr wrap="square" lIns="0" rIns="0" tIns="0" bIns="0" anchor="ctr">
            <a:spAutoFit/>
          </a:bodyPr>
          <a:lstStyle/>
          <a:p>
            <a:pPr algn="r">
              <a:lnSpc>
                <a:spcPct val="100000"/>
              </a:lnSpc>
              <a:spcAft>
                <a:spcPts val="0"/>
              </a:spcAft>
              <a:defRPr sz="1150" b="1">
                <a:solidFill>
                  <a:srgbClr val="FFFFFF"/>
                </a:solidFill>
                <a:latin typeface="Meiryo"/>
              </a:defRPr>
            </a:pPr>
            <a:r>
              <a:rPr sz="1150" b="1">
                <a:solidFill>
                  <a:srgbClr val="FFFFFF"/>
                </a:solidFill>
                <a:latin typeface="Meiryo"/>
              </a:rPr>
              <a:t>比率</a:t>
            </a:r>
          </a:p>
        </p:txBody>
      </p:sp>
      <p:sp>
        <p:nvSpPr>
          <p:cNvPr id="12" name="Rectangle 11"/>
          <p:cNvSpPr/>
          <p:nvPr/>
        </p:nvSpPr>
        <p:spPr>
          <a:xfrm>
            <a:off x="566928" y="2157984"/>
            <a:ext cx="6309360" cy="42062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6656" y="2157984"/>
            <a:ext cx="3438144" cy="420624"/>
          </a:xfrm>
          <a:prstGeom prst="rect">
            <a:avLst/>
          </a:prstGeom>
          <a:noFill/>
        </p:spPr>
        <p:txBody>
          <a:bodyPr wrap="square" lIns="0" rIns="0" tIns="0" bIns="0" anchor="ctr">
            <a:spAutoFit/>
          </a:bodyPr>
          <a:lstStyle/>
          <a:p>
            <a:pPr algn="l">
              <a:lnSpc>
                <a:spcPct val="100000"/>
              </a:lnSpc>
              <a:spcAft>
                <a:spcPts val="0"/>
              </a:spcAft>
              <a:defRPr sz="1150" b="1">
                <a:solidFill>
                  <a:srgbClr val="405D7B"/>
                </a:solidFill>
                <a:latin typeface="Meiryo"/>
              </a:defRPr>
            </a:pPr>
            <a:r>
              <a:rPr sz="1150" b="1">
                <a:solidFill>
                  <a:srgbClr val="405D7B"/>
                </a:solidFill>
                <a:latin typeface="Meiryo"/>
              </a:rPr>
              <a:t>望月 リソル ゴルフ クラブ</a:t>
            </a:r>
          </a:p>
        </p:txBody>
      </p:sp>
      <p:sp>
        <p:nvSpPr>
          <p:cNvPr id="14" name="TextBox 13"/>
          <p:cNvSpPr txBox="1"/>
          <p:nvPr/>
        </p:nvSpPr>
        <p:spPr>
          <a:xfrm>
            <a:off x="4334256" y="2157984"/>
            <a:ext cx="1152144" cy="420624"/>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35</a:t>
            </a:r>
          </a:p>
        </p:txBody>
      </p:sp>
      <p:sp>
        <p:nvSpPr>
          <p:cNvPr id="15" name="TextBox 14"/>
          <p:cNvSpPr txBox="1"/>
          <p:nvPr/>
        </p:nvSpPr>
        <p:spPr>
          <a:xfrm>
            <a:off x="5705856" y="2157984"/>
            <a:ext cx="1060704" cy="420624"/>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44%</a:t>
            </a:r>
          </a:p>
        </p:txBody>
      </p:sp>
      <p:sp>
        <p:nvSpPr>
          <p:cNvPr id="16" name="Rectangle 15"/>
          <p:cNvSpPr/>
          <p:nvPr/>
        </p:nvSpPr>
        <p:spPr>
          <a:xfrm>
            <a:off x="566928" y="2578608"/>
            <a:ext cx="6309360" cy="42062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6656" y="2578608"/>
            <a:ext cx="3438144" cy="420624"/>
          </a:xfrm>
          <a:prstGeom prst="rect">
            <a:avLst/>
          </a:prstGeom>
          <a:noFill/>
        </p:spPr>
        <p:txBody>
          <a:bodyPr wrap="square" lIns="0" rIns="0" tIns="0" bIns="0" anchor="ctr">
            <a:spAutoFit/>
          </a:bodyPr>
          <a:lstStyle/>
          <a:p>
            <a:pPr algn="l">
              <a:lnSpc>
                <a:spcPct val="100000"/>
              </a:lnSpc>
              <a:spcAft>
                <a:spcPts val="0"/>
              </a:spcAft>
              <a:defRPr sz="1150" b="1">
                <a:solidFill>
                  <a:srgbClr val="405D7B"/>
                </a:solidFill>
                <a:latin typeface="Meiryo"/>
              </a:defRPr>
            </a:pPr>
            <a:r>
              <a:rPr sz="1150" b="1">
                <a:solidFill>
                  <a:srgbClr val="405D7B"/>
                </a:solidFill>
                <a:latin typeface="Meiryo"/>
              </a:rPr>
              <a:t>リソル 望月</a:t>
            </a:r>
          </a:p>
        </p:txBody>
      </p:sp>
      <p:sp>
        <p:nvSpPr>
          <p:cNvPr id="18" name="TextBox 17"/>
          <p:cNvSpPr txBox="1"/>
          <p:nvPr/>
        </p:nvSpPr>
        <p:spPr>
          <a:xfrm>
            <a:off x="4334256" y="2578608"/>
            <a:ext cx="1152144" cy="420624"/>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11</a:t>
            </a:r>
          </a:p>
        </p:txBody>
      </p:sp>
      <p:sp>
        <p:nvSpPr>
          <p:cNvPr id="19" name="TextBox 18"/>
          <p:cNvSpPr txBox="1"/>
          <p:nvPr/>
        </p:nvSpPr>
        <p:spPr>
          <a:xfrm>
            <a:off x="5705856" y="2578608"/>
            <a:ext cx="1060704" cy="420624"/>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14%</a:t>
            </a:r>
          </a:p>
        </p:txBody>
      </p:sp>
      <p:sp>
        <p:nvSpPr>
          <p:cNvPr id="20" name="Rectangle 19"/>
          <p:cNvSpPr/>
          <p:nvPr/>
        </p:nvSpPr>
        <p:spPr>
          <a:xfrm>
            <a:off x="566928" y="2999232"/>
            <a:ext cx="6309360" cy="42062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76656" y="2999232"/>
            <a:ext cx="3438144" cy="420624"/>
          </a:xfrm>
          <a:prstGeom prst="rect">
            <a:avLst/>
          </a:prstGeom>
          <a:noFill/>
        </p:spPr>
        <p:txBody>
          <a:bodyPr wrap="square" lIns="0" rIns="0" tIns="0" bIns="0" anchor="ctr">
            <a:spAutoFit/>
          </a:bodyPr>
          <a:lstStyle/>
          <a:p>
            <a:pPr algn="l">
              <a:lnSpc>
                <a:spcPct val="100000"/>
              </a:lnSpc>
              <a:spcAft>
                <a:spcPts val="0"/>
              </a:spcAft>
              <a:defRPr sz="1150" b="1">
                <a:solidFill>
                  <a:srgbClr val="405D7B"/>
                </a:solidFill>
                <a:latin typeface="Meiryo"/>
              </a:defRPr>
            </a:pPr>
            <a:r>
              <a:rPr sz="1150" b="1">
                <a:solidFill>
                  <a:srgbClr val="405D7B"/>
                </a:solidFill>
                <a:latin typeface="Meiryo"/>
              </a:rPr>
              <a:t>望月 東急（旧名称）</a:t>
            </a:r>
          </a:p>
        </p:txBody>
      </p:sp>
      <p:sp>
        <p:nvSpPr>
          <p:cNvPr id="22" name="TextBox 21"/>
          <p:cNvSpPr txBox="1"/>
          <p:nvPr/>
        </p:nvSpPr>
        <p:spPr>
          <a:xfrm>
            <a:off x="4334256" y="2999232"/>
            <a:ext cx="1152144" cy="420624"/>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9</a:t>
            </a:r>
          </a:p>
        </p:txBody>
      </p:sp>
      <p:sp>
        <p:nvSpPr>
          <p:cNvPr id="23" name="TextBox 22"/>
          <p:cNvSpPr txBox="1"/>
          <p:nvPr/>
        </p:nvSpPr>
        <p:spPr>
          <a:xfrm>
            <a:off x="5705856" y="2999232"/>
            <a:ext cx="1060704" cy="420624"/>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11%</a:t>
            </a:r>
          </a:p>
        </p:txBody>
      </p:sp>
      <p:sp>
        <p:nvSpPr>
          <p:cNvPr id="24" name="Rectangle 23"/>
          <p:cNvSpPr/>
          <p:nvPr/>
        </p:nvSpPr>
        <p:spPr>
          <a:xfrm>
            <a:off x="566928" y="3419856"/>
            <a:ext cx="6309360" cy="420624"/>
          </a:xfrm>
          <a:prstGeom prst="rect">
            <a:avLst/>
          </a:prstGeom>
          <a:solidFill>
            <a:srgbClr val="EE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76656" y="3419856"/>
            <a:ext cx="3438144" cy="420624"/>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その他</a:t>
            </a:r>
          </a:p>
        </p:txBody>
      </p:sp>
      <p:sp>
        <p:nvSpPr>
          <p:cNvPr id="26" name="TextBox 25"/>
          <p:cNvSpPr txBox="1"/>
          <p:nvPr/>
        </p:nvSpPr>
        <p:spPr>
          <a:xfrm>
            <a:off x="4334256" y="3419856"/>
            <a:ext cx="1152144" cy="420624"/>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24</a:t>
            </a:r>
          </a:p>
        </p:txBody>
      </p:sp>
      <p:sp>
        <p:nvSpPr>
          <p:cNvPr id="27" name="TextBox 26"/>
          <p:cNvSpPr txBox="1"/>
          <p:nvPr/>
        </p:nvSpPr>
        <p:spPr>
          <a:xfrm>
            <a:off x="5705856" y="3419856"/>
            <a:ext cx="1060704" cy="420624"/>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30%</a:t>
            </a:r>
          </a:p>
        </p:txBody>
      </p:sp>
      <p:sp>
        <p:nvSpPr>
          <p:cNvPr id="28" name="Rectangle 27"/>
          <p:cNvSpPr/>
          <p:nvPr/>
        </p:nvSpPr>
        <p:spPr>
          <a:xfrm>
            <a:off x="7059168" y="1737360"/>
            <a:ext cx="2194559" cy="215798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059168" y="1737360"/>
            <a:ext cx="2194559" cy="45720"/>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260336" y="1938528"/>
            <a:ext cx="1792223" cy="256032"/>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クラブ名での検索</a:t>
            </a:r>
          </a:p>
        </p:txBody>
      </p:sp>
      <p:sp>
        <p:nvSpPr>
          <p:cNvPr id="31" name="TextBox 30"/>
          <p:cNvSpPr txBox="1"/>
          <p:nvPr/>
        </p:nvSpPr>
        <p:spPr>
          <a:xfrm>
            <a:off x="7260336" y="2231136"/>
            <a:ext cx="1792223" cy="566928"/>
          </a:xfrm>
          <a:prstGeom prst="rect">
            <a:avLst/>
          </a:prstGeom>
          <a:noFill/>
        </p:spPr>
        <p:txBody>
          <a:bodyPr wrap="square" lIns="0" rIns="0" tIns="0" bIns="0" anchor="t">
            <a:spAutoFit/>
          </a:bodyPr>
          <a:lstStyle/>
          <a:p>
            <a:pPr algn="l">
              <a:lnSpc>
                <a:spcPct val="110000"/>
              </a:lnSpc>
              <a:spcAft>
                <a:spcPts val="300"/>
              </a:spcAft>
              <a:defRPr sz="3800" b="1">
                <a:solidFill>
                  <a:srgbClr val="A96933"/>
                </a:solidFill>
                <a:latin typeface="Meiryo"/>
              </a:defRPr>
            </a:pPr>
            <a:r>
              <a:rPr sz="3800" b="1">
                <a:solidFill>
                  <a:srgbClr val="A96933"/>
                </a:solidFill>
                <a:latin typeface="Meiryo"/>
              </a:rPr>
              <a:t>70%</a:t>
            </a:r>
          </a:p>
        </p:txBody>
      </p:sp>
      <p:sp>
        <p:nvSpPr>
          <p:cNvPr id="32" name="TextBox 31"/>
          <p:cNvSpPr txBox="1"/>
          <p:nvPr/>
        </p:nvSpPr>
        <p:spPr>
          <a:xfrm>
            <a:off x="7260336" y="3346703"/>
            <a:ext cx="1792223" cy="457200"/>
          </a:xfrm>
          <a:prstGeom prst="rect">
            <a:avLst/>
          </a:prstGeom>
          <a:noFill/>
        </p:spPr>
        <p:txBody>
          <a:bodyPr wrap="square" lIns="0" rIns="0" tIns="0" bIns="0" anchor="t">
            <a:spAutoFit/>
          </a:bodyPr>
          <a:lstStyle/>
          <a:p>
            <a:pPr algn="l">
              <a:lnSpc>
                <a:spcPct val="130000"/>
              </a:lnSpc>
              <a:spcAft>
                <a:spcPts val="300"/>
              </a:spcAft>
              <a:defRPr sz="950" b="0">
                <a:solidFill>
                  <a:srgbClr val="8A929C"/>
                </a:solidFill>
                <a:latin typeface="Meiryo"/>
              </a:defRPr>
            </a:pPr>
            <a:r>
              <a:rPr sz="950" b="0">
                <a:solidFill>
                  <a:srgbClr val="8A929C"/>
                </a:solidFill>
                <a:latin typeface="Meiryo"/>
              </a:rPr>
              <a:t>検索クリックに占める比率</a:t>
            </a:r>
          </a:p>
        </p:txBody>
      </p:sp>
      <p:sp>
        <p:nvSpPr>
          <p:cNvPr id="33" name="Rectangle 32"/>
          <p:cNvSpPr/>
          <p:nvPr/>
        </p:nvSpPr>
        <p:spPr>
          <a:xfrm>
            <a:off x="9436608" y="1737360"/>
            <a:ext cx="2194559" cy="215798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9436608" y="1737360"/>
            <a:ext cx="2194559" cy="45720"/>
          </a:xfrm>
          <a:prstGeom prst="rect">
            <a:avLst/>
          </a:prstGeom>
          <a:solidFill>
            <a:srgbClr val="6C75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9637776" y="1938528"/>
            <a:ext cx="1792223" cy="256032"/>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「ゴルフ 会員権」へのクリック（第1期）</a:t>
            </a:r>
          </a:p>
        </p:txBody>
      </p:sp>
      <p:sp>
        <p:nvSpPr>
          <p:cNvPr id="36" name="TextBox 35"/>
          <p:cNvSpPr txBox="1"/>
          <p:nvPr/>
        </p:nvSpPr>
        <p:spPr>
          <a:xfrm>
            <a:off x="9637776" y="2231136"/>
            <a:ext cx="1792223" cy="566928"/>
          </a:xfrm>
          <a:prstGeom prst="rect">
            <a:avLst/>
          </a:prstGeom>
          <a:noFill/>
        </p:spPr>
        <p:txBody>
          <a:bodyPr wrap="square" lIns="0" rIns="0" tIns="0" bIns="0" anchor="t">
            <a:spAutoFit/>
          </a:bodyPr>
          <a:lstStyle/>
          <a:p>
            <a:pPr algn="l">
              <a:lnSpc>
                <a:spcPct val="110000"/>
              </a:lnSpc>
              <a:spcAft>
                <a:spcPts val="300"/>
              </a:spcAft>
              <a:defRPr sz="3800" b="1">
                <a:solidFill>
                  <a:srgbClr val="6C7582"/>
                </a:solidFill>
                <a:latin typeface="Meiryo"/>
              </a:defRPr>
            </a:pPr>
            <a:r>
              <a:rPr sz="3800" b="1">
                <a:solidFill>
                  <a:srgbClr val="6C7582"/>
                </a:solidFill>
                <a:latin typeface="Meiryo"/>
              </a:rPr>
              <a:t>42</a:t>
            </a:r>
          </a:p>
        </p:txBody>
      </p:sp>
      <p:sp>
        <p:nvSpPr>
          <p:cNvPr id="37" name="TextBox 36"/>
          <p:cNvSpPr txBox="1"/>
          <p:nvPr/>
        </p:nvSpPr>
        <p:spPr>
          <a:xfrm>
            <a:off x="9637776" y="3346703"/>
            <a:ext cx="1792223" cy="457200"/>
          </a:xfrm>
          <a:prstGeom prst="rect">
            <a:avLst/>
          </a:prstGeom>
          <a:noFill/>
        </p:spPr>
        <p:txBody>
          <a:bodyPr wrap="square" lIns="0" rIns="0" tIns="0" bIns="0" anchor="t">
            <a:spAutoFit/>
          </a:bodyPr>
          <a:lstStyle/>
          <a:p>
            <a:pPr algn="l">
              <a:lnSpc>
                <a:spcPct val="130000"/>
              </a:lnSpc>
              <a:spcAft>
                <a:spcPts val="300"/>
              </a:spcAft>
              <a:defRPr sz="950" b="0">
                <a:solidFill>
                  <a:srgbClr val="8A929C"/>
                </a:solidFill>
                <a:latin typeface="Meiryo"/>
              </a:defRPr>
            </a:pPr>
            <a:r>
              <a:rPr sz="950" b="0">
                <a:solidFill>
                  <a:srgbClr val="8A929C"/>
                </a:solidFill>
                <a:latin typeface="Meiryo"/>
              </a:rPr>
              <a:t>本命の検索にはほとんど出せていません</a:t>
            </a:r>
          </a:p>
        </p:txBody>
      </p:sp>
      <p:sp>
        <p:nvSpPr>
          <p:cNvPr id="38" name="Rectangle 37"/>
          <p:cNvSpPr/>
          <p:nvPr/>
        </p:nvSpPr>
        <p:spPr>
          <a:xfrm>
            <a:off x="566928" y="4078224"/>
            <a:ext cx="11064240" cy="12801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4078224"/>
            <a:ext cx="11064240" cy="45720"/>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77240" y="4279392"/>
            <a:ext cx="10643615" cy="274320"/>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所見</a:t>
            </a:r>
          </a:p>
        </p:txBody>
      </p:sp>
      <p:sp>
        <p:nvSpPr>
          <p:cNvPr id="41" name="TextBox 40"/>
          <p:cNvSpPr txBox="1"/>
          <p:nvPr/>
        </p:nvSpPr>
        <p:spPr>
          <a:xfrm>
            <a:off x="777240" y="4517136"/>
            <a:ext cx="10643615" cy="365760"/>
          </a:xfrm>
          <a:prstGeom prst="rect">
            <a:avLst/>
          </a:prstGeom>
          <a:noFill/>
        </p:spPr>
        <p:txBody>
          <a:bodyPr wrap="square" lIns="0" rIns="0" tIns="0" bIns="0" anchor="t">
            <a:spAutoFit/>
          </a:bodyPr>
          <a:lstStyle/>
          <a:p>
            <a:pPr algn="l">
              <a:lnSpc>
                <a:spcPct val="135000"/>
              </a:lnSpc>
              <a:spcAft>
                <a:spcPts val="300"/>
              </a:spcAft>
              <a:defRPr sz="1600" b="1">
                <a:solidFill>
                  <a:srgbClr val="2A2E33"/>
                </a:solidFill>
                <a:latin typeface="Meiryo"/>
              </a:defRPr>
            </a:pPr>
            <a:r>
              <a:rPr sz="1600" b="1">
                <a:solidFill>
                  <a:srgbClr val="2A2E33"/>
                </a:solidFill>
                <a:latin typeface="Meiryo"/>
              </a:rPr>
              <a:t>新規開拓に振り向ける余地があります</a:t>
            </a:r>
          </a:p>
        </p:txBody>
      </p:sp>
      <p:sp>
        <p:nvSpPr>
          <p:cNvPr id="42" name="TextBox 41"/>
          <p:cNvSpPr txBox="1"/>
          <p:nvPr/>
        </p:nvSpPr>
        <p:spPr>
          <a:xfrm>
            <a:off x="804672" y="5010912"/>
            <a:ext cx="10588752" cy="146303"/>
          </a:xfrm>
          <a:prstGeom prst="rect">
            <a:avLst/>
          </a:prstGeom>
          <a:noFill/>
        </p:spPr>
        <p:txBody>
          <a:bodyPr wrap="square" lIns="0" rIns="0" tIns="0" bIns="0" anchor="t">
            <a:spAutoFit/>
          </a:bodyPr>
          <a:lstStyle/>
          <a:p>
            <a:pPr algn="l">
              <a:lnSpc>
                <a:spcPct val="150000"/>
              </a:lnSpc>
              <a:spcAft>
                <a:spcPts val="300"/>
              </a:spcAft>
              <a:defRPr sz="1300" b="0">
                <a:solidFill>
                  <a:srgbClr val="454B52"/>
                </a:solidFill>
                <a:latin typeface="Meiryo"/>
              </a:defRPr>
            </a:pPr>
            <a:r>
              <a:rPr sz="1300" b="0">
                <a:solidFill>
                  <a:srgbClr val="454B52"/>
                </a:solidFill>
                <a:latin typeface="Meiryo"/>
              </a:rPr>
              <a:t>第1期の検索広告では近隣ゴルフ場の名称にも出稿していましたが、そこからのお問い合わせは0件でした。</a:t>
            </a:r>
          </a:p>
          <a:p>
            <a:pPr algn="l">
              <a:lnSpc>
                <a:spcPct val="150000"/>
              </a:lnSpc>
              <a:spcAft>
                <a:spcPts val="300"/>
              </a:spcAft>
              <a:defRPr sz="1300" b="0">
                <a:solidFill>
                  <a:srgbClr val="454B52"/>
                </a:solidFill>
                <a:latin typeface="Meiryo"/>
              </a:defRPr>
            </a:pPr>
            <a:r>
              <a:rPr sz="1300" b="0">
                <a:solidFill>
                  <a:srgbClr val="454B52"/>
                </a:solidFill>
                <a:latin typeface="Meiryo"/>
              </a:rPr>
              <a:t>クラブ名での検索は、広告を出さなくても自然検索で到達できます。</a:t>
            </a:r>
          </a:p>
        </p:txBody>
      </p:sp>
      <p:sp>
        <p:nvSpPr>
          <p:cNvPr id="43" name="TextBox 42"/>
          <p:cNvSpPr txBox="1"/>
          <p:nvPr/>
        </p:nvSpPr>
        <p:spPr>
          <a:xfrm>
            <a:off x="566928" y="5632704"/>
            <a:ext cx="11064240" cy="365760"/>
          </a:xfrm>
          <a:prstGeom prst="rect">
            <a:avLst/>
          </a:prstGeom>
          <a:noFill/>
        </p:spPr>
        <p:txBody>
          <a:bodyPr wrap="square" lIns="0" rIns="0" tIns="0" bIns="0" anchor="t">
            <a:spAutoFit/>
          </a:bodyPr>
          <a:lstStyle/>
          <a:p>
            <a:pPr algn="l">
              <a:lnSpc>
                <a:spcPct val="135000"/>
              </a:lnSpc>
              <a:spcAft>
                <a:spcPts val="300"/>
              </a:spcAft>
              <a:defRPr sz="950" b="0">
                <a:solidFill>
                  <a:srgbClr val="8A929C"/>
                </a:solidFill>
                <a:latin typeface="Meiryo"/>
              </a:defRPr>
            </a:pPr>
            <a:r>
              <a:rPr sz="950" b="0">
                <a:solidFill>
                  <a:srgbClr val="8A929C"/>
                </a:solidFill>
                <a:latin typeface="Meiryo"/>
              </a:rPr>
              <a:t>〈実測〉Google Ads API の検索テーマレポート。第1期は検索語句ベースで費用の55.8%がクラブ名検索でした。</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57200"/>
            <a:ext cx="82296" cy="237744"/>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31520" y="438912"/>
            <a:ext cx="10515600" cy="274320"/>
          </a:xfrm>
          <a:prstGeom prst="rect">
            <a:avLst/>
          </a:prstGeom>
          <a:noFill/>
        </p:spPr>
        <p:txBody>
          <a:bodyPr wrap="square" lIns="0" rIns="0" tIns="0" bIns="0" anchor="t">
            <a:spAutoFit/>
          </a:bodyPr>
          <a:lstStyle/>
          <a:p>
            <a:pPr algn="l">
              <a:lnSpc>
                <a:spcPct val="135000"/>
              </a:lnSpc>
              <a:spcAft>
                <a:spcPts val="300"/>
              </a:spcAft>
              <a:defRPr sz="1150" b="1">
                <a:solidFill>
                  <a:srgbClr val="405D7B"/>
                </a:solidFill>
                <a:latin typeface="Meiryo"/>
              </a:defRPr>
            </a:pPr>
            <a:r>
              <a:rPr sz="1150" b="1">
                <a:solidFill>
                  <a:srgbClr val="405D7B"/>
                </a:solidFill>
                <a:latin typeface="Meiryo"/>
              </a:rPr>
              <a:t>4 品質</a:t>
            </a:r>
          </a:p>
        </p:txBody>
      </p:sp>
      <p:sp>
        <p:nvSpPr>
          <p:cNvPr id="4" name="TextBox 3"/>
          <p:cNvSpPr txBox="1"/>
          <p:nvPr/>
        </p:nvSpPr>
        <p:spPr>
          <a:xfrm>
            <a:off x="530352" y="731520"/>
            <a:ext cx="10972800" cy="566928"/>
          </a:xfrm>
          <a:prstGeom prst="rect">
            <a:avLst/>
          </a:prstGeom>
          <a:noFill/>
        </p:spPr>
        <p:txBody>
          <a:bodyPr wrap="square" lIns="0" rIns="0" tIns="0" bIns="0" anchor="t">
            <a:spAutoFit/>
          </a:bodyPr>
          <a:lstStyle/>
          <a:p>
            <a:pPr algn="l">
              <a:lnSpc>
                <a:spcPct val="115000"/>
              </a:lnSpc>
              <a:spcAft>
                <a:spcPts val="300"/>
              </a:spcAft>
              <a:defRPr sz="2700" b="1">
                <a:solidFill>
                  <a:srgbClr val="2A2E33"/>
                </a:solidFill>
                <a:latin typeface="Meiryo"/>
              </a:defRPr>
            </a:pPr>
            <a:r>
              <a:rPr sz="2700" b="1">
                <a:solidFill>
                  <a:srgbClr val="2A2E33"/>
                </a:solidFill>
                <a:latin typeface="Meiryo"/>
              </a:rPr>
              <a:t>サイト内行動の分析</a:t>
            </a:r>
          </a:p>
        </p:txBody>
      </p:sp>
      <p:sp>
        <p:nvSpPr>
          <p:cNvPr id="5" name="Rectangle 4"/>
          <p:cNvSpPr/>
          <p:nvPr/>
        </p:nvSpPr>
        <p:spPr>
          <a:xfrm>
            <a:off x="566928" y="1399032"/>
            <a:ext cx="1600200" cy="45720"/>
          </a:xfrm>
          <a:prstGeom prst="rect">
            <a:avLst/>
          </a:prstGeom>
          <a:solidFill>
            <a:srgbClr val="334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6928" y="1417320"/>
            <a:ext cx="11064240" cy="9144"/>
          </a:xfrm>
          <a:prstGeom prst="rect">
            <a:avLst/>
          </a:prstGeom>
          <a:solidFill>
            <a:srgbClr val="E2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338560" y="6510528"/>
            <a:ext cx="640080" cy="274320"/>
          </a:xfrm>
          <a:prstGeom prst="rect">
            <a:avLst/>
          </a:prstGeom>
          <a:noFill/>
        </p:spPr>
        <p:txBody>
          <a:bodyPr wrap="square" lIns="0" rIns="0" tIns="0" bIns="0" anchor="t">
            <a:spAutoFit/>
          </a:bodyPr>
          <a:lstStyle/>
          <a:p>
            <a:pPr algn="r">
              <a:lnSpc>
                <a:spcPct val="135000"/>
              </a:lnSpc>
              <a:spcAft>
                <a:spcPts val="300"/>
              </a:spcAft>
              <a:defRPr sz="1050" b="0">
                <a:solidFill>
                  <a:srgbClr val="8A929C"/>
                </a:solidFill>
                <a:latin typeface="Meiryo"/>
              </a:defRPr>
            </a:pPr>
            <a:r>
              <a:rPr sz="1050" b="0">
                <a:solidFill>
                  <a:srgbClr val="8A929C"/>
                </a:solidFill>
                <a:latin typeface="Meiryo"/>
              </a:rPr>
              <a:t>22</a:t>
            </a:r>
          </a:p>
        </p:txBody>
      </p:sp>
      <p:sp>
        <p:nvSpPr>
          <p:cNvPr id="8" name="TextBox 7"/>
          <p:cNvSpPr txBox="1"/>
          <p:nvPr/>
        </p:nvSpPr>
        <p:spPr>
          <a:xfrm>
            <a:off x="566928" y="1737360"/>
            <a:ext cx="11064240" cy="274320"/>
          </a:xfrm>
          <a:prstGeom prst="rect">
            <a:avLst/>
          </a:prstGeom>
          <a:noFill/>
        </p:spPr>
        <p:txBody>
          <a:bodyPr wrap="square" lIns="0" rIns="0" tIns="0" bIns="0" anchor="t">
            <a:spAutoFit/>
          </a:bodyPr>
          <a:lstStyle/>
          <a:p>
            <a:pPr algn="l">
              <a:lnSpc>
                <a:spcPct val="135000"/>
              </a:lnSpc>
              <a:spcAft>
                <a:spcPts val="300"/>
              </a:spcAft>
              <a:defRPr sz="1400" b="1">
                <a:solidFill>
                  <a:srgbClr val="405D7B"/>
                </a:solidFill>
                <a:latin typeface="Meiryo"/>
              </a:defRPr>
            </a:pPr>
            <a:r>
              <a:rPr sz="1400" b="1">
                <a:solidFill>
                  <a:srgbClr val="405D7B"/>
                </a:solidFill>
                <a:latin typeface="Meiryo"/>
              </a:rPr>
              <a:t>① じっくり読まれているのはパソコン。しかし流入の96%はスマートフォンです</a:t>
            </a:r>
          </a:p>
        </p:txBody>
      </p:sp>
      <p:sp>
        <p:nvSpPr>
          <p:cNvPr id="9" name="Rectangle 8"/>
          <p:cNvSpPr/>
          <p:nvPr/>
        </p:nvSpPr>
        <p:spPr>
          <a:xfrm>
            <a:off x="566928" y="2066543"/>
            <a:ext cx="6583680" cy="292608"/>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6656" y="2066543"/>
            <a:ext cx="1536192" cy="292608"/>
          </a:xfrm>
          <a:prstGeom prst="rect">
            <a:avLst/>
          </a:prstGeom>
          <a:noFill/>
        </p:spPr>
        <p:txBody>
          <a:bodyPr wrap="square" lIns="0" rIns="0" tIns="0" bIns="0" anchor="ctr">
            <a:spAutoFit/>
          </a:bodyPr>
          <a:lstStyle/>
          <a:p>
            <a:pPr algn="l">
              <a:lnSpc>
                <a:spcPct val="100000"/>
              </a:lnSpc>
              <a:spcAft>
                <a:spcPts val="0"/>
              </a:spcAft>
              <a:defRPr sz="1050" b="1">
                <a:solidFill>
                  <a:srgbClr val="FFFFFF"/>
                </a:solidFill>
                <a:latin typeface="Meiryo"/>
              </a:defRPr>
            </a:pPr>
            <a:r>
              <a:rPr sz="1050" b="1">
                <a:solidFill>
                  <a:srgbClr val="FFFFFF"/>
                </a:solidFill>
                <a:latin typeface="Meiryo"/>
              </a:rPr>
              <a:t>デバイス</a:t>
            </a:r>
          </a:p>
        </p:txBody>
      </p:sp>
      <p:sp>
        <p:nvSpPr>
          <p:cNvPr id="11" name="TextBox 10"/>
          <p:cNvSpPr txBox="1"/>
          <p:nvPr/>
        </p:nvSpPr>
        <p:spPr>
          <a:xfrm>
            <a:off x="2432304" y="2066543"/>
            <a:ext cx="1097280" cy="292608"/>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セッション</a:t>
            </a:r>
          </a:p>
        </p:txBody>
      </p:sp>
      <p:sp>
        <p:nvSpPr>
          <p:cNvPr id="12" name="TextBox 11"/>
          <p:cNvSpPr txBox="1"/>
          <p:nvPr/>
        </p:nvSpPr>
        <p:spPr>
          <a:xfrm>
            <a:off x="3749040" y="2066543"/>
            <a:ext cx="833932" cy="292608"/>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構成比</a:t>
            </a:r>
          </a:p>
        </p:txBody>
      </p:sp>
      <p:sp>
        <p:nvSpPr>
          <p:cNvPr id="13" name="TextBox 12"/>
          <p:cNvSpPr txBox="1"/>
          <p:nvPr/>
        </p:nvSpPr>
        <p:spPr>
          <a:xfrm>
            <a:off x="4802428" y="2066543"/>
            <a:ext cx="1097280" cy="292608"/>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エンゲージ率</a:t>
            </a:r>
          </a:p>
        </p:txBody>
      </p:sp>
      <p:sp>
        <p:nvSpPr>
          <p:cNvPr id="14" name="TextBox 13"/>
          <p:cNvSpPr txBox="1"/>
          <p:nvPr/>
        </p:nvSpPr>
        <p:spPr>
          <a:xfrm>
            <a:off x="6119164" y="2066543"/>
            <a:ext cx="921715" cy="292608"/>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平均滞在</a:t>
            </a:r>
          </a:p>
        </p:txBody>
      </p:sp>
      <p:sp>
        <p:nvSpPr>
          <p:cNvPr id="15" name="Rectangle 14"/>
          <p:cNvSpPr/>
          <p:nvPr/>
        </p:nvSpPr>
        <p:spPr>
          <a:xfrm>
            <a:off x="566928" y="2359151"/>
            <a:ext cx="658368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6656" y="2359151"/>
            <a:ext cx="1536192" cy="292608"/>
          </a:xfrm>
          <a:prstGeom prst="rect">
            <a:avLst/>
          </a:prstGeom>
          <a:noFill/>
        </p:spPr>
        <p:txBody>
          <a:bodyPr wrap="square" lIns="0" rIns="0" tIns="0" bIns="0" anchor="ctr">
            <a:spAutoFit/>
          </a:bodyPr>
          <a:lstStyle/>
          <a:p>
            <a:pPr algn="l">
              <a:lnSpc>
                <a:spcPct val="100000"/>
              </a:lnSpc>
              <a:spcAft>
                <a:spcPts val="0"/>
              </a:spcAft>
              <a:defRPr sz="1050" b="0">
                <a:solidFill>
                  <a:srgbClr val="454B52"/>
                </a:solidFill>
                <a:latin typeface="Meiryo"/>
              </a:defRPr>
            </a:pPr>
            <a:r>
              <a:rPr sz="1050" b="0">
                <a:solidFill>
                  <a:srgbClr val="454B52"/>
                </a:solidFill>
                <a:latin typeface="Meiryo"/>
              </a:rPr>
              <a:t>スマートフォン</a:t>
            </a:r>
          </a:p>
        </p:txBody>
      </p:sp>
      <p:sp>
        <p:nvSpPr>
          <p:cNvPr id="17" name="TextBox 16"/>
          <p:cNvSpPr txBox="1"/>
          <p:nvPr/>
        </p:nvSpPr>
        <p:spPr>
          <a:xfrm>
            <a:off x="2432304" y="2359151"/>
            <a:ext cx="1097280" cy="292608"/>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30,377</a:t>
            </a:r>
          </a:p>
        </p:txBody>
      </p:sp>
      <p:sp>
        <p:nvSpPr>
          <p:cNvPr id="18" name="TextBox 17"/>
          <p:cNvSpPr txBox="1"/>
          <p:nvPr/>
        </p:nvSpPr>
        <p:spPr>
          <a:xfrm>
            <a:off x="3749040" y="2359151"/>
            <a:ext cx="833932" cy="292608"/>
          </a:xfrm>
          <a:prstGeom prst="rect">
            <a:avLst/>
          </a:prstGeom>
          <a:noFill/>
        </p:spPr>
        <p:txBody>
          <a:bodyPr wrap="square" lIns="0" rIns="0" tIns="0" bIns="0" anchor="ctr">
            <a:spAutoFit/>
          </a:bodyPr>
          <a:lstStyle/>
          <a:p>
            <a:pPr algn="r">
              <a:lnSpc>
                <a:spcPct val="100000"/>
              </a:lnSpc>
              <a:spcAft>
                <a:spcPts val="0"/>
              </a:spcAft>
              <a:defRPr sz="1050" b="1">
                <a:solidFill>
                  <a:srgbClr val="405D7B"/>
                </a:solidFill>
                <a:latin typeface="Meiryo"/>
              </a:defRPr>
            </a:pPr>
            <a:r>
              <a:rPr sz="1050" b="1">
                <a:solidFill>
                  <a:srgbClr val="405D7B"/>
                </a:solidFill>
                <a:latin typeface="Meiryo"/>
              </a:rPr>
              <a:t>95.9%</a:t>
            </a:r>
          </a:p>
        </p:txBody>
      </p:sp>
      <p:sp>
        <p:nvSpPr>
          <p:cNvPr id="19" name="TextBox 18"/>
          <p:cNvSpPr txBox="1"/>
          <p:nvPr/>
        </p:nvSpPr>
        <p:spPr>
          <a:xfrm>
            <a:off x="4802428" y="2359151"/>
            <a:ext cx="1097280" cy="292608"/>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22.4%</a:t>
            </a:r>
          </a:p>
        </p:txBody>
      </p:sp>
      <p:sp>
        <p:nvSpPr>
          <p:cNvPr id="20" name="TextBox 19"/>
          <p:cNvSpPr txBox="1"/>
          <p:nvPr/>
        </p:nvSpPr>
        <p:spPr>
          <a:xfrm>
            <a:off x="6119164" y="2359151"/>
            <a:ext cx="921715" cy="292608"/>
          </a:xfrm>
          <a:prstGeom prst="rect">
            <a:avLst/>
          </a:prstGeom>
          <a:noFill/>
        </p:spPr>
        <p:txBody>
          <a:bodyPr wrap="square" lIns="0" rIns="0" tIns="0" bIns="0" anchor="ctr">
            <a:spAutoFit/>
          </a:bodyPr>
          <a:lstStyle/>
          <a:p>
            <a:pPr algn="r">
              <a:lnSpc>
                <a:spcPct val="100000"/>
              </a:lnSpc>
              <a:spcAft>
                <a:spcPts val="0"/>
              </a:spcAft>
              <a:defRPr sz="1050" b="1">
                <a:solidFill>
                  <a:srgbClr val="405D7B"/>
                </a:solidFill>
                <a:latin typeface="Meiryo"/>
              </a:defRPr>
            </a:pPr>
            <a:r>
              <a:rPr sz="1050" b="1">
                <a:solidFill>
                  <a:srgbClr val="405D7B"/>
                </a:solidFill>
                <a:latin typeface="Meiryo"/>
              </a:rPr>
              <a:t>2.5秒</a:t>
            </a:r>
          </a:p>
        </p:txBody>
      </p:sp>
      <p:sp>
        <p:nvSpPr>
          <p:cNvPr id="21" name="Rectangle 20"/>
          <p:cNvSpPr/>
          <p:nvPr/>
        </p:nvSpPr>
        <p:spPr>
          <a:xfrm>
            <a:off x="566928" y="2651759"/>
            <a:ext cx="6583680" cy="2926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76656" y="2651759"/>
            <a:ext cx="1536192" cy="292608"/>
          </a:xfrm>
          <a:prstGeom prst="rect">
            <a:avLst/>
          </a:prstGeom>
          <a:noFill/>
        </p:spPr>
        <p:txBody>
          <a:bodyPr wrap="square" lIns="0" rIns="0" tIns="0" bIns="0" anchor="ctr">
            <a:spAutoFit/>
          </a:bodyPr>
          <a:lstStyle/>
          <a:p>
            <a:pPr algn="l">
              <a:lnSpc>
                <a:spcPct val="100000"/>
              </a:lnSpc>
              <a:spcAft>
                <a:spcPts val="0"/>
              </a:spcAft>
              <a:defRPr sz="1050" b="1">
                <a:solidFill>
                  <a:srgbClr val="405D7B"/>
                </a:solidFill>
                <a:latin typeface="Meiryo"/>
              </a:defRPr>
            </a:pPr>
            <a:r>
              <a:rPr sz="1050" b="1">
                <a:solidFill>
                  <a:srgbClr val="405D7B"/>
                </a:solidFill>
                <a:latin typeface="Meiryo"/>
              </a:rPr>
              <a:t>パソコン</a:t>
            </a:r>
          </a:p>
        </p:txBody>
      </p:sp>
      <p:sp>
        <p:nvSpPr>
          <p:cNvPr id="23" name="TextBox 22"/>
          <p:cNvSpPr txBox="1"/>
          <p:nvPr/>
        </p:nvSpPr>
        <p:spPr>
          <a:xfrm>
            <a:off x="2432304" y="2651759"/>
            <a:ext cx="1097280" cy="292608"/>
          </a:xfrm>
          <a:prstGeom prst="rect">
            <a:avLst/>
          </a:prstGeom>
          <a:noFill/>
        </p:spPr>
        <p:txBody>
          <a:bodyPr wrap="square" lIns="0" rIns="0" tIns="0" bIns="0" anchor="ctr">
            <a:spAutoFit/>
          </a:bodyPr>
          <a:lstStyle/>
          <a:p>
            <a:pPr algn="r">
              <a:lnSpc>
                <a:spcPct val="100000"/>
              </a:lnSpc>
              <a:spcAft>
                <a:spcPts val="0"/>
              </a:spcAft>
              <a:defRPr sz="1050" b="1">
                <a:solidFill>
                  <a:srgbClr val="405D7B"/>
                </a:solidFill>
                <a:latin typeface="Meiryo"/>
              </a:defRPr>
            </a:pPr>
            <a:r>
              <a:rPr sz="1050" b="1">
                <a:solidFill>
                  <a:srgbClr val="405D7B"/>
                </a:solidFill>
                <a:latin typeface="Meiryo"/>
              </a:rPr>
              <a:t>964</a:t>
            </a:r>
          </a:p>
        </p:txBody>
      </p:sp>
      <p:sp>
        <p:nvSpPr>
          <p:cNvPr id="24" name="TextBox 23"/>
          <p:cNvSpPr txBox="1"/>
          <p:nvPr/>
        </p:nvSpPr>
        <p:spPr>
          <a:xfrm>
            <a:off x="3749040" y="2651759"/>
            <a:ext cx="833932" cy="292608"/>
          </a:xfrm>
          <a:prstGeom prst="rect">
            <a:avLst/>
          </a:prstGeom>
          <a:noFill/>
        </p:spPr>
        <p:txBody>
          <a:bodyPr wrap="square" lIns="0" rIns="0" tIns="0" bIns="0" anchor="ctr">
            <a:spAutoFit/>
          </a:bodyPr>
          <a:lstStyle/>
          <a:p>
            <a:pPr algn="r">
              <a:lnSpc>
                <a:spcPct val="100000"/>
              </a:lnSpc>
              <a:spcAft>
                <a:spcPts val="0"/>
              </a:spcAft>
              <a:defRPr sz="1050" b="1">
                <a:solidFill>
                  <a:srgbClr val="405D7B"/>
                </a:solidFill>
                <a:latin typeface="Meiryo"/>
              </a:defRPr>
            </a:pPr>
            <a:r>
              <a:rPr sz="1050" b="1">
                <a:solidFill>
                  <a:srgbClr val="405D7B"/>
                </a:solidFill>
                <a:latin typeface="Meiryo"/>
              </a:rPr>
              <a:t>3.0%</a:t>
            </a:r>
          </a:p>
        </p:txBody>
      </p:sp>
      <p:sp>
        <p:nvSpPr>
          <p:cNvPr id="25" name="TextBox 24"/>
          <p:cNvSpPr txBox="1"/>
          <p:nvPr/>
        </p:nvSpPr>
        <p:spPr>
          <a:xfrm>
            <a:off x="4802428" y="2651759"/>
            <a:ext cx="1097280" cy="292608"/>
          </a:xfrm>
          <a:prstGeom prst="rect">
            <a:avLst/>
          </a:prstGeom>
          <a:noFill/>
        </p:spPr>
        <p:txBody>
          <a:bodyPr wrap="square" lIns="0" rIns="0" tIns="0" bIns="0" anchor="ctr">
            <a:spAutoFit/>
          </a:bodyPr>
          <a:lstStyle/>
          <a:p>
            <a:pPr algn="r">
              <a:lnSpc>
                <a:spcPct val="100000"/>
              </a:lnSpc>
              <a:spcAft>
                <a:spcPts val="0"/>
              </a:spcAft>
              <a:defRPr sz="1050" b="1">
                <a:solidFill>
                  <a:srgbClr val="405D7B"/>
                </a:solidFill>
                <a:latin typeface="Meiryo"/>
              </a:defRPr>
            </a:pPr>
            <a:r>
              <a:rPr sz="1050" b="1">
                <a:solidFill>
                  <a:srgbClr val="405D7B"/>
                </a:solidFill>
                <a:latin typeface="Meiryo"/>
              </a:rPr>
              <a:t>47.5%</a:t>
            </a:r>
          </a:p>
        </p:txBody>
      </p:sp>
      <p:sp>
        <p:nvSpPr>
          <p:cNvPr id="26" name="TextBox 25"/>
          <p:cNvSpPr txBox="1"/>
          <p:nvPr/>
        </p:nvSpPr>
        <p:spPr>
          <a:xfrm>
            <a:off x="6119164" y="2651759"/>
            <a:ext cx="921715" cy="292608"/>
          </a:xfrm>
          <a:prstGeom prst="rect">
            <a:avLst/>
          </a:prstGeom>
          <a:noFill/>
        </p:spPr>
        <p:txBody>
          <a:bodyPr wrap="square" lIns="0" rIns="0" tIns="0" bIns="0" anchor="ctr">
            <a:spAutoFit/>
          </a:bodyPr>
          <a:lstStyle/>
          <a:p>
            <a:pPr algn="r">
              <a:lnSpc>
                <a:spcPct val="100000"/>
              </a:lnSpc>
              <a:spcAft>
                <a:spcPts val="0"/>
              </a:spcAft>
              <a:defRPr sz="1050" b="1">
                <a:solidFill>
                  <a:srgbClr val="405D7B"/>
                </a:solidFill>
                <a:latin typeface="Meiryo"/>
              </a:defRPr>
            </a:pPr>
            <a:r>
              <a:rPr sz="1050" b="1">
                <a:solidFill>
                  <a:srgbClr val="405D7B"/>
                </a:solidFill>
                <a:latin typeface="Meiryo"/>
              </a:rPr>
              <a:t>28.5秒</a:t>
            </a:r>
          </a:p>
        </p:txBody>
      </p:sp>
      <p:sp>
        <p:nvSpPr>
          <p:cNvPr id="27" name="Rectangle 26"/>
          <p:cNvSpPr/>
          <p:nvPr/>
        </p:nvSpPr>
        <p:spPr>
          <a:xfrm>
            <a:off x="566928" y="2944367"/>
            <a:ext cx="658368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76656" y="2944367"/>
            <a:ext cx="1536192" cy="292608"/>
          </a:xfrm>
          <a:prstGeom prst="rect">
            <a:avLst/>
          </a:prstGeom>
          <a:noFill/>
        </p:spPr>
        <p:txBody>
          <a:bodyPr wrap="square" lIns="0" rIns="0" tIns="0" bIns="0" anchor="ctr">
            <a:spAutoFit/>
          </a:bodyPr>
          <a:lstStyle/>
          <a:p>
            <a:pPr algn="l">
              <a:lnSpc>
                <a:spcPct val="100000"/>
              </a:lnSpc>
              <a:spcAft>
                <a:spcPts val="0"/>
              </a:spcAft>
              <a:defRPr sz="1050" b="0">
                <a:solidFill>
                  <a:srgbClr val="454B52"/>
                </a:solidFill>
                <a:latin typeface="Meiryo"/>
              </a:defRPr>
            </a:pPr>
            <a:r>
              <a:rPr sz="1050" b="0">
                <a:solidFill>
                  <a:srgbClr val="454B52"/>
                </a:solidFill>
                <a:latin typeface="Meiryo"/>
              </a:rPr>
              <a:t>タブレット</a:t>
            </a:r>
          </a:p>
        </p:txBody>
      </p:sp>
      <p:sp>
        <p:nvSpPr>
          <p:cNvPr id="29" name="TextBox 28"/>
          <p:cNvSpPr txBox="1"/>
          <p:nvPr/>
        </p:nvSpPr>
        <p:spPr>
          <a:xfrm>
            <a:off x="2432304" y="2944367"/>
            <a:ext cx="1097280" cy="292608"/>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326</a:t>
            </a:r>
          </a:p>
        </p:txBody>
      </p:sp>
      <p:sp>
        <p:nvSpPr>
          <p:cNvPr id="30" name="TextBox 29"/>
          <p:cNvSpPr txBox="1"/>
          <p:nvPr/>
        </p:nvSpPr>
        <p:spPr>
          <a:xfrm>
            <a:off x="3749040" y="2944367"/>
            <a:ext cx="833932" cy="292608"/>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1.0%</a:t>
            </a:r>
          </a:p>
        </p:txBody>
      </p:sp>
      <p:sp>
        <p:nvSpPr>
          <p:cNvPr id="31" name="TextBox 30"/>
          <p:cNvSpPr txBox="1"/>
          <p:nvPr/>
        </p:nvSpPr>
        <p:spPr>
          <a:xfrm>
            <a:off x="4802428" y="2944367"/>
            <a:ext cx="1097280" cy="292608"/>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18.7%</a:t>
            </a:r>
          </a:p>
        </p:txBody>
      </p:sp>
      <p:sp>
        <p:nvSpPr>
          <p:cNvPr id="32" name="TextBox 31"/>
          <p:cNvSpPr txBox="1"/>
          <p:nvPr/>
        </p:nvSpPr>
        <p:spPr>
          <a:xfrm>
            <a:off x="6119164" y="2944367"/>
            <a:ext cx="921715" cy="292608"/>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5.5秒</a:t>
            </a:r>
          </a:p>
        </p:txBody>
      </p:sp>
      <p:sp>
        <p:nvSpPr>
          <p:cNvPr id="33" name="Rectangle 32"/>
          <p:cNvSpPr/>
          <p:nvPr/>
        </p:nvSpPr>
        <p:spPr>
          <a:xfrm>
            <a:off x="7333488" y="2066543"/>
            <a:ext cx="4297679" cy="117043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333488" y="2066543"/>
            <a:ext cx="4297679" cy="45720"/>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543800" y="2267712"/>
            <a:ext cx="3877055" cy="274320"/>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所見</a:t>
            </a:r>
          </a:p>
        </p:txBody>
      </p:sp>
      <p:sp>
        <p:nvSpPr>
          <p:cNvPr id="36" name="TextBox 35"/>
          <p:cNvSpPr txBox="1"/>
          <p:nvPr/>
        </p:nvSpPr>
        <p:spPr>
          <a:xfrm>
            <a:off x="7543800" y="2505456"/>
            <a:ext cx="3877055" cy="365760"/>
          </a:xfrm>
          <a:prstGeom prst="rect">
            <a:avLst/>
          </a:prstGeom>
          <a:noFill/>
        </p:spPr>
        <p:txBody>
          <a:bodyPr wrap="square" lIns="0" rIns="0" tIns="0" bIns="0" anchor="t">
            <a:spAutoFit/>
          </a:bodyPr>
          <a:lstStyle/>
          <a:p>
            <a:pPr algn="l">
              <a:lnSpc>
                <a:spcPct val="135000"/>
              </a:lnSpc>
              <a:spcAft>
                <a:spcPts val="300"/>
              </a:spcAft>
              <a:defRPr sz="1600" b="1">
                <a:solidFill>
                  <a:srgbClr val="2A2E33"/>
                </a:solidFill>
                <a:latin typeface="Meiryo"/>
              </a:defRPr>
            </a:pPr>
            <a:r>
              <a:rPr sz="1600" b="1">
                <a:solidFill>
                  <a:srgbClr val="2A2E33"/>
                </a:solidFill>
                <a:latin typeface="Meiryo"/>
              </a:rPr>
              <a:t>スマートフォンの流入品質が低い</a:t>
            </a:r>
          </a:p>
        </p:txBody>
      </p:sp>
      <p:sp>
        <p:nvSpPr>
          <p:cNvPr id="37" name="TextBox 36"/>
          <p:cNvSpPr txBox="1"/>
          <p:nvPr/>
        </p:nvSpPr>
        <p:spPr>
          <a:xfrm>
            <a:off x="7571231" y="2999232"/>
            <a:ext cx="3822191" cy="36576"/>
          </a:xfrm>
          <a:prstGeom prst="rect">
            <a:avLst/>
          </a:prstGeom>
          <a:noFill/>
        </p:spPr>
        <p:txBody>
          <a:bodyPr wrap="square" lIns="0" rIns="0" tIns="0" bIns="0" anchor="t">
            <a:spAutoFit/>
          </a:bodyPr>
          <a:lstStyle/>
          <a:p>
            <a:pPr algn="l">
              <a:lnSpc>
                <a:spcPct val="150000"/>
              </a:lnSpc>
              <a:spcAft>
                <a:spcPts val="300"/>
              </a:spcAft>
              <a:defRPr sz="1300" b="0">
                <a:solidFill>
                  <a:srgbClr val="454B52"/>
                </a:solidFill>
                <a:latin typeface="Meiryo"/>
              </a:defRPr>
            </a:pPr>
            <a:r>
              <a:rPr sz="1300" b="0">
                <a:solidFill>
                  <a:srgbClr val="454B52"/>
                </a:solidFill>
                <a:latin typeface="Meiryo"/>
              </a:rPr>
              <a:t>パソコンは流入の3%ですが、平均滞在はスマートフォンの11.4倍です。</a:t>
            </a:r>
          </a:p>
        </p:txBody>
      </p:sp>
      <p:sp>
        <p:nvSpPr>
          <p:cNvPr id="38" name="TextBox 37"/>
          <p:cNvSpPr txBox="1"/>
          <p:nvPr/>
        </p:nvSpPr>
        <p:spPr>
          <a:xfrm>
            <a:off x="566928" y="3401568"/>
            <a:ext cx="11064240" cy="274320"/>
          </a:xfrm>
          <a:prstGeom prst="rect">
            <a:avLst/>
          </a:prstGeom>
          <a:noFill/>
        </p:spPr>
        <p:txBody>
          <a:bodyPr wrap="square" lIns="0" rIns="0" tIns="0" bIns="0" anchor="t">
            <a:spAutoFit/>
          </a:bodyPr>
          <a:lstStyle/>
          <a:p>
            <a:pPr algn="l">
              <a:lnSpc>
                <a:spcPct val="135000"/>
              </a:lnSpc>
              <a:spcAft>
                <a:spcPts val="300"/>
              </a:spcAft>
              <a:defRPr sz="1400" b="1">
                <a:solidFill>
                  <a:srgbClr val="405D7B"/>
                </a:solidFill>
                <a:latin typeface="Meiryo"/>
              </a:defRPr>
            </a:pPr>
            <a:r>
              <a:rPr sz="1400" b="1">
                <a:solidFill>
                  <a:srgbClr val="405D7B"/>
                </a:solidFill>
                <a:latin typeface="Meiryo"/>
              </a:rPr>
              <a:t>② 会員募集の導線が二重になっています</a:t>
            </a:r>
          </a:p>
        </p:txBody>
      </p:sp>
      <p:sp>
        <p:nvSpPr>
          <p:cNvPr id="39" name="Rectangle 38"/>
          <p:cNvSpPr/>
          <p:nvPr/>
        </p:nvSpPr>
        <p:spPr>
          <a:xfrm>
            <a:off x="566928" y="3730752"/>
            <a:ext cx="5120640" cy="292608"/>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76656" y="3730752"/>
            <a:ext cx="1627332" cy="292608"/>
          </a:xfrm>
          <a:prstGeom prst="rect">
            <a:avLst/>
          </a:prstGeom>
          <a:noFill/>
        </p:spPr>
        <p:txBody>
          <a:bodyPr wrap="square" lIns="0" rIns="0" tIns="0" bIns="0" anchor="ctr">
            <a:spAutoFit/>
          </a:bodyPr>
          <a:lstStyle/>
          <a:p>
            <a:pPr algn="l">
              <a:lnSpc>
                <a:spcPct val="100000"/>
              </a:lnSpc>
              <a:spcAft>
                <a:spcPts val="0"/>
              </a:spcAft>
              <a:defRPr sz="1050" b="1">
                <a:solidFill>
                  <a:srgbClr val="FFFFFF"/>
                </a:solidFill>
                <a:latin typeface="Meiryo"/>
              </a:defRPr>
            </a:pPr>
            <a:r>
              <a:rPr sz="1050" b="1">
                <a:solidFill>
                  <a:srgbClr val="FFFFFF"/>
                </a:solidFill>
                <a:latin typeface="Meiryo"/>
              </a:rPr>
              <a:t>期間</a:t>
            </a:r>
          </a:p>
        </p:txBody>
      </p:sp>
      <p:sp>
        <p:nvSpPr>
          <p:cNvPr id="41" name="TextBox 40"/>
          <p:cNvSpPr txBox="1"/>
          <p:nvPr/>
        </p:nvSpPr>
        <p:spPr>
          <a:xfrm>
            <a:off x="2523444" y="3730752"/>
            <a:ext cx="1795222" cy="292608"/>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LPから公式サイトへの遷移</a:t>
            </a:r>
          </a:p>
        </p:txBody>
      </p:sp>
      <p:sp>
        <p:nvSpPr>
          <p:cNvPr id="42" name="TextBox 41"/>
          <p:cNvSpPr txBox="1"/>
          <p:nvPr/>
        </p:nvSpPr>
        <p:spPr>
          <a:xfrm>
            <a:off x="4538122" y="3730752"/>
            <a:ext cx="1039717" cy="292608"/>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お問い合わせ</a:t>
            </a:r>
          </a:p>
        </p:txBody>
      </p:sp>
      <p:sp>
        <p:nvSpPr>
          <p:cNvPr id="43" name="Rectangle 42"/>
          <p:cNvSpPr/>
          <p:nvPr/>
        </p:nvSpPr>
        <p:spPr>
          <a:xfrm>
            <a:off x="566928" y="4023360"/>
            <a:ext cx="51206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76656" y="4023360"/>
            <a:ext cx="1627332" cy="292608"/>
          </a:xfrm>
          <a:prstGeom prst="rect">
            <a:avLst/>
          </a:prstGeom>
          <a:noFill/>
        </p:spPr>
        <p:txBody>
          <a:bodyPr wrap="square" lIns="0" rIns="0" tIns="0" bIns="0" anchor="ctr">
            <a:spAutoFit/>
          </a:bodyPr>
          <a:lstStyle/>
          <a:p>
            <a:pPr algn="l">
              <a:lnSpc>
                <a:spcPct val="100000"/>
              </a:lnSpc>
              <a:spcAft>
                <a:spcPts val="0"/>
              </a:spcAft>
              <a:defRPr sz="1050" b="0">
                <a:solidFill>
                  <a:srgbClr val="454B52"/>
                </a:solidFill>
                <a:latin typeface="Meiryo"/>
              </a:defRPr>
            </a:pPr>
            <a:r>
              <a:rPr sz="1050" b="0">
                <a:solidFill>
                  <a:srgbClr val="454B52"/>
                </a:solidFill>
                <a:latin typeface="Meiryo"/>
              </a:rPr>
              <a:t>第1期（8ヶ月）</a:t>
            </a:r>
          </a:p>
        </p:txBody>
      </p:sp>
      <p:sp>
        <p:nvSpPr>
          <p:cNvPr id="45" name="TextBox 44"/>
          <p:cNvSpPr txBox="1"/>
          <p:nvPr/>
        </p:nvSpPr>
        <p:spPr>
          <a:xfrm>
            <a:off x="2523444" y="4023360"/>
            <a:ext cx="1795222" cy="292608"/>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767件</a:t>
            </a:r>
          </a:p>
        </p:txBody>
      </p:sp>
      <p:sp>
        <p:nvSpPr>
          <p:cNvPr id="46" name="TextBox 45"/>
          <p:cNvSpPr txBox="1"/>
          <p:nvPr/>
        </p:nvSpPr>
        <p:spPr>
          <a:xfrm>
            <a:off x="4538122" y="4023360"/>
            <a:ext cx="1039717" cy="292608"/>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19件</a:t>
            </a:r>
          </a:p>
        </p:txBody>
      </p:sp>
      <p:sp>
        <p:nvSpPr>
          <p:cNvPr id="47" name="Rectangle 46"/>
          <p:cNvSpPr/>
          <p:nvPr/>
        </p:nvSpPr>
        <p:spPr>
          <a:xfrm>
            <a:off x="566928" y="4315968"/>
            <a:ext cx="5120640" cy="292608"/>
          </a:xfrm>
          <a:prstGeom prst="rect">
            <a:avLst/>
          </a:prstGeom>
          <a:solidFill>
            <a:srgbClr val="EE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676656" y="4315968"/>
            <a:ext cx="1627332" cy="292608"/>
          </a:xfrm>
          <a:prstGeom prst="rect">
            <a:avLst/>
          </a:prstGeom>
          <a:noFill/>
        </p:spPr>
        <p:txBody>
          <a:bodyPr wrap="square" lIns="0" rIns="0" tIns="0" bIns="0" anchor="ctr">
            <a:spAutoFit/>
          </a:bodyPr>
          <a:lstStyle/>
          <a:p>
            <a:pPr algn="l">
              <a:lnSpc>
                <a:spcPct val="100000"/>
              </a:lnSpc>
              <a:spcAft>
                <a:spcPts val="0"/>
              </a:spcAft>
              <a:defRPr sz="1050" b="0">
                <a:solidFill>
                  <a:srgbClr val="454B52"/>
                </a:solidFill>
                <a:latin typeface="Meiryo"/>
              </a:defRPr>
            </a:pPr>
            <a:r>
              <a:rPr sz="1050" b="0">
                <a:solidFill>
                  <a:srgbClr val="454B52"/>
                </a:solidFill>
                <a:latin typeface="Meiryo"/>
              </a:rPr>
              <a:t>第2期（3ヶ月）</a:t>
            </a:r>
          </a:p>
        </p:txBody>
      </p:sp>
      <p:sp>
        <p:nvSpPr>
          <p:cNvPr id="49" name="TextBox 48"/>
          <p:cNvSpPr txBox="1"/>
          <p:nvPr/>
        </p:nvSpPr>
        <p:spPr>
          <a:xfrm>
            <a:off x="2523444" y="4315968"/>
            <a:ext cx="1795222" cy="292608"/>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84件</a:t>
            </a:r>
          </a:p>
        </p:txBody>
      </p:sp>
      <p:sp>
        <p:nvSpPr>
          <p:cNvPr id="50" name="TextBox 49"/>
          <p:cNvSpPr txBox="1"/>
          <p:nvPr/>
        </p:nvSpPr>
        <p:spPr>
          <a:xfrm>
            <a:off x="4538122" y="4315968"/>
            <a:ext cx="1039717" cy="292608"/>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2件</a:t>
            </a:r>
          </a:p>
        </p:txBody>
      </p:sp>
      <p:sp>
        <p:nvSpPr>
          <p:cNvPr id="51" name="Rectangle 50"/>
          <p:cNvSpPr/>
          <p:nvPr/>
        </p:nvSpPr>
        <p:spPr>
          <a:xfrm>
            <a:off x="566928" y="4608576"/>
            <a:ext cx="5120640" cy="2926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76656" y="4608576"/>
            <a:ext cx="1627332" cy="292608"/>
          </a:xfrm>
          <a:prstGeom prst="rect">
            <a:avLst/>
          </a:prstGeom>
          <a:noFill/>
        </p:spPr>
        <p:txBody>
          <a:bodyPr wrap="square" lIns="0" rIns="0" tIns="0" bIns="0" anchor="ctr">
            <a:spAutoFit/>
          </a:bodyPr>
          <a:lstStyle/>
          <a:p>
            <a:pPr algn="l">
              <a:lnSpc>
                <a:spcPct val="100000"/>
              </a:lnSpc>
              <a:spcAft>
                <a:spcPts val="0"/>
              </a:spcAft>
              <a:defRPr sz="1050" b="1">
                <a:solidFill>
                  <a:srgbClr val="405D7B"/>
                </a:solidFill>
                <a:latin typeface="Meiryo"/>
              </a:defRPr>
            </a:pPr>
            <a:r>
              <a:rPr sz="1050" b="1">
                <a:solidFill>
                  <a:srgbClr val="405D7B"/>
                </a:solidFill>
                <a:latin typeface="Meiryo"/>
              </a:rPr>
              <a:t>全期間累計</a:t>
            </a:r>
          </a:p>
        </p:txBody>
      </p:sp>
      <p:sp>
        <p:nvSpPr>
          <p:cNvPr id="53" name="TextBox 52"/>
          <p:cNvSpPr txBox="1"/>
          <p:nvPr/>
        </p:nvSpPr>
        <p:spPr>
          <a:xfrm>
            <a:off x="2523444" y="4608576"/>
            <a:ext cx="1795222" cy="292608"/>
          </a:xfrm>
          <a:prstGeom prst="rect">
            <a:avLst/>
          </a:prstGeom>
          <a:noFill/>
        </p:spPr>
        <p:txBody>
          <a:bodyPr wrap="square" lIns="0" rIns="0" tIns="0" bIns="0" anchor="ctr">
            <a:spAutoFit/>
          </a:bodyPr>
          <a:lstStyle/>
          <a:p>
            <a:pPr algn="r">
              <a:lnSpc>
                <a:spcPct val="100000"/>
              </a:lnSpc>
              <a:spcAft>
                <a:spcPts val="0"/>
              </a:spcAft>
              <a:defRPr sz="1050" b="1">
                <a:solidFill>
                  <a:srgbClr val="405D7B"/>
                </a:solidFill>
                <a:latin typeface="Meiryo"/>
              </a:defRPr>
            </a:pPr>
            <a:r>
              <a:rPr sz="1050" b="1">
                <a:solidFill>
                  <a:srgbClr val="405D7B"/>
                </a:solidFill>
                <a:latin typeface="Meiryo"/>
              </a:rPr>
              <a:t>1,430件</a:t>
            </a:r>
          </a:p>
        </p:txBody>
      </p:sp>
      <p:sp>
        <p:nvSpPr>
          <p:cNvPr id="54" name="TextBox 53"/>
          <p:cNvSpPr txBox="1"/>
          <p:nvPr/>
        </p:nvSpPr>
        <p:spPr>
          <a:xfrm>
            <a:off x="4538122" y="4608576"/>
            <a:ext cx="1039717" cy="292608"/>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a:t>
            </a:r>
          </a:p>
        </p:txBody>
      </p:sp>
      <p:sp>
        <p:nvSpPr>
          <p:cNvPr id="55" name="TextBox 54"/>
          <p:cNvSpPr txBox="1"/>
          <p:nvPr/>
        </p:nvSpPr>
        <p:spPr>
          <a:xfrm>
            <a:off x="5870448" y="3730752"/>
            <a:ext cx="5760720" cy="1170432"/>
          </a:xfrm>
          <a:prstGeom prst="rect">
            <a:avLst/>
          </a:prstGeom>
          <a:noFill/>
        </p:spPr>
        <p:txBody>
          <a:bodyPr wrap="square" lIns="0" rIns="0" tIns="0" bIns="0" anchor="t">
            <a:spAutoFit/>
          </a:bodyPr>
          <a:lstStyle/>
          <a:p>
            <a:pPr algn="l">
              <a:lnSpc>
                <a:spcPct val="150000"/>
              </a:lnSpc>
              <a:spcAft>
                <a:spcPts val="300"/>
              </a:spcAft>
              <a:defRPr sz="1200" b="0">
                <a:solidFill>
                  <a:srgbClr val="454B52"/>
                </a:solidFill>
                <a:latin typeface="Meiryo"/>
              </a:defRPr>
            </a:pPr>
            <a:r>
              <a:rPr sz="1200" b="0">
                <a:solidFill>
                  <a:srgbClr val="454B52"/>
                </a:solidFill>
                <a:latin typeface="Meiryo"/>
              </a:rPr>
              <a:t>･  LPと公式サイトで同じ会員募集を掲載しており、リンクは一方通行です</a:t>
            </a:r>
          </a:p>
          <a:p>
            <a:pPr algn="l">
              <a:lnSpc>
                <a:spcPct val="150000"/>
              </a:lnSpc>
              <a:spcAft>
                <a:spcPts val="300"/>
              </a:spcAft>
              <a:defRPr sz="1200" b="0">
                <a:solidFill>
                  <a:srgbClr val="454B52"/>
                </a:solidFill>
                <a:latin typeface="Meiryo"/>
              </a:defRPr>
            </a:pPr>
            <a:r>
              <a:rPr sz="1200" b="0">
                <a:solidFill>
                  <a:srgbClr val="454B52"/>
                </a:solidFill>
                <a:latin typeface="Meiryo"/>
              </a:rPr>
              <a:t>･  ただし公式サイトにもお問い合わせフォームがあり、そちらで成果が発生している可能性があります</a:t>
            </a:r>
          </a:p>
          <a:p>
            <a:pPr algn="l">
              <a:lnSpc>
                <a:spcPct val="150000"/>
              </a:lnSpc>
              <a:spcAft>
                <a:spcPts val="300"/>
              </a:spcAft>
              <a:defRPr sz="1200" b="0">
                <a:solidFill>
                  <a:srgbClr val="454B52"/>
                </a:solidFill>
                <a:latin typeface="Meiryo"/>
              </a:defRPr>
            </a:pPr>
            <a:r>
              <a:rPr sz="1200" b="0">
                <a:solidFill>
                  <a:srgbClr val="454B52"/>
                </a:solidFill>
                <a:latin typeface="Meiryo"/>
              </a:rPr>
              <a:t>･  「損失」とは決めつけられません</a:t>
            </a:r>
          </a:p>
        </p:txBody>
      </p:sp>
      <p:sp>
        <p:nvSpPr>
          <p:cNvPr id="56" name="TextBox 55"/>
          <p:cNvSpPr txBox="1"/>
          <p:nvPr/>
        </p:nvSpPr>
        <p:spPr>
          <a:xfrm>
            <a:off x="566928" y="5065776"/>
            <a:ext cx="11064240" cy="274320"/>
          </a:xfrm>
          <a:prstGeom prst="rect">
            <a:avLst/>
          </a:prstGeom>
          <a:noFill/>
        </p:spPr>
        <p:txBody>
          <a:bodyPr wrap="square" lIns="0" rIns="0" tIns="0" bIns="0" anchor="t">
            <a:spAutoFit/>
          </a:bodyPr>
          <a:lstStyle/>
          <a:p>
            <a:pPr algn="l">
              <a:lnSpc>
                <a:spcPct val="135000"/>
              </a:lnSpc>
              <a:spcAft>
                <a:spcPts val="300"/>
              </a:spcAft>
              <a:defRPr sz="1400" b="1">
                <a:solidFill>
                  <a:srgbClr val="405D7B"/>
                </a:solidFill>
                <a:latin typeface="Meiryo"/>
              </a:defRPr>
            </a:pPr>
            <a:r>
              <a:rPr sz="1400" b="1">
                <a:solidFill>
                  <a:srgbClr val="405D7B"/>
                </a:solidFill>
                <a:latin typeface="Meiryo"/>
              </a:rPr>
              <a:t>③ 検討中の方への再接触が不足しています</a:t>
            </a:r>
          </a:p>
        </p:txBody>
      </p:sp>
      <p:sp>
        <p:nvSpPr>
          <p:cNvPr id="57" name="Rectangle 56"/>
          <p:cNvSpPr/>
          <p:nvPr/>
        </p:nvSpPr>
        <p:spPr>
          <a:xfrm>
            <a:off x="566928" y="5394960"/>
            <a:ext cx="11064240" cy="292608"/>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676656" y="5394960"/>
            <a:ext cx="3090359" cy="292608"/>
          </a:xfrm>
          <a:prstGeom prst="rect">
            <a:avLst/>
          </a:prstGeom>
          <a:noFill/>
        </p:spPr>
        <p:txBody>
          <a:bodyPr wrap="square" lIns="0" rIns="0" tIns="0" bIns="0" anchor="ctr">
            <a:spAutoFit/>
          </a:bodyPr>
          <a:lstStyle/>
          <a:p>
            <a:pPr algn="l">
              <a:lnSpc>
                <a:spcPct val="100000"/>
              </a:lnSpc>
              <a:spcAft>
                <a:spcPts val="0"/>
              </a:spcAft>
              <a:defRPr sz="1050" b="1">
                <a:solidFill>
                  <a:srgbClr val="FFFFFF"/>
                </a:solidFill>
                <a:latin typeface="Meiryo"/>
              </a:defRPr>
            </a:pPr>
            <a:r>
              <a:rPr sz="1050" b="1">
                <a:solidFill>
                  <a:srgbClr val="FFFFFF"/>
                </a:solidFill>
                <a:latin typeface="Meiryo"/>
              </a:rPr>
              <a:t>Meta広告（直近30日）</a:t>
            </a:r>
          </a:p>
        </p:txBody>
      </p:sp>
      <p:sp>
        <p:nvSpPr>
          <p:cNvPr id="59" name="TextBox 58"/>
          <p:cNvSpPr txBox="1"/>
          <p:nvPr/>
        </p:nvSpPr>
        <p:spPr>
          <a:xfrm>
            <a:off x="3986471" y="5394960"/>
            <a:ext cx="1766433" cy="292608"/>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予算構成比</a:t>
            </a:r>
          </a:p>
        </p:txBody>
      </p:sp>
      <p:sp>
        <p:nvSpPr>
          <p:cNvPr id="60" name="TextBox 59"/>
          <p:cNvSpPr txBox="1"/>
          <p:nvPr/>
        </p:nvSpPr>
        <p:spPr>
          <a:xfrm>
            <a:off x="5972360" y="5394960"/>
            <a:ext cx="1671867" cy="292608"/>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クリック率</a:t>
            </a:r>
          </a:p>
        </p:txBody>
      </p:sp>
      <p:sp>
        <p:nvSpPr>
          <p:cNvPr id="61" name="TextBox 60"/>
          <p:cNvSpPr txBox="1"/>
          <p:nvPr/>
        </p:nvSpPr>
        <p:spPr>
          <a:xfrm>
            <a:off x="7863683" y="5394960"/>
            <a:ext cx="1671867" cy="292608"/>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LP到達率</a:t>
            </a:r>
          </a:p>
        </p:txBody>
      </p:sp>
      <p:sp>
        <p:nvSpPr>
          <p:cNvPr id="62" name="TextBox 61"/>
          <p:cNvSpPr txBox="1"/>
          <p:nvPr/>
        </p:nvSpPr>
        <p:spPr>
          <a:xfrm>
            <a:off x="9755006" y="5394960"/>
            <a:ext cx="1766433" cy="292608"/>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接触回数</a:t>
            </a:r>
          </a:p>
        </p:txBody>
      </p:sp>
      <p:sp>
        <p:nvSpPr>
          <p:cNvPr id="63" name="Rectangle 62"/>
          <p:cNvSpPr/>
          <p:nvPr/>
        </p:nvSpPr>
        <p:spPr>
          <a:xfrm>
            <a:off x="566928" y="5687568"/>
            <a:ext cx="110642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676656" y="5687568"/>
            <a:ext cx="3090359" cy="292608"/>
          </a:xfrm>
          <a:prstGeom prst="rect">
            <a:avLst/>
          </a:prstGeom>
          <a:noFill/>
        </p:spPr>
        <p:txBody>
          <a:bodyPr wrap="square" lIns="0" rIns="0" tIns="0" bIns="0" anchor="ctr">
            <a:spAutoFit/>
          </a:bodyPr>
          <a:lstStyle/>
          <a:p>
            <a:pPr algn="l">
              <a:lnSpc>
                <a:spcPct val="100000"/>
              </a:lnSpc>
              <a:spcAft>
                <a:spcPts val="0"/>
              </a:spcAft>
              <a:defRPr sz="1050" b="0">
                <a:solidFill>
                  <a:srgbClr val="454B52"/>
                </a:solidFill>
                <a:latin typeface="Meiryo"/>
              </a:defRPr>
            </a:pPr>
            <a:r>
              <a:rPr sz="1050" b="0">
                <a:solidFill>
                  <a:srgbClr val="454B52"/>
                </a:solidFill>
                <a:latin typeface="Meiryo"/>
              </a:rPr>
              <a:t>興味関心（新規開拓）</a:t>
            </a:r>
          </a:p>
        </p:txBody>
      </p:sp>
      <p:sp>
        <p:nvSpPr>
          <p:cNvPr id="65" name="TextBox 64"/>
          <p:cNvSpPr txBox="1"/>
          <p:nvPr/>
        </p:nvSpPr>
        <p:spPr>
          <a:xfrm>
            <a:off x="3986471" y="5687568"/>
            <a:ext cx="1766433" cy="292608"/>
          </a:xfrm>
          <a:prstGeom prst="rect">
            <a:avLst/>
          </a:prstGeom>
          <a:noFill/>
        </p:spPr>
        <p:txBody>
          <a:bodyPr wrap="square" lIns="0" rIns="0" tIns="0" bIns="0" anchor="ctr">
            <a:spAutoFit/>
          </a:bodyPr>
          <a:lstStyle/>
          <a:p>
            <a:pPr algn="r">
              <a:lnSpc>
                <a:spcPct val="100000"/>
              </a:lnSpc>
              <a:spcAft>
                <a:spcPts val="0"/>
              </a:spcAft>
              <a:defRPr sz="1050" b="1">
                <a:solidFill>
                  <a:srgbClr val="405D7B"/>
                </a:solidFill>
                <a:latin typeface="Meiryo"/>
              </a:defRPr>
            </a:pPr>
            <a:r>
              <a:rPr sz="1050" b="1">
                <a:solidFill>
                  <a:srgbClr val="405D7B"/>
                </a:solidFill>
                <a:latin typeface="Meiryo"/>
              </a:rPr>
              <a:t>91.0%</a:t>
            </a:r>
          </a:p>
        </p:txBody>
      </p:sp>
      <p:sp>
        <p:nvSpPr>
          <p:cNvPr id="66" name="TextBox 65"/>
          <p:cNvSpPr txBox="1"/>
          <p:nvPr/>
        </p:nvSpPr>
        <p:spPr>
          <a:xfrm>
            <a:off x="5972360" y="5687568"/>
            <a:ext cx="1671867" cy="292608"/>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1.84%</a:t>
            </a:r>
          </a:p>
        </p:txBody>
      </p:sp>
      <p:sp>
        <p:nvSpPr>
          <p:cNvPr id="67" name="TextBox 66"/>
          <p:cNvSpPr txBox="1"/>
          <p:nvPr/>
        </p:nvSpPr>
        <p:spPr>
          <a:xfrm>
            <a:off x="7863683" y="5687568"/>
            <a:ext cx="1671867" cy="292608"/>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82.3%</a:t>
            </a:r>
          </a:p>
        </p:txBody>
      </p:sp>
      <p:sp>
        <p:nvSpPr>
          <p:cNvPr id="68" name="TextBox 67"/>
          <p:cNvSpPr txBox="1"/>
          <p:nvPr/>
        </p:nvSpPr>
        <p:spPr>
          <a:xfrm>
            <a:off x="9755006" y="5687568"/>
            <a:ext cx="1766433" cy="292608"/>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1.87回</a:t>
            </a:r>
          </a:p>
        </p:txBody>
      </p:sp>
      <p:sp>
        <p:nvSpPr>
          <p:cNvPr id="69" name="Rectangle 68"/>
          <p:cNvSpPr/>
          <p:nvPr/>
        </p:nvSpPr>
        <p:spPr>
          <a:xfrm>
            <a:off x="566928" y="5980176"/>
            <a:ext cx="11064240" cy="2926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676656" y="5980176"/>
            <a:ext cx="3090359" cy="292608"/>
          </a:xfrm>
          <a:prstGeom prst="rect">
            <a:avLst/>
          </a:prstGeom>
          <a:noFill/>
        </p:spPr>
        <p:txBody>
          <a:bodyPr wrap="square" lIns="0" rIns="0" tIns="0" bIns="0" anchor="ctr">
            <a:spAutoFit/>
          </a:bodyPr>
          <a:lstStyle/>
          <a:p>
            <a:pPr algn="l">
              <a:lnSpc>
                <a:spcPct val="100000"/>
              </a:lnSpc>
              <a:spcAft>
                <a:spcPts val="0"/>
              </a:spcAft>
              <a:defRPr sz="1050" b="1">
                <a:solidFill>
                  <a:srgbClr val="405D7B"/>
                </a:solidFill>
                <a:latin typeface="Meiryo"/>
              </a:defRPr>
            </a:pPr>
            <a:r>
              <a:rPr sz="1050" b="1">
                <a:solidFill>
                  <a:srgbClr val="405D7B"/>
                </a:solidFill>
                <a:latin typeface="Meiryo"/>
              </a:rPr>
              <a:t>リターゲティング（検討層）</a:t>
            </a:r>
          </a:p>
        </p:txBody>
      </p:sp>
      <p:sp>
        <p:nvSpPr>
          <p:cNvPr id="71" name="TextBox 70"/>
          <p:cNvSpPr txBox="1"/>
          <p:nvPr/>
        </p:nvSpPr>
        <p:spPr>
          <a:xfrm>
            <a:off x="3986471" y="5980176"/>
            <a:ext cx="1766433" cy="292608"/>
          </a:xfrm>
          <a:prstGeom prst="rect">
            <a:avLst/>
          </a:prstGeom>
          <a:noFill/>
        </p:spPr>
        <p:txBody>
          <a:bodyPr wrap="square" lIns="0" rIns="0" tIns="0" bIns="0" anchor="ctr">
            <a:spAutoFit/>
          </a:bodyPr>
          <a:lstStyle/>
          <a:p>
            <a:pPr algn="r">
              <a:lnSpc>
                <a:spcPct val="100000"/>
              </a:lnSpc>
              <a:spcAft>
                <a:spcPts val="0"/>
              </a:spcAft>
              <a:defRPr sz="1050" b="1">
                <a:solidFill>
                  <a:srgbClr val="405D7B"/>
                </a:solidFill>
                <a:latin typeface="Meiryo"/>
              </a:defRPr>
            </a:pPr>
            <a:r>
              <a:rPr sz="1050" b="1">
                <a:solidFill>
                  <a:srgbClr val="405D7B"/>
                </a:solidFill>
                <a:latin typeface="Meiryo"/>
              </a:rPr>
              <a:t>9.0%</a:t>
            </a:r>
          </a:p>
        </p:txBody>
      </p:sp>
      <p:sp>
        <p:nvSpPr>
          <p:cNvPr id="72" name="TextBox 71"/>
          <p:cNvSpPr txBox="1"/>
          <p:nvPr/>
        </p:nvSpPr>
        <p:spPr>
          <a:xfrm>
            <a:off x="5972360" y="5980176"/>
            <a:ext cx="1671867" cy="292608"/>
          </a:xfrm>
          <a:prstGeom prst="rect">
            <a:avLst/>
          </a:prstGeom>
          <a:noFill/>
        </p:spPr>
        <p:txBody>
          <a:bodyPr wrap="square" lIns="0" rIns="0" tIns="0" bIns="0" anchor="ctr">
            <a:spAutoFit/>
          </a:bodyPr>
          <a:lstStyle/>
          <a:p>
            <a:pPr algn="r">
              <a:lnSpc>
                <a:spcPct val="100000"/>
              </a:lnSpc>
              <a:spcAft>
                <a:spcPts val="0"/>
              </a:spcAft>
              <a:defRPr sz="1050" b="1">
                <a:solidFill>
                  <a:srgbClr val="405D7B"/>
                </a:solidFill>
                <a:latin typeface="Meiryo"/>
              </a:defRPr>
            </a:pPr>
            <a:r>
              <a:rPr sz="1050" b="1">
                <a:solidFill>
                  <a:srgbClr val="405D7B"/>
                </a:solidFill>
                <a:latin typeface="Meiryo"/>
              </a:rPr>
              <a:t>2.89%</a:t>
            </a:r>
          </a:p>
        </p:txBody>
      </p:sp>
      <p:sp>
        <p:nvSpPr>
          <p:cNvPr id="73" name="TextBox 72"/>
          <p:cNvSpPr txBox="1"/>
          <p:nvPr/>
        </p:nvSpPr>
        <p:spPr>
          <a:xfrm>
            <a:off x="7863683" y="5980176"/>
            <a:ext cx="1671867" cy="292608"/>
          </a:xfrm>
          <a:prstGeom prst="rect">
            <a:avLst/>
          </a:prstGeom>
          <a:noFill/>
        </p:spPr>
        <p:txBody>
          <a:bodyPr wrap="square" lIns="0" rIns="0" tIns="0" bIns="0" anchor="ctr">
            <a:spAutoFit/>
          </a:bodyPr>
          <a:lstStyle/>
          <a:p>
            <a:pPr algn="r">
              <a:lnSpc>
                <a:spcPct val="100000"/>
              </a:lnSpc>
              <a:spcAft>
                <a:spcPts val="0"/>
              </a:spcAft>
              <a:defRPr sz="1050" b="1">
                <a:solidFill>
                  <a:srgbClr val="405D7B"/>
                </a:solidFill>
                <a:latin typeface="Meiryo"/>
              </a:defRPr>
            </a:pPr>
            <a:r>
              <a:rPr sz="1050" b="1">
                <a:solidFill>
                  <a:srgbClr val="405D7B"/>
                </a:solidFill>
                <a:latin typeface="Meiryo"/>
              </a:rPr>
              <a:t>85.7%</a:t>
            </a:r>
          </a:p>
        </p:txBody>
      </p:sp>
      <p:sp>
        <p:nvSpPr>
          <p:cNvPr id="74" name="TextBox 73"/>
          <p:cNvSpPr txBox="1"/>
          <p:nvPr/>
        </p:nvSpPr>
        <p:spPr>
          <a:xfrm>
            <a:off x="9755006" y="5980176"/>
            <a:ext cx="1766433" cy="292608"/>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2.12回</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54864" cy="6858000"/>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143000" y="2697480"/>
            <a:ext cx="9144000" cy="310896"/>
          </a:xfrm>
          <a:prstGeom prst="rect">
            <a:avLst/>
          </a:prstGeom>
          <a:noFill/>
        </p:spPr>
        <p:txBody>
          <a:bodyPr wrap="square" lIns="0" rIns="0" tIns="0" bIns="0" anchor="t">
            <a:spAutoFit/>
          </a:bodyPr>
          <a:lstStyle/>
          <a:p>
            <a:pPr algn="l">
              <a:lnSpc>
                <a:spcPct val="135000"/>
              </a:lnSpc>
              <a:spcAft>
                <a:spcPts val="300"/>
              </a:spcAft>
              <a:defRPr sz="1300" b="1">
                <a:solidFill>
                  <a:srgbClr val="A96933"/>
                </a:solidFill>
                <a:latin typeface="Meiryo"/>
              </a:defRPr>
            </a:pPr>
            <a:r>
              <a:rPr sz="1300" b="1">
                <a:solidFill>
                  <a:srgbClr val="A96933"/>
                </a:solidFill>
                <a:latin typeface="Meiryo"/>
              </a:rPr>
              <a:t>PART 5</a:t>
            </a:r>
          </a:p>
        </p:txBody>
      </p:sp>
      <p:sp>
        <p:nvSpPr>
          <p:cNvPr id="5" name="TextBox 4"/>
          <p:cNvSpPr txBox="1"/>
          <p:nvPr/>
        </p:nvSpPr>
        <p:spPr>
          <a:xfrm>
            <a:off x="1143000" y="3127248"/>
            <a:ext cx="9601200" cy="640080"/>
          </a:xfrm>
          <a:prstGeom prst="rect">
            <a:avLst/>
          </a:prstGeom>
          <a:noFill/>
        </p:spPr>
        <p:txBody>
          <a:bodyPr wrap="square" lIns="0" rIns="0" tIns="0" bIns="0" anchor="t">
            <a:spAutoFit/>
          </a:bodyPr>
          <a:lstStyle/>
          <a:p>
            <a:pPr algn="l">
              <a:lnSpc>
                <a:spcPct val="115000"/>
              </a:lnSpc>
              <a:spcAft>
                <a:spcPts val="300"/>
              </a:spcAft>
              <a:defRPr sz="3300" b="1">
                <a:solidFill>
                  <a:srgbClr val="FFFFFF"/>
                </a:solidFill>
                <a:latin typeface="Meiryo"/>
              </a:defRPr>
            </a:pPr>
            <a:r>
              <a:rPr sz="3300" b="1">
                <a:solidFill>
                  <a:srgbClr val="FFFFFF"/>
                </a:solidFill>
                <a:latin typeface="Meiryo"/>
              </a:rPr>
              <a:t>2026年8月 配信提案</a:t>
            </a:r>
          </a:p>
        </p:txBody>
      </p:sp>
      <p:sp>
        <p:nvSpPr>
          <p:cNvPr id="6" name="Rectangle 5"/>
          <p:cNvSpPr/>
          <p:nvPr/>
        </p:nvSpPr>
        <p:spPr>
          <a:xfrm>
            <a:off x="1143000" y="4041648"/>
            <a:ext cx="2103120" cy="36576"/>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43000" y="4315968"/>
            <a:ext cx="9601200" cy="457200"/>
          </a:xfrm>
          <a:prstGeom prst="rect">
            <a:avLst/>
          </a:prstGeom>
          <a:noFill/>
        </p:spPr>
        <p:txBody>
          <a:bodyPr wrap="square" lIns="0" rIns="0" tIns="0" bIns="0" anchor="t">
            <a:spAutoFit/>
          </a:bodyPr>
          <a:lstStyle/>
          <a:p>
            <a:pPr algn="l">
              <a:lnSpc>
                <a:spcPct val="140000"/>
              </a:lnSpc>
              <a:spcAft>
                <a:spcPts val="300"/>
              </a:spcAft>
              <a:defRPr sz="1500" b="0">
                <a:solidFill>
                  <a:srgbClr val="D6DBE1"/>
                </a:solidFill>
                <a:latin typeface="Meiryo"/>
              </a:defRPr>
            </a:pPr>
            <a:r>
              <a:rPr sz="1500" b="0">
                <a:solidFill>
                  <a:srgbClr val="D6DBE1"/>
                </a:solidFill>
                <a:latin typeface="Meiryo"/>
              </a:rPr>
              <a:t>分析から導かれた3つの課題と、視察プレー最終月に向けた打ち手をご提案します。</a:t>
            </a:r>
          </a:p>
        </p:txBody>
      </p:sp>
      <p:sp>
        <p:nvSpPr>
          <p:cNvPr id="8" name="TextBox 7"/>
          <p:cNvSpPr txBox="1"/>
          <p:nvPr/>
        </p:nvSpPr>
        <p:spPr>
          <a:xfrm>
            <a:off x="11338560" y="6510528"/>
            <a:ext cx="640080" cy="274320"/>
          </a:xfrm>
          <a:prstGeom prst="rect">
            <a:avLst/>
          </a:prstGeom>
          <a:noFill/>
        </p:spPr>
        <p:txBody>
          <a:bodyPr wrap="square" lIns="0" rIns="0" tIns="0" bIns="0" anchor="t">
            <a:spAutoFit/>
          </a:bodyPr>
          <a:lstStyle/>
          <a:p>
            <a:pPr algn="r">
              <a:lnSpc>
                <a:spcPct val="135000"/>
              </a:lnSpc>
              <a:spcAft>
                <a:spcPts val="300"/>
              </a:spcAft>
              <a:defRPr sz="1050" b="0">
                <a:solidFill>
                  <a:srgbClr val="8FA3B8"/>
                </a:solidFill>
                <a:latin typeface="Meiryo"/>
              </a:defRPr>
            </a:pPr>
            <a:r>
              <a:rPr sz="1050" b="0">
                <a:solidFill>
                  <a:srgbClr val="8FA3B8"/>
                </a:solidFill>
                <a:latin typeface="Meiryo"/>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57200"/>
            <a:ext cx="82296" cy="237744"/>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31520" y="438912"/>
            <a:ext cx="10515600" cy="274320"/>
          </a:xfrm>
          <a:prstGeom prst="rect">
            <a:avLst/>
          </a:prstGeom>
          <a:noFill/>
        </p:spPr>
        <p:txBody>
          <a:bodyPr wrap="square" lIns="0" rIns="0" tIns="0" bIns="0" anchor="t">
            <a:spAutoFit/>
          </a:bodyPr>
          <a:lstStyle/>
          <a:p>
            <a:pPr algn="l">
              <a:lnSpc>
                <a:spcPct val="135000"/>
              </a:lnSpc>
              <a:spcAft>
                <a:spcPts val="300"/>
              </a:spcAft>
              <a:defRPr sz="1150" b="1">
                <a:solidFill>
                  <a:srgbClr val="405D7B"/>
                </a:solidFill>
                <a:latin typeface="Meiryo"/>
              </a:defRPr>
            </a:pPr>
            <a:r>
              <a:rPr sz="1150" b="1">
                <a:solidFill>
                  <a:srgbClr val="405D7B"/>
                </a:solidFill>
                <a:latin typeface="Meiryo"/>
              </a:rPr>
              <a:t>5 提案</a:t>
            </a:r>
          </a:p>
        </p:txBody>
      </p:sp>
      <p:sp>
        <p:nvSpPr>
          <p:cNvPr id="4" name="TextBox 3"/>
          <p:cNvSpPr txBox="1"/>
          <p:nvPr/>
        </p:nvSpPr>
        <p:spPr>
          <a:xfrm>
            <a:off x="530352" y="731520"/>
            <a:ext cx="10972800" cy="566928"/>
          </a:xfrm>
          <a:prstGeom prst="rect">
            <a:avLst/>
          </a:prstGeom>
          <a:noFill/>
        </p:spPr>
        <p:txBody>
          <a:bodyPr wrap="square" lIns="0" rIns="0" tIns="0" bIns="0" anchor="t">
            <a:spAutoFit/>
          </a:bodyPr>
          <a:lstStyle/>
          <a:p>
            <a:pPr algn="l">
              <a:lnSpc>
                <a:spcPct val="115000"/>
              </a:lnSpc>
              <a:spcAft>
                <a:spcPts val="300"/>
              </a:spcAft>
              <a:defRPr sz="2700" b="1">
                <a:solidFill>
                  <a:srgbClr val="2A2E33"/>
                </a:solidFill>
                <a:latin typeface="Meiryo"/>
              </a:defRPr>
            </a:pPr>
            <a:r>
              <a:rPr sz="2700" b="1">
                <a:solidFill>
                  <a:srgbClr val="2A2E33"/>
                </a:solidFill>
                <a:latin typeface="Meiryo"/>
              </a:rPr>
              <a:t>3つの課題と打ち手</a:t>
            </a:r>
          </a:p>
        </p:txBody>
      </p:sp>
      <p:sp>
        <p:nvSpPr>
          <p:cNvPr id="5" name="Rectangle 4"/>
          <p:cNvSpPr/>
          <p:nvPr/>
        </p:nvSpPr>
        <p:spPr>
          <a:xfrm>
            <a:off x="566928" y="1399032"/>
            <a:ext cx="1600200" cy="45720"/>
          </a:xfrm>
          <a:prstGeom prst="rect">
            <a:avLst/>
          </a:prstGeom>
          <a:solidFill>
            <a:srgbClr val="334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6928" y="1417320"/>
            <a:ext cx="11064240" cy="9144"/>
          </a:xfrm>
          <a:prstGeom prst="rect">
            <a:avLst/>
          </a:prstGeom>
          <a:solidFill>
            <a:srgbClr val="E2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338560" y="6510528"/>
            <a:ext cx="640080" cy="274320"/>
          </a:xfrm>
          <a:prstGeom prst="rect">
            <a:avLst/>
          </a:prstGeom>
          <a:noFill/>
        </p:spPr>
        <p:txBody>
          <a:bodyPr wrap="square" lIns="0" rIns="0" tIns="0" bIns="0" anchor="t">
            <a:spAutoFit/>
          </a:bodyPr>
          <a:lstStyle/>
          <a:p>
            <a:pPr algn="r">
              <a:lnSpc>
                <a:spcPct val="135000"/>
              </a:lnSpc>
              <a:spcAft>
                <a:spcPts val="300"/>
              </a:spcAft>
              <a:defRPr sz="1050" b="0">
                <a:solidFill>
                  <a:srgbClr val="8A929C"/>
                </a:solidFill>
                <a:latin typeface="Meiryo"/>
              </a:defRPr>
            </a:pPr>
            <a:r>
              <a:rPr sz="1050" b="0">
                <a:solidFill>
                  <a:srgbClr val="8A929C"/>
                </a:solidFill>
                <a:latin typeface="Meiryo"/>
              </a:rPr>
              <a:t>24</a:t>
            </a:r>
          </a:p>
        </p:txBody>
      </p:sp>
      <p:sp>
        <p:nvSpPr>
          <p:cNvPr id="8" name="TextBox 7"/>
          <p:cNvSpPr txBox="1"/>
          <p:nvPr/>
        </p:nvSpPr>
        <p:spPr>
          <a:xfrm>
            <a:off x="566928" y="1536192"/>
            <a:ext cx="11064240" cy="274320"/>
          </a:xfrm>
          <a:prstGeom prst="rect">
            <a:avLst/>
          </a:prstGeom>
          <a:noFill/>
        </p:spPr>
        <p:txBody>
          <a:bodyPr wrap="square" lIns="0" rIns="0" tIns="0" bIns="0" anchor="t">
            <a:spAutoFit/>
          </a:bodyPr>
          <a:lstStyle/>
          <a:p>
            <a:pPr algn="l">
              <a:lnSpc>
                <a:spcPct val="135000"/>
              </a:lnSpc>
              <a:spcAft>
                <a:spcPts val="300"/>
              </a:spcAft>
              <a:defRPr sz="1150" b="0">
                <a:solidFill>
                  <a:srgbClr val="8A929C"/>
                </a:solidFill>
                <a:latin typeface="Meiryo"/>
              </a:defRPr>
            </a:pPr>
            <a:r>
              <a:rPr sz="1150" b="0">
                <a:solidFill>
                  <a:srgbClr val="8A929C"/>
                </a:solidFill>
                <a:latin typeface="Meiryo"/>
              </a:rPr>
              <a:t>いずれも「広告を増やす／減らす」ではなく、「向き先を変える」ことで対応できます。</a:t>
            </a:r>
          </a:p>
        </p:txBody>
      </p:sp>
      <p:sp>
        <p:nvSpPr>
          <p:cNvPr id="9" name="Rectangle 8"/>
          <p:cNvSpPr/>
          <p:nvPr/>
        </p:nvSpPr>
        <p:spPr>
          <a:xfrm>
            <a:off x="566928" y="2048255"/>
            <a:ext cx="4892040" cy="1225296"/>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2048255"/>
            <a:ext cx="4892040" cy="45720"/>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68096" y="2249424"/>
            <a:ext cx="1188720" cy="219456"/>
          </a:xfrm>
          <a:prstGeom prst="rect">
            <a:avLst/>
          </a:prstGeom>
          <a:noFill/>
        </p:spPr>
        <p:txBody>
          <a:bodyPr wrap="square" lIns="0" rIns="0" tIns="0" bIns="0" anchor="t">
            <a:spAutoFit/>
          </a:bodyPr>
          <a:lstStyle/>
          <a:p>
            <a:pPr algn="l">
              <a:lnSpc>
                <a:spcPct val="135000"/>
              </a:lnSpc>
              <a:spcAft>
                <a:spcPts val="300"/>
              </a:spcAft>
              <a:defRPr sz="1050" b="1">
                <a:solidFill>
                  <a:srgbClr val="A96933"/>
                </a:solidFill>
                <a:latin typeface="Meiryo"/>
              </a:defRPr>
            </a:pPr>
            <a:r>
              <a:rPr sz="1050" b="1">
                <a:solidFill>
                  <a:srgbClr val="A96933"/>
                </a:solidFill>
                <a:latin typeface="Meiryo"/>
              </a:rPr>
              <a:t>課題 01</a:t>
            </a:r>
          </a:p>
        </p:txBody>
      </p:sp>
      <p:sp>
        <p:nvSpPr>
          <p:cNvPr id="12" name="TextBox 11"/>
          <p:cNvSpPr txBox="1"/>
          <p:nvPr/>
        </p:nvSpPr>
        <p:spPr>
          <a:xfrm>
            <a:off x="768096" y="2505456"/>
            <a:ext cx="4489703" cy="274320"/>
          </a:xfrm>
          <a:prstGeom prst="rect">
            <a:avLst/>
          </a:prstGeom>
          <a:noFill/>
        </p:spPr>
        <p:txBody>
          <a:bodyPr wrap="square" lIns="0" rIns="0" tIns="0" bIns="0" anchor="t">
            <a:spAutoFit/>
          </a:bodyPr>
          <a:lstStyle/>
          <a:p>
            <a:pPr algn="l">
              <a:lnSpc>
                <a:spcPct val="135000"/>
              </a:lnSpc>
              <a:spcAft>
                <a:spcPts val="300"/>
              </a:spcAft>
              <a:defRPr sz="1450" b="1">
                <a:solidFill>
                  <a:srgbClr val="2A2E33"/>
                </a:solidFill>
                <a:latin typeface="Meiryo"/>
              </a:defRPr>
            </a:pPr>
            <a:r>
              <a:rPr sz="1450" b="1">
                <a:solidFill>
                  <a:srgbClr val="2A2E33"/>
                </a:solidFill>
                <a:latin typeface="Meiryo"/>
              </a:rPr>
              <a:t>配信エリアが広すぎる</a:t>
            </a:r>
          </a:p>
        </p:txBody>
      </p:sp>
      <p:sp>
        <p:nvSpPr>
          <p:cNvPr id="13" name="TextBox 12"/>
          <p:cNvSpPr txBox="1"/>
          <p:nvPr/>
        </p:nvSpPr>
        <p:spPr>
          <a:xfrm>
            <a:off x="768096" y="2834639"/>
            <a:ext cx="4489703" cy="310896"/>
          </a:xfrm>
          <a:prstGeom prst="rect">
            <a:avLst/>
          </a:prstGeom>
          <a:noFill/>
        </p:spPr>
        <p:txBody>
          <a:bodyPr wrap="square" lIns="0" rIns="0" tIns="0" bIns="0" anchor="t">
            <a:spAutoFit/>
          </a:bodyPr>
          <a:lstStyle/>
          <a:p>
            <a:pPr algn="l">
              <a:lnSpc>
                <a:spcPct val="135000"/>
              </a:lnSpc>
              <a:spcAft>
                <a:spcPts val="300"/>
              </a:spcAft>
              <a:defRPr sz="950" b="0">
                <a:solidFill>
                  <a:srgbClr val="8A929C"/>
                </a:solidFill>
                <a:latin typeface="Meiryo"/>
              </a:defRPr>
            </a:pPr>
            <a:r>
              <a:rPr sz="950" b="0">
                <a:solidFill>
                  <a:srgbClr val="8A929C"/>
                </a:solidFill>
                <a:latin typeface="Meiryo"/>
              </a:rPr>
              <a:t>成果の53%が概ね70km圏／長野の集客は16.7%</a:t>
            </a:r>
          </a:p>
        </p:txBody>
      </p:sp>
      <p:sp>
        <p:nvSpPr>
          <p:cNvPr id="14" name="TextBox 13"/>
          <p:cNvSpPr txBox="1"/>
          <p:nvPr/>
        </p:nvSpPr>
        <p:spPr>
          <a:xfrm>
            <a:off x="5513831" y="2468879"/>
            <a:ext cx="384048" cy="310896"/>
          </a:xfrm>
          <a:prstGeom prst="rect">
            <a:avLst/>
          </a:prstGeom>
          <a:noFill/>
        </p:spPr>
        <p:txBody>
          <a:bodyPr wrap="square" lIns="0" rIns="0" tIns="0" bIns="0" anchor="t">
            <a:spAutoFit/>
          </a:bodyPr>
          <a:lstStyle/>
          <a:p>
            <a:pPr algn="ctr">
              <a:lnSpc>
                <a:spcPct val="135000"/>
              </a:lnSpc>
              <a:spcAft>
                <a:spcPts val="300"/>
              </a:spcAft>
              <a:defRPr sz="1400" b="1">
                <a:solidFill>
                  <a:srgbClr val="6C7582"/>
                </a:solidFill>
                <a:latin typeface="Meiryo"/>
              </a:defRPr>
            </a:pPr>
            <a:r>
              <a:rPr sz="1400" b="1">
                <a:solidFill>
                  <a:srgbClr val="6C7582"/>
                </a:solidFill>
                <a:latin typeface="Meiryo"/>
              </a:rPr>
              <a:t>▶</a:t>
            </a:r>
          </a:p>
        </p:txBody>
      </p:sp>
      <p:sp>
        <p:nvSpPr>
          <p:cNvPr id="15" name="Rectangle 14"/>
          <p:cNvSpPr/>
          <p:nvPr/>
        </p:nvSpPr>
        <p:spPr>
          <a:xfrm>
            <a:off x="5961888" y="2048255"/>
            <a:ext cx="5669280" cy="1225296"/>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181344" y="2304287"/>
            <a:ext cx="5230368" cy="274320"/>
          </a:xfrm>
          <a:prstGeom prst="rect">
            <a:avLst/>
          </a:prstGeom>
          <a:noFill/>
        </p:spPr>
        <p:txBody>
          <a:bodyPr wrap="square" lIns="0" rIns="0" tIns="0" bIns="0" anchor="t">
            <a:spAutoFit/>
          </a:bodyPr>
          <a:lstStyle/>
          <a:p>
            <a:pPr algn="l">
              <a:lnSpc>
                <a:spcPct val="135000"/>
              </a:lnSpc>
              <a:spcAft>
                <a:spcPts val="300"/>
              </a:spcAft>
              <a:defRPr sz="1450" b="1">
                <a:solidFill>
                  <a:srgbClr val="FFFFFF"/>
                </a:solidFill>
                <a:latin typeface="Meiryo"/>
              </a:defRPr>
            </a:pPr>
            <a:r>
              <a:rPr sz="1450" b="1">
                <a:solidFill>
                  <a:srgbClr val="FFFFFF"/>
                </a:solidFill>
                <a:latin typeface="Meiryo"/>
              </a:rPr>
              <a:t>配信エリアを半径50〜80km圏へ戻す</a:t>
            </a:r>
          </a:p>
        </p:txBody>
      </p:sp>
      <p:sp>
        <p:nvSpPr>
          <p:cNvPr id="17" name="TextBox 16"/>
          <p:cNvSpPr txBox="1"/>
          <p:nvPr/>
        </p:nvSpPr>
        <p:spPr>
          <a:xfrm>
            <a:off x="6181344" y="2688335"/>
            <a:ext cx="5230368" cy="457200"/>
          </a:xfrm>
          <a:prstGeom prst="rect">
            <a:avLst/>
          </a:prstGeom>
          <a:noFill/>
        </p:spPr>
        <p:txBody>
          <a:bodyPr wrap="square" lIns="0" rIns="0" tIns="0" bIns="0" anchor="t">
            <a:spAutoFit/>
          </a:bodyPr>
          <a:lstStyle/>
          <a:p>
            <a:pPr algn="l">
              <a:lnSpc>
                <a:spcPct val="140000"/>
              </a:lnSpc>
              <a:spcAft>
                <a:spcPts val="300"/>
              </a:spcAft>
              <a:defRPr sz="950" b="0">
                <a:solidFill>
                  <a:srgbClr val="D6DBE1"/>
                </a:solidFill>
                <a:latin typeface="Meiryo"/>
              </a:defRPr>
            </a:pPr>
            <a:r>
              <a:rPr sz="950" b="0">
                <a:solidFill>
                  <a:srgbClr val="D6DBE1"/>
                </a:solidFill>
                <a:latin typeface="Meiryo"/>
              </a:rPr>
              <a:t>東京は停止せず別枠に分離し、エリア別に成果を測る</a:t>
            </a:r>
          </a:p>
        </p:txBody>
      </p:sp>
      <p:sp>
        <p:nvSpPr>
          <p:cNvPr id="18" name="Rectangle 17"/>
          <p:cNvSpPr/>
          <p:nvPr/>
        </p:nvSpPr>
        <p:spPr>
          <a:xfrm>
            <a:off x="566928" y="3438144"/>
            <a:ext cx="4892040" cy="1225296"/>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3438144"/>
            <a:ext cx="4892040" cy="45720"/>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8096" y="3639312"/>
            <a:ext cx="1188720" cy="219456"/>
          </a:xfrm>
          <a:prstGeom prst="rect">
            <a:avLst/>
          </a:prstGeom>
          <a:noFill/>
        </p:spPr>
        <p:txBody>
          <a:bodyPr wrap="square" lIns="0" rIns="0" tIns="0" bIns="0" anchor="t">
            <a:spAutoFit/>
          </a:bodyPr>
          <a:lstStyle/>
          <a:p>
            <a:pPr algn="l">
              <a:lnSpc>
                <a:spcPct val="135000"/>
              </a:lnSpc>
              <a:spcAft>
                <a:spcPts val="300"/>
              </a:spcAft>
              <a:defRPr sz="1050" b="1">
                <a:solidFill>
                  <a:srgbClr val="A96933"/>
                </a:solidFill>
                <a:latin typeface="Meiryo"/>
              </a:defRPr>
            </a:pPr>
            <a:r>
              <a:rPr sz="1050" b="1">
                <a:solidFill>
                  <a:srgbClr val="A96933"/>
                </a:solidFill>
                <a:latin typeface="Meiryo"/>
              </a:rPr>
              <a:t>課題 02</a:t>
            </a:r>
          </a:p>
        </p:txBody>
      </p:sp>
      <p:sp>
        <p:nvSpPr>
          <p:cNvPr id="21" name="TextBox 20"/>
          <p:cNvSpPr txBox="1"/>
          <p:nvPr/>
        </p:nvSpPr>
        <p:spPr>
          <a:xfrm>
            <a:off x="768096" y="3895344"/>
            <a:ext cx="4489703" cy="274320"/>
          </a:xfrm>
          <a:prstGeom prst="rect">
            <a:avLst/>
          </a:prstGeom>
          <a:noFill/>
        </p:spPr>
        <p:txBody>
          <a:bodyPr wrap="square" lIns="0" rIns="0" tIns="0" bIns="0" anchor="t">
            <a:spAutoFit/>
          </a:bodyPr>
          <a:lstStyle/>
          <a:p>
            <a:pPr algn="l">
              <a:lnSpc>
                <a:spcPct val="135000"/>
              </a:lnSpc>
              <a:spcAft>
                <a:spcPts val="300"/>
              </a:spcAft>
              <a:defRPr sz="1450" b="1">
                <a:solidFill>
                  <a:srgbClr val="2A2E33"/>
                </a:solidFill>
                <a:latin typeface="Meiryo"/>
              </a:defRPr>
            </a:pPr>
            <a:r>
              <a:rPr sz="1450" b="1">
                <a:solidFill>
                  <a:srgbClr val="2A2E33"/>
                </a:solidFill>
                <a:latin typeface="Meiryo"/>
              </a:rPr>
              <a:t>検討層への再接触が足りていない</a:t>
            </a:r>
          </a:p>
        </p:txBody>
      </p:sp>
      <p:sp>
        <p:nvSpPr>
          <p:cNvPr id="22" name="TextBox 21"/>
          <p:cNvSpPr txBox="1"/>
          <p:nvPr/>
        </p:nvSpPr>
        <p:spPr>
          <a:xfrm>
            <a:off x="768096" y="4224528"/>
            <a:ext cx="4489703" cy="310896"/>
          </a:xfrm>
          <a:prstGeom prst="rect">
            <a:avLst/>
          </a:prstGeom>
          <a:noFill/>
        </p:spPr>
        <p:txBody>
          <a:bodyPr wrap="square" lIns="0" rIns="0" tIns="0" bIns="0" anchor="t">
            <a:spAutoFit/>
          </a:bodyPr>
          <a:lstStyle/>
          <a:p>
            <a:pPr algn="l">
              <a:lnSpc>
                <a:spcPct val="135000"/>
              </a:lnSpc>
              <a:spcAft>
                <a:spcPts val="300"/>
              </a:spcAft>
              <a:defRPr sz="950" b="0">
                <a:solidFill>
                  <a:srgbClr val="8A929C"/>
                </a:solidFill>
                <a:latin typeface="Meiryo"/>
              </a:defRPr>
            </a:pPr>
            <a:r>
              <a:rPr sz="950" b="0">
                <a:solidFill>
                  <a:srgbClr val="8A929C"/>
                </a:solidFill>
                <a:latin typeface="Meiryo"/>
              </a:rPr>
              <a:t>クリック率は1.57倍なのに予算9%・接触2.12回</a:t>
            </a:r>
          </a:p>
        </p:txBody>
      </p:sp>
      <p:sp>
        <p:nvSpPr>
          <p:cNvPr id="23" name="TextBox 22"/>
          <p:cNvSpPr txBox="1"/>
          <p:nvPr/>
        </p:nvSpPr>
        <p:spPr>
          <a:xfrm>
            <a:off x="5513831" y="3858768"/>
            <a:ext cx="384048" cy="310896"/>
          </a:xfrm>
          <a:prstGeom prst="rect">
            <a:avLst/>
          </a:prstGeom>
          <a:noFill/>
        </p:spPr>
        <p:txBody>
          <a:bodyPr wrap="square" lIns="0" rIns="0" tIns="0" bIns="0" anchor="t">
            <a:spAutoFit/>
          </a:bodyPr>
          <a:lstStyle/>
          <a:p>
            <a:pPr algn="ctr">
              <a:lnSpc>
                <a:spcPct val="135000"/>
              </a:lnSpc>
              <a:spcAft>
                <a:spcPts val="300"/>
              </a:spcAft>
              <a:defRPr sz="1400" b="1">
                <a:solidFill>
                  <a:srgbClr val="6C7582"/>
                </a:solidFill>
                <a:latin typeface="Meiryo"/>
              </a:defRPr>
            </a:pPr>
            <a:r>
              <a:rPr sz="1400" b="1">
                <a:solidFill>
                  <a:srgbClr val="6C7582"/>
                </a:solidFill>
                <a:latin typeface="Meiryo"/>
              </a:rPr>
              <a:t>▶</a:t>
            </a:r>
          </a:p>
        </p:txBody>
      </p:sp>
      <p:sp>
        <p:nvSpPr>
          <p:cNvPr id="24" name="Rectangle 23"/>
          <p:cNvSpPr/>
          <p:nvPr/>
        </p:nvSpPr>
        <p:spPr>
          <a:xfrm>
            <a:off x="5961888" y="3438144"/>
            <a:ext cx="5669280" cy="1225296"/>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181344" y="3694176"/>
            <a:ext cx="5230368" cy="274320"/>
          </a:xfrm>
          <a:prstGeom prst="rect">
            <a:avLst/>
          </a:prstGeom>
          <a:noFill/>
        </p:spPr>
        <p:txBody>
          <a:bodyPr wrap="square" lIns="0" rIns="0" tIns="0" bIns="0" anchor="t">
            <a:spAutoFit/>
          </a:bodyPr>
          <a:lstStyle/>
          <a:p>
            <a:pPr algn="l">
              <a:lnSpc>
                <a:spcPct val="135000"/>
              </a:lnSpc>
              <a:spcAft>
                <a:spcPts val="300"/>
              </a:spcAft>
              <a:defRPr sz="1450" b="1">
                <a:solidFill>
                  <a:srgbClr val="FFFFFF"/>
                </a:solidFill>
                <a:latin typeface="Meiryo"/>
              </a:defRPr>
            </a:pPr>
            <a:r>
              <a:rPr sz="1450" b="1">
                <a:solidFill>
                  <a:srgbClr val="FFFFFF"/>
                </a:solidFill>
                <a:latin typeface="Meiryo"/>
              </a:rPr>
              <a:t>リターゲティングを強化する</a:t>
            </a:r>
          </a:p>
        </p:txBody>
      </p:sp>
      <p:sp>
        <p:nvSpPr>
          <p:cNvPr id="26" name="TextBox 25"/>
          <p:cNvSpPr txBox="1"/>
          <p:nvPr/>
        </p:nvSpPr>
        <p:spPr>
          <a:xfrm>
            <a:off x="6181344" y="4078224"/>
            <a:ext cx="5230368" cy="457200"/>
          </a:xfrm>
          <a:prstGeom prst="rect">
            <a:avLst/>
          </a:prstGeom>
          <a:noFill/>
        </p:spPr>
        <p:txBody>
          <a:bodyPr wrap="square" lIns="0" rIns="0" tIns="0" bIns="0" anchor="t">
            <a:spAutoFit/>
          </a:bodyPr>
          <a:lstStyle/>
          <a:p>
            <a:pPr algn="l">
              <a:lnSpc>
                <a:spcPct val="140000"/>
              </a:lnSpc>
              <a:spcAft>
                <a:spcPts val="300"/>
              </a:spcAft>
              <a:defRPr sz="950" b="0">
                <a:solidFill>
                  <a:srgbClr val="D6DBE1"/>
                </a:solidFill>
                <a:latin typeface="Meiryo"/>
              </a:defRPr>
            </a:pPr>
            <a:r>
              <a:rPr sz="950" b="0">
                <a:solidFill>
                  <a:srgbClr val="D6DBE1"/>
                </a:solidFill>
                <a:latin typeface="Meiryo"/>
              </a:rPr>
              <a:t>比率を9%→20〜25%、接触回数4〜5回／オーディエンス拡張</a:t>
            </a:r>
          </a:p>
        </p:txBody>
      </p:sp>
      <p:sp>
        <p:nvSpPr>
          <p:cNvPr id="27" name="Rectangle 26"/>
          <p:cNvSpPr/>
          <p:nvPr/>
        </p:nvSpPr>
        <p:spPr>
          <a:xfrm>
            <a:off x="566928" y="4828031"/>
            <a:ext cx="4892040" cy="1225296"/>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66928" y="4828031"/>
            <a:ext cx="4892040" cy="45720"/>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68096" y="5029199"/>
            <a:ext cx="1188720" cy="219456"/>
          </a:xfrm>
          <a:prstGeom prst="rect">
            <a:avLst/>
          </a:prstGeom>
          <a:noFill/>
        </p:spPr>
        <p:txBody>
          <a:bodyPr wrap="square" lIns="0" rIns="0" tIns="0" bIns="0" anchor="t">
            <a:spAutoFit/>
          </a:bodyPr>
          <a:lstStyle/>
          <a:p>
            <a:pPr algn="l">
              <a:lnSpc>
                <a:spcPct val="135000"/>
              </a:lnSpc>
              <a:spcAft>
                <a:spcPts val="300"/>
              </a:spcAft>
              <a:defRPr sz="1050" b="1">
                <a:solidFill>
                  <a:srgbClr val="A96933"/>
                </a:solidFill>
                <a:latin typeface="Meiryo"/>
              </a:defRPr>
            </a:pPr>
            <a:r>
              <a:rPr sz="1050" b="1">
                <a:solidFill>
                  <a:srgbClr val="A96933"/>
                </a:solidFill>
                <a:latin typeface="Meiryo"/>
              </a:rPr>
              <a:t>課題 03</a:t>
            </a:r>
          </a:p>
        </p:txBody>
      </p:sp>
      <p:sp>
        <p:nvSpPr>
          <p:cNvPr id="30" name="TextBox 29"/>
          <p:cNvSpPr txBox="1"/>
          <p:nvPr/>
        </p:nvSpPr>
        <p:spPr>
          <a:xfrm>
            <a:off x="768096" y="5285231"/>
            <a:ext cx="4489703" cy="274320"/>
          </a:xfrm>
          <a:prstGeom prst="rect">
            <a:avLst/>
          </a:prstGeom>
          <a:noFill/>
        </p:spPr>
        <p:txBody>
          <a:bodyPr wrap="square" lIns="0" rIns="0" tIns="0" bIns="0" anchor="t">
            <a:spAutoFit/>
          </a:bodyPr>
          <a:lstStyle/>
          <a:p>
            <a:pPr algn="l">
              <a:lnSpc>
                <a:spcPct val="135000"/>
              </a:lnSpc>
              <a:spcAft>
                <a:spcPts val="300"/>
              </a:spcAft>
              <a:defRPr sz="1450" b="1">
                <a:solidFill>
                  <a:srgbClr val="2A2E33"/>
                </a:solidFill>
                <a:latin typeface="Meiryo"/>
              </a:defRPr>
            </a:pPr>
            <a:r>
              <a:rPr sz="1450" b="1">
                <a:solidFill>
                  <a:srgbClr val="2A2E33"/>
                </a:solidFill>
                <a:latin typeface="Meiryo"/>
              </a:rPr>
              <a:t>配信面と媒体構成に偏りがある</a:t>
            </a:r>
          </a:p>
        </p:txBody>
      </p:sp>
      <p:sp>
        <p:nvSpPr>
          <p:cNvPr id="31" name="TextBox 30"/>
          <p:cNvSpPr txBox="1"/>
          <p:nvPr/>
        </p:nvSpPr>
        <p:spPr>
          <a:xfrm>
            <a:off x="768096" y="5614416"/>
            <a:ext cx="4489703" cy="310896"/>
          </a:xfrm>
          <a:prstGeom prst="rect">
            <a:avLst/>
          </a:prstGeom>
          <a:noFill/>
        </p:spPr>
        <p:txBody>
          <a:bodyPr wrap="square" lIns="0" rIns="0" tIns="0" bIns="0" anchor="t">
            <a:spAutoFit/>
          </a:bodyPr>
          <a:lstStyle/>
          <a:p>
            <a:pPr algn="l">
              <a:lnSpc>
                <a:spcPct val="135000"/>
              </a:lnSpc>
              <a:spcAft>
                <a:spcPts val="300"/>
              </a:spcAft>
              <a:defRPr sz="950" b="0">
                <a:solidFill>
                  <a:srgbClr val="8A929C"/>
                </a:solidFill>
                <a:latin typeface="Meiryo"/>
              </a:defRPr>
            </a:pPr>
            <a:r>
              <a:rPr sz="950" b="0">
                <a:solidFill>
                  <a:srgbClr val="8A929C"/>
                </a:solidFill>
                <a:latin typeface="Meiryo"/>
              </a:rPr>
              <a:t>DV360の到達率15.9%／7月はMeta83%の一極集中</a:t>
            </a:r>
          </a:p>
        </p:txBody>
      </p:sp>
      <p:sp>
        <p:nvSpPr>
          <p:cNvPr id="32" name="TextBox 31"/>
          <p:cNvSpPr txBox="1"/>
          <p:nvPr/>
        </p:nvSpPr>
        <p:spPr>
          <a:xfrm>
            <a:off x="5513831" y="5248655"/>
            <a:ext cx="384048" cy="310896"/>
          </a:xfrm>
          <a:prstGeom prst="rect">
            <a:avLst/>
          </a:prstGeom>
          <a:noFill/>
        </p:spPr>
        <p:txBody>
          <a:bodyPr wrap="square" lIns="0" rIns="0" tIns="0" bIns="0" anchor="t">
            <a:spAutoFit/>
          </a:bodyPr>
          <a:lstStyle/>
          <a:p>
            <a:pPr algn="ctr">
              <a:lnSpc>
                <a:spcPct val="135000"/>
              </a:lnSpc>
              <a:spcAft>
                <a:spcPts val="300"/>
              </a:spcAft>
              <a:defRPr sz="1400" b="1">
                <a:solidFill>
                  <a:srgbClr val="6C7582"/>
                </a:solidFill>
                <a:latin typeface="Meiryo"/>
              </a:defRPr>
            </a:pPr>
            <a:r>
              <a:rPr sz="1400" b="1">
                <a:solidFill>
                  <a:srgbClr val="6C7582"/>
                </a:solidFill>
                <a:latin typeface="Meiryo"/>
              </a:rPr>
              <a:t>▶</a:t>
            </a:r>
          </a:p>
        </p:txBody>
      </p:sp>
      <p:sp>
        <p:nvSpPr>
          <p:cNvPr id="33" name="Rectangle 32"/>
          <p:cNvSpPr/>
          <p:nvPr/>
        </p:nvSpPr>
        <p:spPr>
          <a:xfrm>
            <a:off x="5961888" y="4828031"/>
            <a:ext cx="5669280" cy="1225296"/>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181344" y="5084064"/>
            <a:ext cx="5230368" cy="274320"/>
          </a:xfrm>
          <a:prstGeom prst="rect">
            <a:avLst/>
          </a:prstGeom>
          <a:noFill/>
        </p:spPr>
        <p:txBody>
          <a:bodyPr wrap="square" lIns="0" rIns="0" tIns="0" bIns="0" anchor="t">
            <a:spAutoFit/>
          </a:bodyPr>
          <a:lstStyle/>
          <a:p>
            <a:pPr algn="l">
              <a:lnSpc>
                <a:spcPct val="135000"/>
              </a:lnSpc>
              <a:spcAft>
                <a:spcPts val="300"/>
              </a:spcAft>
              <a:defRPr sz="1450" b="1">
                <a:solidFill>
                  <a:srgbClr val="FFFFFF"/>
                </a:solidFill>
                <a:latin typeface="Meiryo"/>
              </a:defRPr>
            </a:pPr>
            <a:r>
              <a:rPr sz="1450" b="1">
                <a:solidFill>
                  <a:srgbClr val="FFFFFF"/>
                </a:solidFill>
                <a:latin typeface="Meiryo"/>
              </a:rPr>
              <a:t>配信面を整理し、媒体構成を戻す</a:t>
            </a:r>
          </a:p>
        </p:txBody>
      </p:sp>
      <p:sp>
        <p:nvSpPr>
          <p:cNvPr id="35" name="TextBox 34"/>
          <p:cNvSpPr txBox="1"/>
          <p:nvPr/>
        </p:nvSpPr>
        <p:spPr>
          <a:xfrm>
            <a:off x="6181344" y="5468112"/>
            <a:ext cx="5230368" cy="457200"/>
          </a:xfrm>
          <a:prstGeom prst="rect">
            <a:avLst/>
          </a:prstGeom>
          <a:noFill/>
        </p:spPr>
        <p:txBody>
          <a:bodyPr wrap="square" lIns="0" rIns="0" tIns="0" bIns="0" anchor="t">
            <a:spAutoFit/>
          </a:bodyPr>
          <a:lstStyle/>
          <a:p>
            <a:pPr algn="l">
              <a:lnSpc>
                <a:spcPct val="140000"/>
              </a:lnSpc>
              <a:spcAft>
                <a:spcPts val="300"/>
              </a:spcAft>
              <a:defRPr sz="950" b="0">
                <a:solidFill>
                  <a:srgbClr val="D6DBE1"/>
                </a:solidFill>
                <a:latin typeface="Meiryo"/>
              </a:defRPr>
            </a:pPr>
            <a:r>
              <a:rPr sz="950" b="0">
                <a:solidFill>
                  <a:srgbClr val="D6DBE1"/>
                </a:solidFill>
                <a:latin typeface="Meiryo"/>
              </a:rPr>
              <a:t>65面を除外して再開／Google広告を第1期水準へ／LINEヤフー再開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57200"/>
            <a:ext cx="82296" cy="237744"/>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31520" y="438912"/>
            <a:ext cx="10515600" cy="274320"/>
          </a:xfrm>
          <a:prstGeom prst="rect">
            <a:avLst/>
          </a:prstGeom>
          <a:noFill/>
        </p:spPr>
        <p:txBody>
          <a:bodyPr wrap="square" lIns="0" rIns="0" tIns="0" bIns="0" anchor="t">
            <a:spAutoFit/>
          </a:bodyPr>
          <a:lstStyle/>
          <a:p>
            <a:pPr algn="l">
              <a:lnSpc>
                <a:spcPct val="135000"/>
              </a:lnSpc>
              <a:spcAft>
                <a:spcPts val="300"/>
              </a:spcAft>
              <a:defRPr sz="1150" b="1">
                <a:solidFill>
                  <a:srgbClr val="405D7B"/>
                </a:solidFill>
                <a:latin typeface="Meiryo"/>
              </a:defRPr>
            </a:pPr>
            <a:r>
              <a:rPr sz="1150" b="1">
                <a:solidFill>
                  <a:srgbClr val="405D7B"/>
                </a:solidFill>
                <a:latin typeface="Meiryo"/>
              </a:rPr>
              <a:t>5 提案</a:t>
            </a:r>
          </a:p>
        </p:txBody>
      </p:sp>
      <p:sp>
        <p:nvSpPr>
          <p:cNvPr id="4" name="TextBox 3"/>
          <p:cNvSpPr txBox="1"/>
          <p:nvPr/>
        </p:nvSpPr>
        <p:spPr>
          <a:xfrm>
            <a:off x="530352" y="731520"/>
            <a:ext cx="10972800" cy="566928"/>
          </a:xfrm>
          <a:prstGeom prst="rect">
            <a:avLst/>
          </a:prstGeom>
          <a:noFill/>
        </p:spPr>
        <p:txBody>
          <a:bodyPr wrap="square" lIns="0" rIns="0" tIns="0" bIns="0" anchor="t">
            <a:spAutoFit/>
          </a:bodyPr>
          <a:lstStyle/>
          <a:p>
            <a:pPr algn="l">
              <a:lnSpc>
                <a:spcPct val="115000"/>
              </a:lnSpc>
              <a:spcAft>
                <a:spcPts val="300"/>
              </a:spcAft>
              <a:defRPr sz="2700" b="1">
                <a:solidFill>
                  <a:srgbClr val="2A2E33"/>
                </a:solidFill>
                <a:latin typeface="Meiryo"/>
              </a:defRPr>
            </a:pPr>
            <a:r>
              <a:rPr sz="2700" b="1">
                <a:solidFill>
                  <a:srgbClr val="2A2E33"/>
                </a:solidFill>
                <a:latin typeface="Meiryo"/>
              </a:rPr>
              <a:t>2026年8月 配信プラン</a:t>
            </a:r>
          </a:p>
        </p:txBody>
      </p:sp>
      <p:sp>
        <p:nvSpPr>
          <p:cNvPr id="5" name="Rectangle 4"/>
          <p:cNvSpPr/>
          <p:nvPr/>
        </p:nvSpPr>
        <p:spPr>
          <a:xfrm>
            <a:off x="566928" y="1399032"/>
            <a:ext cx="1600200" cy="45720"/>
          </a:xfrm>
          <a:prstGeom prst="rect">
            <a:avLst/>
          </a:prstGeom>
          <a:solidFill>
            <a:srgbClr val="334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6928" y="1417320"/>
            <a:ext cx="11064240" cy="9144"/>
          </a:xfrm>
          <a:prstGeom prst="rect">
            <a:avLst/>
          </a:prstGeom>
          <a:solidFill>
            <a:srgbClr val="E2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338560" y="6510528"/>
            <a:ext cx="640080" cy="274320"/>
          </a:xfrm>
          <a:prstGeom prst="rect">
            <a:avLst/>
          </a:prstGeom>
          <a:noFill/>
        </p:spPr>
        <p:txBody>
          <a:bodyPr wrap="square" lIns="0" rIns="0" tIns="0" bIns="0" anchor="t">
            <a:spAutoFit/>
          </a:bodyPr>
          <a:lstStyle/>
          <a:p>
            <a:pPr algn="r">
              <a:lnSpc>
                <a:spcPct val="135000"/>
              </a:lnSpc>
              <a:spcAft>
                <a:spcPts val="300"/>
              </a:spcAft>
              <a:defRPr sz="1050" b="0">
                <a:solidFill>
                  <a:srgbClr val="8A929C"/>
                </a:solidFill>
                <a:latin typeface="Meiryo"/>
              </a:defRPr>
            </a:pPr>
            <a:r>
              <a:rPr sz="1050" b="0">
                <a:solidFill>
                  <a:srgbClr val="8A929C"/>
                </a:solidFill>
                <a:latin typeface="Meiryo"/>
              </a:rPr>
              <a:t>25</a:t>
            </a:r>
          </a:p>
        </p:txBody>
      </p:sp>
      <p:sp>
        <p:nvSpPr>
          <p:cNvPr id="8" name="TextBox 7"/>
          <p:cNvSpPr txBox="1"/>
          <p:nvPr/>
        </p:nvSpPr>
        <p:spPr>
          <a:xfrm>
            <a:off x="566928" y="1536192"/>
            <a:ext cx="11064240" cy="274320"/>
          </a:xfrm>
          <a:prstGeom prst="rect">
            <a:avLst/>
          </a:prstGeom>
          <a:noFill/>
        </p:spPr>
        <p:txBody>
          <a:bodyPr wrap="square" lIns="0" rIns="0" tIns="0" bIns="0" anchor="t">
            <a:spAutoFit/>
          </a:bodyPr>
          <a:lstStyle/>
          <a:p>
            <a:pPr algn="l">
              <a:lnSpc>
                <a:spcPct val="135000"/>
              </a:lnSpc>
              <a:spcAft>
                <a:spcPts val="300"/>
              </a:spcAft>
              <a:defRPr sz="1150" b="0">
                <a:solidFill>
                  <a:srgbClr val="8A929C"/>
                </a:solidFill>
                <a:latin typeface="Meiryo"/>
              </a:defRPr>
            </a:pPr>
            <a:r>
              <a:rPr sz="1150" b="0">
                <a:solidFill>
                  <a:srgbClr val="8A929C"/>
                </a:solidFill>
                <a:latin typeface="Meiryo"/>
              </a:rPr>
              <a:t>視察プレー期間（7月11日〜8月30日）の最終月。期間限定オファーの刈り取り月として設計します。</a:t>
            </a:r>
          </a:p>
        </p:txBody>
      </p:sp>
      <p:sp>
        <p:nvSpPr>
          <p:cNvPr id="9" name="Rectangle 8"/>
          <p:cNvSpPr/>
          <p:nvPr/>
        </p:nvSpPr>
        <p:spPr>
          <a:xfrm>
            <a:off x="566928" y="1956815"/>
            <a:ext cx="11064240" cy="384048"/>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6656" y="1956815"/>
            <a:ext cx="2197940" cy="384048"/>
          </a:xfrm>
          <a:prstGeom prst="rect">
            <a:avLst/>
          </a:prstGeom>
          <a:noFill/>
        </p:spPr>
        <p:txBody>
          <a:bodyPr wrap="square" lIns="0" rIns="0" tIns="0" bIns="0" anchor="ctr">
            <a:spAutoFit/>
          </a:bodyPr>
          <a:lstStyle/>
          <a:p>
            <a:pPr algn="l">
              <a:lnSpc>
                <a:spcPct val="100000"/>
              </a:lnSpc>
              <a:spcAft>
                <a:spcPts val="0"/>
              </a:spcAft>
              <a:defRPr sz="1150" b="1">
                <a:solidFill>
                  <a:srgbClr val="FFFFFF"/>
                </a:solidFill>
                <a:latin typeface="Meiryo"/>
              </a:defRPr>
            </a:pPr>
            <a:r>
              <a:rPr sz="1150" b="1">
                <a:solidFill>
                  <a:srgbClr val="FFFFFF"/>
                </a:solidFill>
                <a:latin typeface="Meiryo"/>
              </a:rPr>
              <a:t>媒体</a:t>
            </a:r>
          </a:p>
        </p:txBody>
      </p:sp>
      <p:sp>
        <p:nvSpPr>
          <p:cNvPr id="11" name="TextBox 10"/>
          <p:cNvSpPr txBox="1"/>
          <p:nvPr/>
        </p:nvSpPr>
        <p:spPr>
          <a:xfrm>
            <a:off x="3094052" y="1956815"/>
            <a:ext cx="5266175" cy="384048"/>
          </a:xfrm>
          <a:prstGeom prst="rect">
            <a:avLst/>
          </a:prstGeom>
          <a:noFill/>
        </p:spPr>
        <p:txBody>
          <a:bodyPr wrap="square" lIns="0" rIns="0" tIns="0" bIns="0" anchor="ctr">
            <a:spAutoFit/>
          </a:bodyPr>
          <a:lstStyle/>
          <a:p>
            <a:pPr algn="l">
              <a:lnSpc>
                <a:spcPct val="100000"/>
              </a:lnSpc>
              <a:spcAft>
                <a:spcPts val="0"/>
              </a:spcAft>
              <a:defRPr sz="1150" b="1">
                <a:solidFill>
                  <a:srgbClr val="FFFFFF"/>
                </a:solidFill>
                <a:latin typeface="Meiryo"/>
              </a:defRPr>
            </a:pPr>
            <a:r>
              <a:rPr sz="1150" b="1">
                <a:solidFill>
                  <a:srgbClr val="FFFFFF"/>
                </a:solidFill>
                <a:latin typeface="Meiryo"/>
              </a:rPr>
              <a:t>役割・設定</a:t>
            </a:r>
          </a:p>
        </p:txBody>
      </p:sp>
      <p:sp>
        <p:nvSpPr>
          <p:cNvPr id="12" name="TextBox 11"/>
          <p:cNvSpPr txBox="1"/>
          <p:nvPr/>
        </p:nvSpPr>
        <p:spPr>
          <a:xfrm>
            <a:off x="8579684" y="1956815"/>
            <a:ext cx="1454126" cy="384048"/>
          </a:xfrm>
          <a:prstGeom prst="rect">
            <a:avLst/>
          </a:prstGeom>
          <a:noFill/>
        </p:spPr>
        <p:txBody>
          <a:bodyPr wrap="square" lIns="0" rIns="0" tIns="0" bIns="0" anchor="ctr">
            <a:spAutoFit/>
          </a:bodyPr>
          <a:lstStyle/>
          <a:p>
            <a:pPr algn="r">
              <a:lnSpc>
                <a:spcPct val="100000"/>
              </a:lnSpc>
              <a:spcAft>
                <a:spcPts val="0"/>
              </a:spcAft>
              <a:defRPr sz="1150" b="1">
                <a:solidFill>
                  <a:srgbClr val="FFFFFF"/>
                </a:solidFill>
                <a:latin typeface="Meiryo"/>
              </a:defRPr>
            </a:pPr>
            <a:r>
              <a:rPr sz="1150" b="1">
                <a:solidFill>
                  <a:srgbClr val="FFFFFF"/>
                </a:solidFill>
                <a:latin typeface="Meiryo"/>
              </a:rPr>
              <a:t>配信費</a:t>
            </a:r>
          </a:p>
        </p:txBody>
      </p:sp>
      <p:sp>
        <p:nvSpPr>
          <p:cNvPr id="13" name="TextBox 12"/>
          <p:cNvSpPr txBox="1"/>
          <p:nvPr/>
        </p:nvSpPr>
        <p:spPr>
          <a:xfrm>
            <a:off x="10253267" y="1956815"/>
            <a:ext cx="1268172" cy="384048"/>
          </a:xfrm>
          <a:prstGeom prst="rect">
            <a:avLst/>
          </a:prstGeom>
          <a:noFill/>
        </p:spPr>
        <p:txBody>
          <a:bodyPr wrap="square" lIns="0" rIns="0" tIns="0" bIns="0" anchor="ctr">
            <a:spAutoFit/>
          </a:bodyPr>
          <a:lstStyle/>
          <a:p>
            <a:pPr algn="r">
              <a:lnSpc>
                <a:spcPct val="100000"/>
              </a:lnSpc>
              <a:spcAft>
                <a:spcPts val="0"/>
              </a:spcAft>
              <a:defRPr sz="1150" b="1">
                <a:solidFill>
                  <a:srgbClr val="FFFFFF"/>
                </a:solidFill>
                <a:latin typeface="Meiryo"/>
              </a:defRPr>
            </a:pPr>
            <a:r>
              <a:rPr sz="1150" b="1">
                <a:solidFill>
                  <a:srgbClr val="FFFFFF"/>
                </a:solidFill>
                <a:latin typeface="Meiryo"/>
              </a:rPr>
              <a:t>構成比</a:t>
            </a:r>
          </a:p>
        </p:txBody>
      </p:sp>
      <p:sp>
        <p:nvSpPr>
          <p:cNvPr id="14" name="Rectangle 13"/>
          <p:cNvSpPr/>
          <p:nvPr/>
        </p:nvSpPr>
        <p:spPr>
          <a:xfrm>
            <a:off x="566928" y="2340863"/>
            <a:ext cx="1106424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76656" y="2340863"/>
            <a:ext cx="2197940"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Meta広告</a:t>
            </a:r>
          </a:p>
        </p:txBody>
      </p:sp>
      <p:sp>
        <p:nvSpPr>
          <p:cNvPr id="16" name="TextBox 15"/>
          <p:cNvSpPr txBox="1"/>
          <p:nvPr/>
        </p:nvSpPr>
        <p:spPr>
          <a:xfrm>
            <a:off x="3094052" y="2340863"/>
            <a:ext cx="5266175"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半径50〜80km（55%）／東京別枠（20%）／リターゲティング（25%）</a:t>
            </a:r>
          </a:p>
        </p:txBody>
      </p:sp>
      <p:sp>
        <p:nvSpPr>
          <p:cNvPr id="17" name="TextBox 16"/>
          <p:cNvSpPr txBox="1"/>
          <p:nvPr/>
        </p:nvSpPr>
        <p:spPr>
          <a:xfrm>
            <a:off x="8579684" y="2340863"/>
            <a:ext cx="1454126"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¥200,000</a:t>
            </a:r>
          </a:p>
        </p:txBody>
      </p:sp>
      <p:sp>
        <p:nvSpPr>
          <p:cNvPr id="18" name="TextBox 17"/>
          <p:cNvSpPr txBox="1"/>
          <p:nvPr/>
        </p:nvSpPr>
        <p:spPr>
          <a:xfrm>
            <a:off x="10253267" y="2340863"/>
            <a:ext cx="1268172"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47.6%</a:t>
            </a:r>
          </a:p>
        </p:txBody>
      </p:sp>
      <p:sp>
        <p:nvSpPr>
          <p:cNvPr id="19" name="Rectangle 18"/>
          <p:cNvSpPr/>
          <p:nvPr/>
        </p:nvSpPr>
        <p:spPr>
          <a:xfrm>
            <a:off x="566928" y="2706623"/>
            <a:ext cx="11064240" cy="365760"/>
          </a:xfrm>
          <a:prstGeom prst="rect">
            <a:avLst/>
          </a:prstGeom>
          <a:solidFill>
            <a:srgbClr val="EE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76656" y="2706623"/>
            <a:ext cx="2197940"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Google広告（P-MAX）</a:t>
            </a:r>
          </a:p>
        </p:txBody>
      </p:sp>
      <p:sp>
        <p:nvSpPr>
          <p:cNvPr id="21" name="TextBox 20"/>
          <p:cNvSpPr txBox="1"/>
          <p:nvPr/>
        </p:nvSpPr>
        <p:spPr>
          <a:xfrm>
            <a:off x="3094052" y="2706623"/>
            <a:ext cx="5266175"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半径50〜80km＋東京別枠／クラブ名検索を除外</a:t>
            </a:r>
          </a:p>
        </p:txBody>
      </p:sp>
      <p:sp>
        <p:nvSpPr>
          <p:cNvPr id="22" name="TextBox 21"/>
          <p:cNvSpPr txBox="1"/>
          <p:nvPr/>
        </p:nvSpPr>
        <p:spPr>
          <a:xfrm>
            <a:off x="8579684" y="2706623"/>
            <a:ext cx="1454126"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¥80,000</a:t>
            </a:r>
          </a:p>
        </p:txBody>
      </p:sp>
      <p:sp>
        <p:nvSpPr>
          <p:cNvPr id="23" name="TextBox 22"/>
          <p:cNvSpPr txBox="1"/>
          <p:nvPr/>
        </p:nvSpPr>
        <p:spPr>
          <a:xfrm>
            <a:off x="10253267" y="2706623"/>
            <a:ext cx="1268172"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19.0%</a:t>
            </a:r>
          </a:p>
        </p:txBody>
      </p:sp>
      <p:sp>
        <p:nvSpPr>
          <p:cNvPr id="24" name="Rectangle 23"/>
          <p:cNvSpPr/>
          <p:nvPr/>
        </p:nvSpPr>
        <p:spPr>
          <a:xfrm>
            <a:off x="566928" y="3072383"/>
            <a:ext cx="1106424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76656" y="3072383"/>
            <a:ext cx="2197940"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DV360</a:t>
            </a:r>
          </a:p>
        </p:txBody>
      </p:sp>
      <p:sp>
        <p:nvSpPr>
          <p:cNvPr id="26" name="TextBox 25"/>
          <p:cNvSpPr txBox="1"/>
          <p:nvPr/>
        </p:nvSpPr>
        <p:spPr>
          <a:xfrm>
            <a:off x="3094052" y="3072383"/>
            <a:ext cx="5266175"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競合店GEO／クリック率5%超の65面を除外</a:t>
            </a:r>
          </a:p>
        </p:txBody>
      </p:sp>
      <p:sp>
        <p:nvSpPr>
          <p:cNvPr id="27" name="TextBox 26"/>
          <p:cNvSpPr txBox="1"/>
          <p:nvPr/>
        </p:nvSpPr>
        <p:spPr>
          <a:xfrm>
            <a:off x="8579684" y="3072383"/>
            <a:ext cx="1454126"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¥80,000</a:t>
            </a:r>
          </a:p>
        </p:txBody>
      </p:sp>
      <p:sp>
        <p:nvSpPr>
          <p:cNvPr id="28" name="TextBox 27"/>
          <p:cNvSpPr txBox="1"/>
          <p:nvPr/>
        </p:nvSpPr>
        <p:spPr>
          <a:xfrm>
            <a:off x="10253267" y="3072383"/>
            <a:ext cx="1268172"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19.0%</a:t>
            </a:r>
          </a:p>
        </p:txBody>
      </p:sp>
      <p:sp>
        <p:nvSpPr>
          <p:cNvPr id="29" name="Rectangle 28"/>
          <p:cNvSpPr/>
          <p:nvPr/>
        </p:nvSpPr>
        <p:spPr>
          <a:xfrm>
            <a:off x="566928" y="3438143"/>
            <a:ext cx="11064240" cy="365760"/>
          </a:xfrm>
          <a:prstGeom prst="rect">
            <a:avLst/>
          </a:prstGeom>
          <a:solidFill>
            <a:srgbClr val="EE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76656" y="3438143"/>
            <a:ext cx="2197940"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LINEヤフー広告</a:t>
            </a:r>
          </a:p>
        </p:txBody>
      </p:sp>
      <p:sp>
        <p:nvSpPr>
          <p:cNvPr id="31" name="TextBox 30"/>
          <p:cNvSpPr txBox="1"/>
          <p:nvPr/>
        </p:nvSpPr>
        <p:spPr>
          <a:xfrm>
            <a:off x="3094052" y="3438143"/>
            <a:ext cx="5266175"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長野県東信＋群馬県西部／既存アカウントを再開</a:t>
            </a:r>
          </a:p>
        </p:txBody>
      </p:sp>
      <p:sp>
        <p:nvSpPr>
          <p:cNvPr id="32" name="TextBox 31"/>
          <p:cNvSpPr txBox="1"/>
          <p:nvPr/>
        </p:nvSpPr>
        <p:spPr>
          <a:xfrm>
            <a:off x="8579684" y="3438143"/>
            <a:ext cx="1454126"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¥60,000</a:t>
            </a:r>
          </a:p>
        </p:txBody>
      </p:sp>
      <p:sp>
        <p:nvSpPr>
          <p:cNvPr id="33" name="TextBox 32"/>
          <p:cNvSpPr txBox="1"/>
          <p:nvPr/>
        </p:nvSpPr>
        <p:spPr>
          <a:xfrm>
            <a:off x="10253267" y="3438143"/>
            <a:ext cx="1268172"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14.3%</a:t>
            </a:r>
          </a:p>
        </p:txBody>
      </p:sp>
      <p:sp>
        <p:nvSpPr>
          <p:cNvPr id="34" name="Rectangle 33"/>
          <p:cNvSpPr/>
          <p:nvPr/>
        </p:nvSpPr>
        <p:spPr>
          <a:xfrm>
            <a:off x="566928" y="3803903"/>
            <a:ext cx="1106424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76656" y="3803903"/>
            <a:ext cx="2197940"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配信費 小計</a:t>
            </a:r>
          </a:p>
        </p:txBody>
      </p:sp>
      <p:sp>
        <p:nvSpPr>
          <p:cNvPr id="36" name="TextBox 35"/>
          <p:cNvSpPr txBox="1"/>
          <p:nvPr/>
        </p:nvSpPr>
        <p:spPr>
          <a:xfrm>
            <a:off x="3094052" y="3803903"/>
            <a:ext cx="5266175"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p>
        </p:txBody>
      </p:sp>
      <p:sp>
        <p:nvSpPr>
          <p:cNvPr id="37" name="TextBox 36"/>
          <p:cNvSpPr txBox="1"/>
          <p:nvPr/>
        </p:nvSpPr>
        <p:spPr>
          <a:xfrm>
            <a:off x="8579684" y="3803903"/>
            <a:ext cx="1454126"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¥420,000</a:t>
            </a:r>
          </a:p>
        </p:txBody>
      </p:sp>
      <p:sp>
        <p:nvSpPr>
          <p:cNvPr id="38" name="TextBox 37"/>
          <p:cNvSpPr txBox="1"/>
          <p:nvPr/>
        </p:nvSpPr>
        <p:spPr>
          <a:xfrm>
            <a:off x="10253267" y="3803903"/>
            <a:ext cx="1268172"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p>
        </p:txBody>
      </p:sp>
      <p:sp>
        <p:nvSpPr>
          <p:cNvPr id="39" name="Rectangle 38"/>
          <p:cNvSpPr/>
          <p:nvPr/>
        </p:nvSpPr>
        <p:spPr>
          <a:xfrm>
            <a:off x="566928" y="4169663"/>
            <a:ext cx="11064240" cy="365760"/>
          </a:xfrm>
          <a:prstGeom prst="rect">
            <a:avLst/>
          </a:prstGeom>
          <a:solidFill>
            <a:srgbClr val="EE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76656" y="4169663"/>
            <a:ext cx="2197940"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r>
              <a:rPr sz="1150" b="0">
                <a:solidFill>
                  <a:srgbClr val="454B52"/>
                </a:solidFill>
                <a:latin typeface="Meiryo"/>
              </a:rPr>
              <a:t>運用代行費</a:t>
            </a:r>
          </a:p>
        </p:txBody>
      </p:sp>
      <p:sp>
        <p:nvSpPr>
          <p:cNvPr id="41" name="TextBox 40"/>
          <p:cNvSpPr txBox="1"/>
          <p:nvPr/>
        </p:nvSpPr>
        <p:spPr>
          <a:xfrm>
            <a:off x="3094052" y="4169663"/>
            <a:ext cx="5266175"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p>
        </p:txBody>
      </p:sp>
      <p:sp>
        <p:nvSpPr>
          <p:cNvPr id="42" name="TextBox 41"/>
          <p:cNvSpPr txBox="1"/>
          <p:nvPr/>
        </p:nvSpPr>
        <p:spPr>
          <a:xfrm>
            <a:off x="8579684" y="4169663"/>
            <a:ext cx="1454126"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r>
              <a:rPr sz="1150" b="0">
                <a:solidFill>
                  <a:srgbClr val="454B52"/>
                </a:solidFill>
                <a:latin typeface="Meiryo"/>
              </a:rPr>
              <a:t>¥105,000</a:t>
            </a:r>
          </a:p>
        </p:txBody>
      </p:sp>
      <p:sp>
        <p:nvSpPr>
          <p:cNvPr id="43" name="TextBox 42"/>
          <p:cNvSpPr txBox="1"/>
          <p:nvPr/>
        </p:nvSpPr>
        <p:spPr>
          <a:xfrm>
            <a:off x="10253267" y="4169663"/>
            <a:ext cx="1268172" cy="365760"/>
          </a:xfrm>
          <a:prstGeom prst="rect">
            <a:avLst/>
          </a:prstGeom>
          <a:noFill/>
        </p:spPr>
        <p:txBody>
          <a:bodyPr wrap="square" lIns="0" rIns="0" tIns="0" bIns="0" anchor="ctr">
            <a:spAutoFit/>
          </a:bodyPr>
          <a:lstStyle/>
          <a:p>
            <a:pPr algn="r">
              <a:lnSpc>
                <a:spcPct val="100000"/>
              </a:lnSpc>
              <a:spcAft>
                <a:spcPts val="0"/>
              </a:spcAft>
              <a:defRPr sz="1150" b="0">
                <a:solidFill>
                  <a:srgbClr val="454B52"/>
                </a:solidFill>
                <a:latin typeface="Meiryo"/>
              </a:defRPr>
            </a:pPr>
          </a:p>
        </p:txBody>
      </p:sp>
      <p:sp>
        <p:nvSpPr>
          <p:cNvPr id="44" name="Rectangle 43"/>
          <p:cNvSpPr/>
          <p:nvPr/>
        </p:nvSpPr>
        <p:spPr>
          <a:xfrm>
            <a:off x="566928" y="4535424"/>
            <a:ext cx="11064240" cy="3657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76656" y="4535424"/>
            <a:ext cx="2197940" cy="365760"/>
          </a:xfrm>
          <a:prstGeom prst="rect">
            <a:avLst/>
          </a:prstGeom>
          <a:noFill/>
        </p:spPr>
        <p:txBody>
          <a:bodyPr wrap="square" lIns="0" rIns="0" tIns="0" bIns="0" anchor="ctr">
            <a:spAutoFit/>
          </a:bodyPr>
          <a:lstStyle/>
          <a:p>
            <a:pPr algn="l">
              <a:lnSpc>
                <a:spcPct val="100000"/>
              </a:lnSpc>
              <a:spcAft>
                <a:spcPts val="0"/>
              </a:spcAft>
              <a:defRPr sz="1150" b="1">
                <a:solidFill>
                  <a:srgbClr val="405D7B"/>
                </a:solidFill>
                <a:latin typeface="Meiryo"/>
              </a:defRPr>
            </a:pPr>
            <a:r>
              <a:rPr sz="1150" b="1">
                <a:solidFill>
                  <a:srgbClr val="405D7B"/>
                </a:solidFill>
                <a:latin typeface="Meiryo"/>
              </a:rPr>
              <a:t>合計</a:t>
            </a:r>
          </a:p>
        </p:txBody>
      </p:sp>
      <p:sp>
        <p:nvSpPr>
          <p:cNvPr id="46" name="TextBox 45"/>
          <p:cNvSpPr txBox="1"/>
          <p:nvPr/>
        </p:nvSpPr>
        <p:spPr>
          <a:xfrm>
            <a:off x="3094052" y="4535424"/>
            <a:ext cx="5266175" cy="365760"/>
          </a:xfrm>
          <a:prstGeom prst="rect">
            <a:avLst/>
          </a:prstGeom>
          <a:noFill/>
        </p:spPr>
        <p:txBody>
          <a:bodyPr wrap="square" lIns="0" rIns="0" tIns="0" bIns="0" anchor="ctr">
            <a:spAutoFit/>
          </a:bodyPr>
          <a:lstStyle/>
          <a:p>
            <a:pPr algn="l">
              <a:lnSpc>
                <a:spcPct val="100000"/>
              </a:lnSpc>
              <a:spcAft>
                <a:spcPts val="0"/>
              </a:spcAft>
              <a:defRPr sz="1150" b="0">
                <a:solidFill>
                  <a:srgbClr val="454B52"/>
                </a:solidFill>
                <a:latin typeface="Meiryo"/>
              </a:defRPr>
            </a:pPr>
          </a:p>
        </p:txBody>
      </p:sp>
      <p:sp>
        <p:nvSpPr>
          <p:cNvPr id="47" name="TextBox 46"/>
          <p:cNvSpPr txBox="1"/>
          <p:nvPr/>
        </p:nvSpPr>
        <p:spPr>
          <a:xfrm>
            <a:off x="8579684" y="4535424"/>
            <a:ext cx="1454126" cy="365760"/>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¥525,000</a:t>
            </a:r>
          </a:p>
        </p:txBody>
      </p:sp>
      <p:sp>
        <p:nvSpPr>
          <p:cNvPr id="48" name="TextBox 47"/>
          <p:cNvSpPr txBox="1"/>
          <p:nvPr/>
        </p:nvSpPr>
        <p:spPr>
          <a:xfrm>
            <a:off x="10253267" y="4535424"/>
            <a:ext cx="1268172" cy="365760"/>
          </a:xfrm>
          <a:prstGeom prst="rect">
            <a:avLst/>
          </a:prstGeom>
          <a:noFill/>
        </p:spPr>
        <p:txBody>
          <a:bodyPr wrap="square" lIns="0" rIns="0" tIns="0" bIns="0" anchor="ctr">
            <a:spAutoFit/>
          </a:bodyPr>
          <a:lstStyle/>
          <a:p>
            <a:pPr algn="r">
              <a:lnSpc>
                <a:spcPct val="100000"/>
              </a:lnSpc>
              <a:spcAft>
                <a:spcPts val="0"/>
              </a:spcAft>
              <a:defRPr sz="1150" b="1">
                <a:solidFill>
                  <a:srgbClr val="405D7B"/>
                </a:solidFill>
                <a:latin typeface="Meiryo"/>
              </a:defRPr>
            </a:pPr>
            <a:r>
              <a:rPr sz="1150" b="1">
                <a:solidFill>
                  <a:srgbClr val="405D7B"/>
                </a:solidFill>
                <a:latin typeface="Meiryo"/>
              </a:rPr>
              <a:t>対7月 +75%</a:t>
            </a:r>
          </a:p>
        </p:txBody>
      </p:sp>
      <p:sp>
        <p:nvSpPr>
          <p:cNvPr id="49" name="Rectangle 48"/>
          <p:cNvSpPr/>
          <p:nvPr/>
        </p:nvSpPr>
        <p:spPr>
          <a:xfrm>
            <a:off x="566928" y="5047488"/>
            <a:ext cx="5943600" cy="329184"/>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76656" y="5047488"/>
            <a:ext cx="1643463" cy="329184"/>
          </a:xfrm>
          <a:prstGeom prst="rect">
            <a:avLst/>
          </a:prstGeom>
          <a:noFill/>
        </p:spPr>
        <p:txBody>
          <a:bodyPr wrap="square" lIns="0" rIns="0" tIns="0" bIns="0" anchor="ctr">
            <a:spAutoFit/>
          </a:bodyPr>
          <a:lstStyle/>
          <a:p>
            <a:pPr algn="l">
              <a:lnSpc>
                <a:spcPct val="100000"/>
              </a:lnSpc>
              <a:spcAft>
                <a:spcPts val="0"/>
              </a:spcAft>
              <a:defRPr sz="1050" b="1">
                <a:solidFill>
                  <a:srgbClr val="FFFFFF"/>
                </a:solidFill>
                <a:latin typeface="Meiryo"/>
              </a:defRPr>
            </a:pPr>
          </a:p>
        </p:txBody>
      </p:sp>
      <p:sp>
        <p:nvSpPr>
          <p:cNvPr id="51" name="TextBox 50"/>
          <p:cNvSpPr txBox="1"/>
          <p:nvPr/>
        </p:nvSpPr>
        <p:spPr>
          <a:xfrm>
            <a:off x="2539575" y="5047488"/>
            <a:ext cx="756358" cy="329184"/>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Meta</a:t>
            </a:r>
          </a:p>
        </p:txBody>
      </p:sp>
      <p:sp>
        <p:nvSpPr>
          <p:cNvPr id="52" name="TextBox 51"/>
          <p:cNvSpPr txBox="1"/>
          <p:nvPr/>
        </p:nvSpPr>
        <p:spPr>
          <a:xfrm>
            <a:off x="3515390" y="5047488"/>
            <a:ext cx="800714" cy="329184"/>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Google</a:t>
            </a:r>
          </a:p>
        </p:txBody>
      </p:sp>
      <p:sp>
        <p:nvSpPr>
          <p:cNvPr id="53" name="TextBox 52"/>
          <p:cNvSpPr txBox="1"/>
          <p:nvPr/>
        </p:nvSpPr>
        <p:spPr>
          <a:xfrm>
            <a:off x="4535560" y="5047488"/>
            <a:ext cx="712003" cy="329184"/>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DV360</a:t>
            </a:r>
          </a:p>
        </p:txBody>
      </p:sp>
      <p:sp>
        <p:nvSpPr>
          <p:cNvPr id="54" name="TextBox 53"/>
          <p:cNvSpPr txBox="1"/>
          <p:nvPr/>
        </p:nvSpPr>
        <p:spPr>
          <a:xfrm>
            <a:off x="5467020" y="5047488"/>
            <a:ext cx="933779" cy="329184"/>
          </a:xfrm>
          <a:prstGeom prst="rect">
            <a:avLst/>
          </a:prstGeom>
          <a:noFill/>
        </p:spPr>
        <p:txBody>
          <a:bodyPr wrap="square" lIns="0" rIns="0" tIns="0" bIns="0" anchor="ctr">
            <a:spAutoFit/>
          </a:bodyPr>
          <a:lstStyle/>
          <a:p>
            <a:pPr algn="r">
              <a:lnSpc>
                <a:spcPct val="100000"/>
              </a:lnSpc>
              <a:spcAft>
                <a:spcPts val="0"/>
              </a:spcAft>
              <a:defRPr sz="1050" b="1">
                <a:solidFill>
                  <a:srgbClr val="FFFFFF"/>
                </a:solidFill>
                <a:latin typeface="Meiryo"/>
              </a:defRPr>
            </a:pPr>
            <a:r>
              <a:rPr sz="1050" b="1">
                <a:solidFill>
                  <a:srgbClr val="FFFFFF"/>
                </a:solidFill>
                <a:latin typeface="Meiryo"/>
              </a:rPr>
              <a:t>LINEヤフー</a:t>
            </a:r>
          </a:p>
        </p:txBody>
      </p:sp>
      <p:sp>
        <p:nvSpPr>
          <p:cNvPr id="55" name="Rectangle 54"/>
          <p:cNvSpPr/>
          <p:nvPr/>
        </p:nvSpPr>
        <p:spPr>
          <a:xfrm>
            <a:off x="566928" y="5376672"/>
            <a:ext cx="59436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76656" y="5376672"/>
            <a:ext cx="1643463" cy="347472"/>
          </a:xfrm>
          <a:prstGeom prst="rect">
            <a:avLst/>
          </a:prstGeom>
          <a:noFill/>
        </p:spPr>
        <p:txBody>
          <a:bodyPr wrap="square" lIns="0" rIns="0" tIns="0" bIns="0" anchor="ctr">
            <a:spAutoFit/>
          </a:bodyPr>
          <a:lstStyle/>
          <a:p>
            <a:pPr algn="l">
              <a:lnSpc>
                <a:spcPct val="100000"/>
              </a:lnSpc>
              <a:spcAft>
                <a:spcPts val="0"/>
              </a:spcAft>
              <a:defRPr sz="1050" b="0">
                <a:solidFill>
                  <a:srgbClr val="454B52"/>
                </a:solidFill>
                <a:latin typeface="Meiryo"/>
              </a:defRPr>
            </a:pPr>
            <a:r>
              <a:rPr sz="1050" b="0">
                <a:solidFill>
                  <a:srgbClr val="454B52"/>
                </a:solidFill>
                <a:latin typeface="Meiryo"/>
              </a:rPr>
              <a:t>2026年7月（実績）</a:t>
            </a:r>
          </a:p>
        </p:txBody>
      </p:sp>
      <p:sp>
        <p:nvSpPr>
          <p:cNvPr id="57" name="TextBox 56"/>
          <p:cNvSpPr txBox="1"/>
          <p:nvPr/>
        </p:nvSpPr>
        <p:spPr>
          <a:xfrm>
            <a:off x="2539575" y="5376672"/>
            <a:ext cx="756358" cy="347472"/>
          </a:xfrm>
          <a:prstGeom prst="rect">
            <a:avLst/>
          </a:prstGeom>
          <a:noFill/>
        </p:spPr>
        <p:txBody>
          <a:bodyPr wrap="square" lIns="0" rIns="0" tIns="0" bIns="0" anchor="ctr">
            <a:spAutoFit/>
          </a:bodyPr>
          <a:lstStyle/>
          <a:p>
            <a:pPr algn="r">
              <a:lnSpc>
                <a:spcPct val="100000"/>
              </a:lnSpc>
              <a:spcAft>
                <a:spcPts val="0"/>
              </a:spcAft>
              <a:defRPr sz="1050" b="1">
                <a:solidFill>
                  <a:srgbClr val="405D7B"/>
                </a:solidFill>
                <a:latin typeface="Meiryo"/>
              </a:defRPr>
            </a:pPr>
            <a:r>
              <a:rPr sz="1050" b="1">
                <a:solidFill>
                  <a:srgbClr val="405D7B"/>
                </a:solidFill>
                <a:latin typeface="Meiryo"/>
              </a:rPr>
              <a:t>83.3%</a:t>
            </a:r>
          </a:p>
        </p:txBody>
      </p:sp>
      <p:sp>
        <p:nvSpPr>
          <p:cNvPr id="58" name="TextBox 57"/>
          <p:cNvSpPr txBox="1"/>
          <p:nvPr/>
        </p:nvSpPr>
        <p:spPr>
          <a:xfrm>
            <a:off x="3515390" y="5376672"/>
            <a:ext cx="800714" cy="347472"/>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16.7%</a:t>
            </a:r>
          </a:p>
        </p:txBody>
      </p:sp>
      <p:sp>
        <p:nvSpPr>
          <p:cNvPr id="59" name="TextBox 58"/>
          <p:cNvSpPr txBox="1"/>
          <p:nvPr/>
        </p:nvSpPr>
        <p:spPr>
          <a:xfrm>
            <a:off x="4535560" y="5376672"/>
            <a:ext cx="712003" cy="347472"/>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0%</a:t>
            </a:r>
          </a:p>
        </p:txBody>
      </p:sp>
      <p:sp>
        <p:nvSpPr>
          <p:cNvPr id="60" name="TextBox 59"/>
          <p:cNvSpPr txBox="1"/>
          <p:nvPr/>
        </p:nvSpPr>
        <p:spPr>
          <a:xfrm>
            <a:off x="5467020" y="5376672"/>
            <a:ext cx="933779" cy="347472"/>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a:t>
            </a:r>
          </a:p>
        </p:txBody>
      </p:sp>
      <p:sp>
        <p:nvSpPr>
          <p:cNvPr id="61" name="Rectangle 60"/>
          <p:cNvSpPr/>
          <p:nvPr/>
        </p:nvSpPr>
        <p:spPr>
          <a:xfrm>
            <a:off x="566928" y="5724144"/>
            <a:ext cx="5943600" cy="34747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676656" y="5724144"/>
            <a:ext cx="1643463" cy="347472"/>
          </a:xfrm>
          <a:prstGeom prst="rect">
            <a:avLst/>
          </a:prstGeom>
          <a:noFill/>
        </p:spPr>
        <p:txBody>
          <a:bodyPr wrap="square" lIns="0" rIns="0" tIns="0" bIns="0" anchor="ctr">
            <a:spAutoFit/>
          </a:bodyPr>
          <a:lstStyle/>
          <a:p>
            <a:pPr algn="l">
              <a:lnSpc>
                <a:spcPct val="100000"/>
              </a:lnSpc>
              <a:spcAft>
                <a:spcPts val="0"/>
              </a:spcAft>
              <a:defRPr sz="1050" b="1">
                <a:solidFill>
                  <a:srgbClr val="405D7B"/>
                </a:solidFill>
                <a:latin typeface="Meiryo"/>
              </a:defRPr>
            </a:pPr>
            <a:r>
              <a:rPr sz="1050" b="1">
                <a:solidFill>
                  <a:srgbClr val="405D7B"/>
                </a:solidFill>
                <a:latin typeface="Meiryo"/>
              </a:rPr>
              <a:t>2026年8月（提案）</a:t>
            </a:r>
          </a:p>
        </p:txBody>
      </p:sp>
      <p:sp>
        <p:nvSpPr>
          <p:cNvPr id="63" name="TextBox 62"/>
          <p:cNvSpPr txBox="1"/>
          <p:nvPr/>
        </p:nvSpPr>
        <p:spPr>
          <a:xfrm>
            <a:off x="2539575" y="5724144"/>
            <a:ext cx="756358" cy="347472"/>
          </a:xfrm>
          <a:prstGeom prst="rect">
            <a:avLst/>
          </a:prstGeom>
          <a:noFill/>
        </p:spPr>
        <p:txBody>
          <a:bodyPr wrap="square" lIns="0" rIns="0" tIns="0" bIns="0" anchor="ctr">
            <a:spAutoFit/>
          </a:bodyPr>
          <a:lstStyle/>
          <a:p>
            <a:pPr algn="r">
              <a:lnSpc>
                <a:spcPct val="100000"/>
              </a:lnSpc>
              <a:spcAft>
                <a:spcPts val="0"/>
              </a:spcAft>
              <a:defRPr sz="1050" b="1">
                <a:solidFill>
                  <a:srgbClr val="405D7B"/>
                </a:solidFill>
                <a:latin typeface="Meiryo"/>
              </a:defRPr>
            </a:pPr>
            <a:r>
              <a:rPr sz="1050" b="1">
                <a:solidFill>
                  <a:srgbClr val="405D7B"/>
                </a:solidFill>
                <a:latin typeface="Meiryo"/>
              </a:rPr>
              <a:t>47.6%</a:t>
            </a:r>
          </a:p>
        </p:txBody>
      </p:sp>
      <p:sp>
        <p:nvSpPr>
          <p:cNvPr id="64" name="TextBox 63"/>
          <p:cNvSpPr txBox="1"/>
          <p:nvPr/>
        </p:nvSpPr>
        <p:spPr>
          <a:xfrm>
            <a:off x="3515390" y="5724144"/>
            <a:ext cx="800714" cy="347472"/>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19.0%</a:t>
            </a:r>
          </a:p>
        </p:txBody>
      </p:sp>
      <p:sp>
        <p:nvSpPr>
          <p:cNvPr id="65" name="TextBox 64"/>
          <p:cNvSpPr txBox="1"/>
          <p:nvPr/>
        </p:nvSpPr>
        <p:spPr>
          <a:xfrm>
            <a:off x="4535560" y="5724144"/>
            <a:ext cx="712003" cy="347472"/>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19.0%</a:t>
            </a:r>
          </a:p>
        </p:txBody>
      </p:sp>
      <p:sp>
        <p:nvSpPr>
          <p:cNvPr id="66" name="TextBox 65"/>
          <p:cNvSpPr txBox="1"/>
          <p:nvPr/>
        </p:nvSpPr>
        <p:spPr>
          <a:xfrm>
            <a:off x="5467020" y="5724144"/>
            <a:ext cx="933779" cy="347472"/>
          </a:xfrm>
          <a:prstGeom prst="rect">
            <a:avLst/>
          </a:prstGeom>
          <a:noFill/>
        </p:spPr>
        <p:txBody>
          <a:bodyPr wrap="square" lIns="0" rIns="0" tIns="0" bIns="0" anchor="ctr">
            <a:spAutoFit/>
          </a:bodyPr>
          <a:lstStyle/>
          <a:p>
            <a:pPr algn="r">
              <a:lnSpc>
                <a:spcPct val="100000"/>
              </a:lnSpc>
              <a:spcAft>
                <a:spcPts val="0"/>
              </a:spcAft>
              <a:defRPr sz="1050" b="0">
                <a:solidFill>
                  <a:srgbClr val="454B52"/>
                </a:solidFill>
                <a:latin typeface="Meiryo"/>
              </a:defRPr>
            </a:pPr>
            <a:r>
              <a:rPr sz="1050" b="0">
                <a:solidFill>
                  <a:srgbClr val="454B52"/>
                </a:solidFill>
                <a:latin typeface="Meiryo"/>
              </a:rPr>
              <a:t>14.3%</a:t>
            </a:r>
          </a:p>
        </p:txBody>
      </p:sp>
      <p:sp>
        <p:nvSpPr>
          <p:cNvPr id="67" name="Rectangle 66"/>
          <p:cNvSpPr/>
          <p:nvPr/>
        </p:nvSpPr>
        <p:spPr>
          <a:xfrm>
            <a:off x="6693408" y="5047488"/>
            <a:ext cx="4937759" cy="10241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Rectangle 67"/>
          <p:cNvSpPr/>
          <p:nvPr/>
        </p:nvSpPr>
        <p:spPr>
          <a:xfrm>
            <a:off x="6693408" y="5047488"/>
            <a:ext cx="4937759" cy="45720"/>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6903720" y="5248655"/>
            <a:ext cx="4517136" cy="274320"/>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補足</a:t>
            </a:r>
          </a:p>
        </p:txBody>
      </p:sp>
      <p:sp>
        <p:nvSpPr>
          <p:cNvPr id="70" name="TextBox 69"/>
          <p:cNvSpPr txBox="1"/>
          <p:nvPr/>
        </p:nvSpPr>
        <p:spPr>
          <a:xfrm>
            <a:off x="6903720" y="5486400"/>
            <a:ext cx="4517136" cy="365760"/>
          </a:xfrm>
          <a:prstGeom prst="rect">
            <a:avLst/>
          </a:prstGeom>
          <a:noFill/>
        </p:spPr>
        <p:txBody>
          <a:bodyPr wrap="square" lIns="0" rIns="0" tIns="0" bIns="0" anchor="t">
            <a:spAutoFit/>
          </a:bodyPr>
          <a:lstStyle/>
          <a:p>
            <a:pPr algn="l">
              <a:lnSpc>
                <a:spcPct val="135000"/>
              </a:lnSpc>
              <a:spcAft>
                <a:spcPts val="300"/>
              </a:spcAft>
              <a:defRPr sz="1600" b="1">
                <a:solidFill>
                  <a:srgbClr val="2A2E33"/>
                </a:solidFill>
                <a:latin typeface="Meiryo"/>
              </a:defRPr>
            </a:pPr>
            <a:r>
              <a:rPr sz="1600" b="1">
                <a:solidFill>
                  <a:srgbClr val="2A2E33"/>
                </a:solidFill>
                <a:latin typeface="Meiryo"/>
              </a:rPr>
              <a:t>Meta広告は減額しません</a:t>
            </a:r>
          </a:p>
        </p:txBody>
      </p:sp>
      <p:sp>
        <p:nvSpPr>
          <p:cNvPr id="71" name="TextBox 70"/>
          <p:cNvSpPr txBox="1"/>
          <p:nvPr/>
        </p:nvSpPr>
        <p:spPr>
          <a:xfrm>
            <a:off x="6931152" y="5980175"/>
            <a:ext cx="4462271" cy="-109727"/>
          </a:xfrm>
          <a:prstGeom prst="rect">
            <a:avLst/>
          </a:prstGeom>
          <a:noFill/>
        </p:spPr>
        <p:txBody>
          <a:bodyPr wrap="square" lIns="0" rIns="0" tIns="0" bIns="0" anchor="t">
            <a:spAutoFit/>
          </a:bodyPr>
          <a:lstStyle/>
          <a:p>
            <a:pPr algn="l">
              <a:lnSpc>
                <a:spcPct val="150000"/>
              </a:lnSpc>
              <a:spcAft>
                <a:spcPts val="300"/>
              </a:spcAft>
              <a:defRPr sz="1300" b="0">
                <a:solidFill>
                  <a:srgbClr val="454B52"/>
                </a:solidFill>
                <a:latin typeface="Meiryo"/>
              </a:defRPr>
            </a:pPr>
            <a:r>
              <a:rPr sz="1300" b="0">
                <a:solidFill>
                  <a:srgbClr val="454B52"/>
                </a:solidFill>
                <a:latin typeface="Meiryo"/>
              </a:rPr>
              <a:t>内訳を組み替えて一極集中（83.3%）を47.6%まで下げます。</a:t>
            </a:r>
          </a:p>
        </p:txBody>
      </p:sp>
      <p:sp>
        <p:nvSpPr>
          <p:cNvPr id="72" name="TextBox 71"/>
          <p:cNvSpPr txBox="1"/>
          <p:nvPr/>
        </p:nvSpPr>
        <p:spPr>
          <a:xfrm>
            <a:off x="566928" y="6089904"/>
            <a:ext cx="11064240" cy="365760"/>
          </a:xfrm>
          <a:prstGeom prst="rect">
            <a:avLst/>
          </a:prstGeom>
          <a:noFill/>
        </p:spPr>
        <p:txBody>
          <a:bodyPr wrap="square" lIns="0" rIns="0" tIns="0" bIns="0" anchor="t">
            <a:spAutoFit/>
          </a:bodyPr>
          <a:lstStyle/>
          <a:p>
            <a:pPr algn="l">
              <a:lnSpc>
                <a:spcPct val="135000"/>
              </a:lnSpc>
              <a:spcAft>
                <a:spcPts val="300"/>
              </a:spcAft>
              <a:defRPr sz="950" b="0">
                <a:solidFill>
                  <a:srgbClr val="8A929C"/>
                </a:solidFill>
                <a:latin typeface="Meiryo"/>
              </a:defRPr>
            </a:pPr>
            <a:r>
              <a:rPr sz="950" b="0">
                <a:solidFill>
                  <a:srgbClr val="8A929C"/>
                </a:solidFill>
                <a:latin typeface="Meiryo"/>
              </a:rPr>
              <a:t>〈実測〉7月実績＝ご請求データ。〈提案〉8月の構成比は本プランに基づく計画値です。</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57200"/>
            <a:ext cx="82296" cy="237744"/>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31520" y="438912"/>
            <a:ext cx="10515600" cy="274320"/>
          </a:xfrm>
          <a:prstGeom prst="rect">
            <a:avLst/>
          </a:prstGeom>
          <a:noFill/>
        </p:spPr>
        <p:txBody>
          <a:bodyPr wrap="square" lIns="0" rIns="0" tIns="0" bIns="0" anchor="t">
            <a:spAutoFit/>
          </a:bodyPr>
          <a:lstStyle/>
          <a:p>
            <a:pPr algn="l">
              <a:lnSpc>
                <a:spcPct val="135000"/>
              </a:lnSpc>
              <a:spcAft>
                <a:spcPts val="300"/>
              </a:spcAft>
              <a:defRPr sz="1150" b="1">
                <a:solidFill>
                  <a:srgbClr val="405D7B"/>
                </a:solidFill>
                <a:latin typeface="Meiryo"/>
              </a:defRPr>
            </a:pPr>
            <a:r>
              <a:rPr sz="1150" b="1">
                <a:solidFill>
                  <a:srgbClr val="405D7B"/>
                </a:solidFill>
                <a:latin typeface="Meiryo"/>
              </a:rPr>
              <a:t>5 提案</a:t>
            </a:r>
          </a:p>
        </p:txBody>
      </p:sp>
      <p:sp>
        <p:nvSpPr>
          <p:cNvPr id="4" name="TextBox 3"/>
          <p:cNvSpPr txBox="1"/>
          <p:nvPr/>
        </p:nvSpPr>
        <p:spPr>
          <a:xfrm>
            <a:off x="530352" y="731520"/>
            <a:ext cx="10972800" cy="566928"/>
          </a:xfrm>
          <a:prstGeom prst="rect">
            <a:avLst/>
          </a:prstGeom>
          <a:noFill/>
        </p:spPr>
        <p:txBody>
          <a:bodyPr wrap="square" lIns="0" rIns="0" tIns="0" bIns="0" anchor="t">
            <a:spAutoFit/>
          </a:bodyPr>
          <a:lstStyle/>
          <a:p>
            <a:pPr algn="l">
              <a:lnSpc>
                <a:spcPct val="115000"/>
              </a:lnSpc>
              <a:spcAft>
                <a:spcPts val="300"/>
              </a:spcAft>
              <a:defRPr sz="2700" b="1">
                <a:solidFill>
                  <a:srgbClr val="2A2E33"/>
                </a:solidFill>
                <a:latin typeface="Meiryo"/>
              </a:defRPr>
            </a:pPr>
            <a:r>
              <a:rPr sz="2700" b="1">
                <a:solidFill>
                  <a:srgbClr val="2A2E33"/>
                </a:solidFill>
                <a:latin typeface="Meiryo"/>
              </a:rPr>
              <a:t>8月のKPI</a:t>
            </a:r>
          </a:p>
        </p:txBody>
      </p:sp>
      <p:sp>
        <p:nvSpPr>
          <p:cNvPr id="5" name="Rectangle 4"/>
          <p:cNvSpPr/>
          <p:nvPr/>
        </p:nvSpPr>
        <p:spPr>
          <a:xfrm>
            <a:off x="566928" y="1399032"/>
            <a:ext cx="1600200" cy="45720"/>
          </a:xfrm>
          <a:prstGeom prst="rect">
            <a:avLst/>
          </a:prstGeom>
          <a:solidFill>
            <a:srgbClr val="334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6928" y="1417320"/>
            <a:ext cx="11064240" cy="9144"/>
          </a:xfrm>
          <a:prstGeom prst="rect">
            <a:avLst/>
          </a:prstGeom>
          <a:solidFill>
            <a:srgbClr val="E2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338560" y="6510528"/>
            <a:ext cx="640080" cy="274320"/>
          </a:xfrm>
          <a:prstGeom prst="rect">
            <a:avLst/>
          </a:prstGeom>
          <a:noFill/>
        </p:spPr>
        <p:txBody>
          <a:bodyPr wrap="square" lIns="0" rIns="0" tIns="0" bIns="0" anchor="t">
            <a:spAutoFit/>
          </a:bodyPr>
          <a:lstStyle/>
          <a:p>
            <a:pPr algn="r">
              <a:lnSpc>
                <a:spcPct val="135000"/>
              </a:lnSpc>
              <a:spcAft>
                <a:spcPts val="300"/>
              </a:spcAft>
              <a:defRPr sz="1050" b="0">
                <a:solidFill>
                  <a:srgbClr val="8A929C"/>
                </a:solidFill>
                <a:latin typeface="Meiryo"/>
              </a:defRPr>
            </a:pPr>
            <a:r>
              <a:rPr sz="1050" b="0">
                <a:solidFill>
                  <a:srgbClr val="8A929C"/>
                </a:solidFill>
                <a:latin typeface="Meiryo"/>
              </a:rPr>
              <a:t>26</a:t>
            </a:r>
          </a:p>
        </p:txBody>
      </p:sp>
      <p:sp>
        <p:nvSpPr>
          <p:cNvPr id="8" name="Rectangle 7"/>
          <p:cNvSpPr/>
          <p:nvPr/>
        </p:nvSpPr>
        <p:spPr>
          <a:xfrm>
            <a:off x="566928" y="1956815"/>
            <a:ext cx="2628900" cy="1920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1956815"/>
            <a:ext cx="2628900" cy="45720"/>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2157984"/>
            <a:ext cx="2226564" cy="256032"/>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お問い合わせ</a:t>
            </a:r>
          </a:p>
        </p:txBody>
      </p:sp>
      <p:sp>
        <p:nvSpPr>
          <p:cNvPr id="11" name="TextBox 10"/>
          <p:cNvSpPr txBox="1"/>
          <p:nvPr/>
        </p:nvSpPr>
        <p:spPr>
          <a:xfrm>
            <a:off x="768096" y="2450591"/>
            <a:ext cx="2226564" cy="566928"/>
          </a:xfrm>
          <a:prstGeom prst="rect">
            <a:avLst/>
          </a:prstGeom>
          <a:noFill/>
        </p:spPr>
        <p:txBody>
          <a:bodyPr wrap="square" lIns="0" rIns="0" tIns="0" bIns="0" anchor="t">
            <a:spAutoFit/>
          </a:bodyPr>
          <a:lstStyle/>
          <a:p>
            <a:pPr algn="l">
              <a:lnSpc>
                <a:spcPct val="110000"/>
              </a:lnSpc>
              <a:spcAft>
                <a:spcPts val="300"/>
              </a:spcAft>
              <a:defRPr sz="3000" b="1">
                <a:solidFill>
                  <a:srgbClr val="405D7B"/>
                </a:solidFill>
                <a:latin typeface="Meiryo"/>
              </a:defRPr>
            </a:pPr>
            <a:r>
              <a:rPr sz="3000" b="1">
                <a:solidFill>
                  <a:srgbClr val="405D7B"/>
                </a:solidFill>
                <a:latin typeface="Meiryo"/>
              </a:rPr>
              <a:t>3〜5件</a:t>
            </a:r>
          </a:p>
        </p:txBody>
      </p:sp>
      <p:sp>
        <p:nvSpPr>
          <p:cNvPr id="12" name="TextBox 11"/>
          <p:cNvSpPr txBox="1"/>
          <p:nvPr/>
        </p:nvSpPr>
        <p:spPr>
          <a:xfrm>
            <a:off x="768096" y="3328416"/>
            <a:ext cx="2226564" cy="457200"/>
          </a:xfrm>
          <a:prstGeom prst="rect">
            <a:avLst/>
          </a:prstGeom>
          <a:noFill/>
        </p:spPr>
        <p:txBody>
          <a:bodyPr wrap="square" lIns="0" rIns="0" tIns="0" bIns="0" anchor="t">
            <a:spAutoFit/>
          </a:bodyPr>
          <a:lstStyle/>
          <a:p>
            <a:pPr algn="l">
              <a:lnSpc>
                <a:spcPct val="130000"/>
              </a:lnSpc>
              <a:spcAft>
                <a:spcPts val="300"/>
              </a:spcAft>
              <a:defRPr sz="950" b="0">
                <a:solidFill>
                  <a:srgbClr val="8A929C"/>
                </a:solidFill>
                <a:latin typeface="Meiryo"/>
              </a:defRPr>
            </a:pPr>
            <a:r>
              <a:rPr sz="950" b="0">
                <a:solidFill>
                  <a:srgbClr val="8A929C"/>
                </a:solidFill>
                <a:latin typeface="Meiryo"/>
              </a:rPr>
              <a:t>第1期の月平均2.4件／最良月5件</a:t>
            </a:r>
          </a:p>
        </p:txBody>
      </p:sp>
      <p:sp>
        <p:nvSpPr>
          <p:cNvPr id="13" name="Rectangle 12"/>
          <p:cNvSpPr/>
          <p:nvPr/>
        </p:nvSpPr>
        <p:spPr>
          <a:xfrm>
            <a:off x="3378708" y="1956815"/>
            <a:ext cx="2628900" cy="1920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378708" y="1956815"/>
            <a:ext cx="2628900" cy="45720"/>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79876" y="2157984"/>
            <a:ext cx="2226564" cy="256032"/>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獲得単価</a:t>
            </a:r>
          </a:p>
        </p:txBody>
      </p:sp>
      <p:sp>
        <p:nvSpPr>
          <p:cNvPr id="16" name="TextBox 15"/>
          <p:cNvSpPr txBox="1"/>
          <p:nvPr/>
        </p:nvSpPr>
        <p:spPr>
          <a:xfrm>
            <a:off x="3579876" y="2450591"/>
            <a:ext cx="2226564" cy="566928"/>
          </a:xfrm>
          <a:prstGeom prst="rect">
            <a:avLst/>
          </a:prstGeom>
          <a:noFill/>
        </p:spPr>
        <p:txBody>
          <a:bodyPr wrap="square" lIns="0" rIns="0" tIns="0" bIns="0" anchor="t">
            <a:spAutoFit/>
          </a:bodyPr>
          <a:lstStyle/>
          <a:p>
            <a:pPr algn="l">
              <a:lnSpc>
                <a:spcPct val="110000"/>
              </a:lnSpc>
              <a:spcAft>
                <a:spcPts val="300"/>
              </a:spcAft>
              <a:defRPr sz="2200" b="1">
                <a:solidFill>
                  <a:srgbClr val="405D7B"/>
                </a:solidFill>
                <a:latin typeface="Meiryo"/>
              </a:defRPr>
            </a:pPr>
            <a:r>
              <a:rPr sz="2200" b="1">
                <a:solidFill>
                  <a:srgbClr val="405D7B"/>
                </a:solidFill>
                <a:latin typeface="Meiryo"/>
              </a:rPr>
              <a:t>¥105,000〜175,000</a:t>
            </a:r>
          </a:p>
        </p:txBody>
      </p:sp>
      <p:sp>
        <p:nvSpPr>
          <p:cNvPr id="17" name="TextBox 16"/>
          <p:cNvSpPr txBox="1"/>
          <p:nvPr/>
        </p:nvSpPr>
        <p:spPr>
          <a:xfrm>
            <a:off x="3579876" y="3328416"/>
            <a:ext cx="2226564" cy="457200"/>
          </a:xfrm>
          <a:prstGeom prst="rect">
            <a:avLst/>
          </a:prstGeom>
          <a:noFill/>
        </p:spPr>
        <p:txBody>
          <a:bodyPr wrap="square" lIns="0" rIns="0" tIns="0" bIns="0" anchor="t">
            <a:spAutoFit/>
          </a:bodyPr>
          <a:lstStyle/>
          <a:p>
            <a:pPr algn="l">
              <a:lnSpc>
                <a:spcPct val="130000"/>
              </a:lnSpc>
              <a:spcAft>
                <a:spcPts val="300"/>
              </a:spcAft>
              <a:defRPr sz="950" b="0">
                <a:solidFill>
                  <a:srgbClr val="8A929C"/>
                </a:solidFill>
                <a:latin typeface="Meiryo"/>
              </a:defRPr>
            </a:pPr>
            <a:r>
              <a:rPr sz="950" b="0">
                <a:solidFill>
                  <a:srgbClr val="8A929C"/>
                </a:solidFill>
                <a:latin typeface="Meiryo"/>
              </a:rPr>
              <a:t>5件なら第1期平均と同水準</a:t>
            </a:r>
          </a:p>
        </p:txBody>
      </p:sp>
      <p:sp>
        <p:nvSpPr>
          <p:cNvPr id="18" name="Rectangle 17"/>
          <p:cNvSpPr/>
          <p:nvPr/>
        </p:nvSpPr>
        <p:spPr>
          <a:xfrm>
            <a:off x="6190488" y="1956815"/>
            <a:ext cx="2628900" cy="1920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190488" y="1956815"/>
            <a:ext cx="2628900" cy="45720"/>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91656" y="2157984"/>
            <a:ext cx="2226564" cy="256032"/>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地元の集客構成比</a:t>
            </a:r>
          </a:p>
        </p:txBody>
      </p:sp>
      <p:sp>
        <p:nvSpPr>
          <p:cNvPr id="21" name="TextBox 20"/>
          <p:cNvSpPr txBox="1"/>
          <p:nvPr/>
        </p:nvSpPr>
        <p:spPr>
          <a:xfrm>
            <a:off x="6391656" y="2450591"/>
            <a:ext cx="2226564" cy="566928"/>
          </a:xfrm>
          <a:prstGeom prst="rect">
            <a:avLst/>
          </a:prstGeom>
          <a:noFill/>
        </p:spPr>
        <p:txBody>
          <a:bodyPr wrap="square" lIns="0" rIns="0" tIns="0" bIns="0" anchor="t">
            <a:spAutoFit/>
          </a:bodyPr>
          <a:lstStyle/>
          <a:p>
            <a:pPr algn="l">
              <a:lnSpc>
                <a:spcPct val="110000"/>
              </a:lnSpc>
              <a:spcAft>
                <a:spcPts val="300"/>
              </a:spcAft>
              <a:defRPr sz="3000" b="1">
                <a:solidFill>
                  <a:srgbClr val="A96933"/>
                </a:solidFill>
                <a:latin typeface="Meiryo"/>
              </a:defRPr>
            </a:pPr>
            <a:r>
              <a:rPr sz="3000" b="1">
                <a:solidFill>
                  <a:srgbClr val="A96933"/>
                </a:solidFill>
                <a:latin typeface="Meiryo"/>
              </a:rPr>
              <a:t>40%以上</a:t>
            </a:r>
          </a:p>
        </p:txBody>
      </p:sp>
      <p:sp>
        <p:nvSpPr>
          <p:cNvPr id="22" name="TextBox 21"/>
          <p:cNvSpPr txBox="1"/>
          <p:nvPr/>
        </p:nvSpPr>
        <p:spPr>
          <a:xfrm>
            <a:off x="6391656" y="3328416"/>
            <a:ext cx="2226564" cy="457200"/>
          </a:xfrm>
          <a:prstGeom prst="rect">
            <a:avLst/>
          </a:prstGeom>
          <a:noFill/>
        </p:spPr>
        <p:txBody>
          <a:bodyPr wrap="square" lIns="0" rIns="0" tIns="0" bIns="0" anchor="t">
            <a:spAutoFit/>
          </a:bodyPr>
          <a:lstStyle/>
          <a:p>
            <a:pPr algn="l">
              <a:lnSpc>
                <a:spcPct val="130000"/>
              </a:lnSpc>
              <a:spcAft>
                <a:spcPts val="300"/>
              </a:spcAft>
              <a:defRPr sz="950" b="0">
                <a:solidFill>
                  <a:srgbClr val="8A929C"/>
                </a:solidFill>
                <a:latin typeface="Meiryo"/>
              </a:defRPr>
            </a:pPr>
            <a:r>
              <a:rPr sz="950" b="0">
                <a:solidFill>
                  <a:srgbClr val="8A929C"/>
                </a:solidFill>
                <a:latin typeface="Meiryo"/>
              </a:rPr>
              <a:t>現在19%。成果構成比53%に近づける</a:t>
            </a:r>
          </a:p>
        </p:txBody>
      </p:sp>
      <p:sp>
        <p:nvSpPr>
          <p:cNvPr id="23" name="Rectangle 22"/>
          <p:cNvSpPr/>
          <p:nvPr/>
        </p:nvSpPr>
        <p:spPr>
          <a:xfrm>
            <a:off x="9002268" y="1956815"/>
            <a:ext cx="2628900" cy="1920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002268" y="1956815"/>
            <a:ext cx="2628900" cy="45720"/>
          </a:xfrm>
          <a:prstGeom prst="rect">
            <a:avLst/>
          </a:prstGeom>
          <a:solidFill>
            <a:srgbClr val="A96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203436" y="2157984"/>
            <a:ext cx="2226564" cy="256032"/>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DV360のサイト到達率</a:t>
            </a:r>
          </a:p>
        </p:txBody>
      </p:sp>
      <p:sp>
        <p:nvSpPr>
          <p:cNvPr id="26" name="TextBox 25"/>
          <p:cNvSpPr txBox="1"/>
          <p:nvPr/>
        </p:nvSpPr>
        <p:spPr>
          <a:xfrm>
            <a:off x="9203436" y="2450591"/>
            <a:ext cx="2226564" cy="566928"/>
          </a:xfrm>
          <a:prstGeom prst="rect">
            <a:avLst/>
          </a:prstGeom>
          <a:noFill/>
        </p:spPr>
        <p:txBody>
          <a:bodyPr wrap="square" lIns="0" rIns="0" tIns="0" bIns="0" anchor="t">
            <a:spAutoFit/>
          </a:bodyPr>
          <a:lstStyle/>
          <a:p>
            <a:pPr algn="l">
              <a:lnSpc>
                <a:spcPct val="110000"/>
              </a:lnSpc>
              <a:spcAft>
                <a:spcPts val="300"/>
              </a:spcAft>
              <a:defRPr sz="3000" b="1">
                <a:solidFill>
                  <a:srgbClr val="A96933"/>
                </a:solidFill>
                <a:latin typeface="Meiryo"/>
              </a:defRPr>
            </a:pPr>
            <a:r>
              <a:rPr sz="3000" b="1">
                <a:solidFill>
                  <a:srgbClr val="A96933"/>
                </a:solidFill>
                <a:latin typeface="Meiryo"/>
              </a:rPr>
              <a:t>40%以上</a:t>
            </a:r>
          </a:p>
        </p:txBody>
      </p:sp>
      <p:sp>
        <p:nvSpPr>
          <p:cNvPr id="27" name="TextBox 26"/>
          <p:cNvSpPr txBox="1"/>
          <p:nvPr/>
        </p:nvSpPr>
        <p:spPr>
          <a:xfrm>
            <a:off x="9203436" y="3328416"/>
            <a:ext cx="2226564" cy="457200"/>
          </a:xfrm>
          <a:prstGeom prst="rect">
            <a:avLst/>
          </a:prstGeom>
          <a:noFill/>
        </p:spPr>
        <p:txBody>
          <a:bodyPr wrap="square" lIns="0" rIns="0" tIns="0" bIns="0" anchor="t">
            <a:spAutoFit/>
          </a:bodyPr>
          <a:lstStyle/>
          <a:p>
            <a:pPr algn="l">
              <a:lnSpc>
                <a:spcPct val="130000"/>
              </a:lnSpc>
              <a:spcAft>
                <a:spcPts val="300"/>
              </a:spcAft>
              <a:defRPr sz="950" b="0">
                <a:solidFill>
                  <a:srgbClr val="8A929C"/>
                </a:solidFill>
                <a:latin typeface="Meiryo"/>
              </a:defRPr>
            </a:pPr>
            <a:r>
              <a:rPr sz="950" b="0">
                <a:solidFill>
                  <a:srgbClr val="8A929C"/>
                </a:solidFill>
                <a:latin typeface="Meiryo"/>
              </a:rPr>
              <a:t>現在15.9%。配信面の除外による改善</a:t>
            </a:r>
          </a:p>
        </p:txBody>
      </p:sp>
      <p:sp>
        <p:nvSpPr>
          <p:cNvPr id="28" name="Rectangle 27"/>
          <p:cNvSpPr/>
          <p:nvPr/>
        </p:nvSpPr>
        <p:spPr>
          <a:xfrm>
            <a:off x="566928" y="4114800"/>
            <a:ext cx="11064240" cy="106070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66928" y="4114800"/>
            <a:ext cx="11064240" cy="45720"/>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77240" y="4315968"/>
            <a:ext cx="10643615" cy="274320"/>
          </a:xfrm>
          <a:prstGeom prst="rect">
            <a:avLst/>
          </a:prstGeom>
          <a:noFill/>
        </p:spPr>
        <p:txBody>
          <a:bodyPr wrap="square" lIns="0" rIns="0" tIns="0" bIns="0" anchor="t">
            <a:spAutoFit/>
          </a:bodyPr>
          <a:lstStyle/>
          <a:p>
            <a:pPr algn="l">
              <a:lnSpc>
                <a:spcPct val="135000"/>
              </a:lnSpc>
              <a:spcAft>
                <a:spcPts val="300"/>
              </a:spcAft>
              <a:defRPr sz="1050" b="1">
                <a:solidFill>
                  <a:srgbClr val="6C7582"/>
                </a:solidFill>
                <a:latin typeface="Meiryo"/>
              </a:defRPr>
            </a:pPr>
            <a:r>
              <a:rPr sz="1050" b="1">
                <a:solidFill>
                  <a:srgbClr val="6C7582"/>
                </a:solidFill>
                <a:latin typeface="Meiryo"/>
              </a:rPr>
              <a:t>運用体制</a:t>
            </a:r>
          </a:p>
        </p:txBody>
      </p:sp>
      <p:sp>
        <p:nvSpPr>
          <p:cNvPr id="31" name="TextBox 30"/>
          <p:cNvSpPr txBox="1"/>
          <p:nvPr/>
        </p:nvSpPr>
        <p:spPr>
          <a:xfrm>
            <a:off x="777240" y="4553712"/>
            <a:ext cx="10643615" cy="365760"/>
          </a:xfrm>
          <a:prstGeom prst="rect">
            <a:avLst/>
          </a:prstGeom>
          <a:noFill/>
        </p:spPr>
        <p:txBody>
          <a:bodyPr wrap="square" lIns="0" rIns="0" tIns="0" bIns="0" anchor="t">
            <a:spAutoFit/>
          </a:bodyPr>
          <a:lstStyle/>
          <a:p>
            <a:pPr algn="l">
              <a:lnSpc>
                <a:spcPct val="135000"/>
              </a:lnSpc>
              <a:spcAft>
                <a:spcPts val="300"/>
              </a:spcAft>
              <a:defRPr sz="1600" b="1">
                <a:solidFill>
                  <a:srgbClr val="2A2E33"/>
                </a:solidFill>
                <a:latin typeface="Meiryo"/>
              </a:defRPr>
            </a:pPr>
            <a:r>
              <a:rPr sz="1600" b="1">
                <a:solidFill>
                  <a:srgbClr val="2A2E33"/>
                </a:solidFill>
                <a:latin typeface="Meiryo"/>
              </a:rPr>
              <a:t>週次でご報告し、8月中旬に配分を見直します</a:t>
            </a:r>
          </a:p>
        </p:txBody>
      </p:sp>
      <p:sp>
        <p:nvSpPr>
          <p:cNvPr id="32" name="TextBox 31"/>
          <p:cNvSpPr txBox="1"/>
          <p:nvPr/>
        </p:nvSpPr>
        <p:spPr>
          <a:xfrm>
            <a:off x="804672" y="5047488"/>
            <a:ext cx="10588752" cy="-73152"/>
          </a:xfrm>
          <a:prstGeom prst="rect">
            <a:avLst/>
          </a:prstGeom>
          <a:noFill/>
        </p:spPr>
        <p:txBody>
          <a:bodyPr wrap="square" lIns="0" rIns="0" tIns="0" bIns="0" anchor="t">
            <a:spAutoFit/>
          </a:bodyPr>
          <a:lstStyle/>
          <a:p>
            <a:pPr algn="l">
              <a:lnSpc>
                <a:spcPct val="150000"/>
              </a:lnSpc>
              <a:spcAft>
                <a:spcPts val="300"/>
              </a:spcAft>
              <a:defRPr sz="1300" b="0">
                <a:solidFill>
                  <a:srgbClr val="454B52"/>
                </a:solidFill>
                <a:latin typeface="Meiryo"/>
              </a:defRPr>
            </a:pPr>
            <a:r>
              <a:rPr sz="1300" b="0">
                <a:solidFill>
                  <a:srgbClr val="454B52"/>
                </a:solidFill>
                <a:latin typeface="Meiryo"/>
              </a:rPr>
              <a:t>8月30日の視察プレー受付終了に向け、月内で調整します。</a:t>
            </a:r>
          </a:p>
        </p:txBody>
      </p:sp>
      <p:sp>
        <p:nvSpPr>
          <p:cNvPr id="33" name="TextBox 32"/>
          <p:cNvSpPr txBox="1"/>
          <p:nvPr/>
        </p:nvSpPr>
        <p:spPr>
          <a:xfrm>
            <a:off x="566928" y="5577840"/>
            <a:ext cx="11064240" cy="365760"/>
          </a:xfrm>
          <a:prstGeom prst="rect">
            <a:avLst/>
          </a:prstGeom>
          <a:noFill/>
        </p:spPr>
        <p:txBody>
          <a:bodyPr wrap="square" lIns="0" rIns="0" tIns="0" bIns="0" anchor="t">
            <a:spAutoFit/>
          </a:bodyPr>
          <a:lstStyle/>
          <a:p>
            <a:pPr algn="l">
              <a:lnSpc>
                <a:spcPct val="135000"/>
              </a:lnSpc>
              <a:spcAft>
                <a:spcPts val="300"/>
              </a:spcAft>
              <a:defRPr sz="950" b="0">
                <a:solidFill>
                  <a:srgbClr val="8A929C"/>
                </a:solidFill>
                <a:latin typeface="Meiryo"/>
              </a:defRPr>
            </a:pPr>
            <a:r>
              <a:rPr sz="950" b="0">
                <a:solidFill>
                  <a:srgbClr val="8A929C"/>
                </a:solidFill>
                <a:latin typeface="Meiryo"/>
              </a:rPr>
              <a:t>〈当社仮説〉KPIは第1期の実績水準を根拠とした目標値であり、達成を保証するものではありません。</a:t>
            </a:r>
          </a:p>
          <a:p>
            <a:pPr algn="l">
              <a:lnSpc>
                <a:spcPct val="135000"/>
              </a:lnSpc>
              <a:spcAft>
                <a:spcPts val="300"/>
              </a:spcAft>
              <a:defRPr sz="950" b="0">
                <a:solidFill>
                  <a:srgbClr val="8A929C"/>
                </a:solidFill>
                <a:latin typeface="Meiryo"/>
              </a:defRPr>
            </a:pPr>
            <a:r>
              <a:rPr sz="950" b="0">
                <a:solidFill>
                  <a:srgbClr val="8A929C"/>
                </a:solidFill>
                <a:latin typeface="Meiryo"/>
              </a:rPr>
              <a:t>〈両論併記〉7月1日の3変更が同時発生していたため、施策単独の効果は8月の実測で検証します。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57200"/>
            <a:ext cx="82296" cy="237744"/>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31520" y="438912"/>
            <a:ext cx="10515600" cy="274320"/>
          </a:xfrm>
          <a:prstGeom prst="rect">
            <a:avLst/>
          </a:prstGeom>
          <a:noFill/>
        </p:spPr>
        <p:txBody>
          <a:bodyPr wrap="square" lIns="0" rIns="0" tIns="0" bIns="0" anchor="t">
            <a:spAutoFit/>
          </a:bodyPr>
          <a:lstStyle/>
          <a:p>
            <a:pPr algn="l">
              <a:lnSpc>
                <a:spcPct val="135000"/>
              </a:lnSpc>
              <a:spcAft>
                <a:spcPts val="300"/>
              </a:spcAft>
              <a:defRPr sz="1150" b="1">
                <a:solidFill>
                  <a:srgbClr val="405D7B"/>
                </a:solidFill>
                <a:latin typeface="Meiryo"/>
              </a:defRPr>
            </a:pPr>
            <a:r>
              <a:rPr sz="1150" b="1">
                <a:solidFill>
                  <a:srgbClr val="405D7B"/>
                </a:solidFill>
                <a:latin typeface="Meiryo"/>
              </a:rPr>
              <a:t>5 提案</a:t>
            </a:r>
          </a:p>
        </p:txBody>
      </p:sp>
      <p:sp>
        <p:nvSpPr>
          <p:cNvPr id="4" name="TextBox 3"/>
          <p:cNvSpPr txBox="1"/>
          <p:nvPr/>
        </p:nvSpPr>
        <p:spPr>
          <a:xfrm>
            <a:off x="530352" y="731520"/>
            <a:ext cx="10972800" cy="566928"/>
          </a:xfrm>
          <a:prstGeom prst="rect">
            <a:avLst/>
          </a:prstGeom>
          <a:noFill/>
        </p:spPr>
        <p:txBody>
          <a:bodyPr wrap="square" lIns="0" rIns="0" tIns="0" bIns="0" anchor="t">
            <a:spAutoFit/>
          </a:bodyPr>
          <a:lstStyle/>
          <a:p>
            <a:pPr algn="l">
              <a:lnSpc>
                <a:spcPct val="115000"/>
              </a:lnSpc>
              <a:spcAft>
                <a:spcPts val="300"/>
              </a:spcAft>
              <a:defRPr sz="2700" b="1">
                <a:solidFill>
                  <a:srgbClr val="2A2E33"/>
                </a:solidFill>
                <a:latin typeface="Meiryo"/>
              </a:defRPr>
            </a:pPr>
            <a:r>
              <a:rPr sz="2700" b="1">
                <a:solidFill>
                  <a:srgbClr val="2A2E33"/>
                </a:solidFill>
                <a:latin typeface="Meiryo"/>
              </a:rPr>
              <a:t>スケジュールとご依頼事項</a:t>
            </a:r>
          </a:p>
        </p:txBody>
      </p:sp>
      <p:sp>
        <p:nvSpPr>
          <p:cNvPr id="5" name="Rectangle 4"/>
          <p:cNvSpPr/>
          <p:nvPr/>
        </p:nvSpPr>
        <p:spPr>
          <a:xfrm>
            <a:off x="566928" y="1399032"/>
            <a:ext cx="1600200" cy="45720"/>
          </a:xfrm>
          <a:prstGeom prst="rect">
            <a:avLst/>
          </a:prstGeom>
          <a:solidFill>
            <a:srgbClr val="334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6928" y="1417320"/>
            <a:ext cx="11064240" cy="9144"/>
          </a:xfrm>
          <a:prstGeom prst="rect">
            <a:avLst/>
          </a:prstGeom>
          <a:solidFill>
            <a:srgbClr val="E2E6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338560" y="6510528"/>
            <a:ext cx="640080" cy="274320"/>
          </a:xfrm>
          <a:prstGeom prst="rect">
            <a:avLst/>
          </a:prstGeom>
          <a:noFill/>
        </p:spPr>
        <p:txBody>
          <a:bodyPr wrap="square" lIns="0" rIns="0" tIns="0" bIns="0" anchor="t">
            <a:spAutoFit/>
          </a:bodyPr>
          <a:lstStyle/>
          <a:p>
            <a:pPr algn="r">
              <a:lnSpc>
                <a:spcPct val="135000"/>
              </a:lnSpc>
              <a:spcAft>
                <a:spcPts val="300"/>
              </a:spcAft>
              <a:defRPr sz="1050" b="0">
                <a:solidFill>
                  <a:srgbClr val="8A929C"/>
                </a:solidFill>
                <a:latin typeface="Meiryo"/>
              </a:defRPr>
            </a:pPr>
            <a:r>
              <a:rPr sz="1050" b="0">
                <a:solidFill>
                  <a:srgbClr val="8A929C"/>
                </a:solidFill>
                <a:latin typeface="Meiryo"/>
              </a:rPr>
              <a:t>27</a:t>
            </a:r>
          </a:p>
        </p:txBody>
      </p:sp>
      <p:sp>
        <p:nvSpPr>
          <p:cNvPr id="8" name="TextBox 7"/>
          <p:cNvSpPr txBox="1"/>
          <p:nvPr/>
        </p:nvSpPr>
        <p:spPr>
          <a:xfrm>
            <a:off x="566928" y="1737360"/>
            <a:ext cx="5760720" cy="274320"/>
          </a:xfrm>
          <a:prstGeom prst="rect">
            <a:avLst/>
          </a:prstGeom>
          <a:noFill/>
        </p:spPr>
        <p:txBody>
          <a:bodyPr wrap="square" lIns="0" rIns="0" tIns="0" bIns="0" anchor="t">
            <a:spAutoFit/>
          </a:bodyPr>
          <a:lstStyle/>
          <a:p>
            <a:pPr algn="l">
              <a:lnSpc>
                <a:spcPct val="135000"/>
              </a:lnSpc>
              <a:spcAft>
                <a:spcPts val="300"/>
              </a:spcAft>
              <a:defRPr sz="1400" b="1">
                <a:solidFill>
                  <a:srgbClr val="405D7B"/>
                </a:solidFill>
                <a:latin typeface="Meiryo"/>
              </a:defRPr>
            </a:pPr>
            <a:r>
              <a:rPr sz="1400" b="1">
                <a:solidFill>
                  <a:srgbClr val="405D7B"/>
                </a:solidFill>
                <a:latin typeface="Meiryo"/>
              </a:rPr>
              <a:t>スケジュール</a:t>
            </a:r>
          </a:p>
        </p:txBody>
      </p:sp>
      <p:sp>
        <p:nvSpPr>
          <p:cNvPr id="9" name="Rectangle 8"/>
          <p:cNvSpPr/>
          <p:nvPr/>
        </p:nvSpPr>
        <p:spPr>
          <a:xfrm>
            <a:off x="566928" y="2066543"/>
            <a:ext cx="5760720" cy="420624"/>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6656" y="2066543"/>
            <a:ext cx="1060703" cy="420624"/>
          </a:xfrm>
          <a:prstGeom prst="rect">
            <a:avLst/>
          </a:prstGeom>
          <a:noFill/>
        </p:spPr>
        <p:txBody>
          <a:bodyPr wrap="square" lIns="0" rIns="0" tIns="0" bIns="0" anchor="ctr">
            <a:spAutoFit/>
          </a:bodyPr>
          <a:lstStyle/>
          <a:p>
            <a:pPr algn="l">
              <a:lnSpc>
                <a:spcPct val="100000"/>
              </a:lnSpc>
              <a:spcAft>
                <a:spcPts val="0"/>
              </a:spcAft>
              <a:defRPr sz="1050" b="1">
                <a:solidFill>
                  <a:srgbClr val="FFFFFF"/>
                </a:solidFill>
                <a:latin typeface="Meiryo"/>
              </a:defRPr>
            </a:pPr>
            <a:r>
              <a:rPr sz="1050" b="1">
                <a:solidFill>
                  <a:srgbClr val="FFFFFF"/>
                </a:solidFill>
                <a:latin typeface="Meiryo"/>
              </a:rPr>
              <a:t>期日</a:t>
            </a:r>
          </a:p>
        </p:txBody>
      </p:sp>
      <p:sp>
        <p:nvSpPr>
          <p:cNvPr id="11" name="TextBox 10"/>
          <p:cNvSpPr txBox="1"/>
          <p:nvPr/>
        </p:nvSpPr>
        <p:spPr>
          <a:xfrm>
            <a:off x="1956815" y="2066543"/>
            <a:ext cx="4261104" cy="420624"/>
          </a:xfrm>
          <a:prstGeom prst="rect">
            <a:avLst/>
          </a:prstGeom>
          <a:noFill/>
        </p:spPr>
        <p:txBody>
          <a:bodyPr wrap="square" lIns="0" rIns="0" tIns="0" bIns="0" anchor="ctr">
            <a:spAutoFit/>
          </a:bodyPr>
          <a:lstStyle/>
          <a:p>
            <a:pPr algn="l">
              <a:lnSpc>
                <a:spcPct val="100000"/>
              </a:lnSpc>
              <a:spcAft>
                <a:spcPts val="0"/>
              </a:spcAft>
              <a:defRPr sz="1050" b="1">
                <a:solidFill>
                  <a:srgbClr val="FFFFFF"/>
                </a:solidFill>
                <a:latin typeface="Meiryo"/>
              </a:defRPr>
            </a:pPr>
            <a:r>
              <a:rPr sz="1050" b="1">
                <a:solidFill>
                  <a:srgbClr val="FFFFFF"/>
                </a:solidFill>
                <a:latin typeface="Meiryo"/>
              </a:rPr>
              <a:t>内容</a:t>
            </a:r>
          </a:p>
        </p:txBody>
      </p:sp>
      <p:sp>
        <p:nvSpPr>
          <p:cNvPr id="12" name="Rectangle 11"/>
          <p:cNvSpPr/>
          <p:nvPr/>
        </p:nvSpPr>
        <p:spPr>
          <a:xfrm>
            <a:off x="566928" y="2487168"/>
            <a:ext cx="5760720" cy="4389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6656" y="2487168"/>
            <a:ext cx="1060703" cy="438912"/>
          </a:xfrm>
          <a:prstGeom prst="rect">
            <a:avLst/>
          </a:prstGeom>
          <a:noFill/>
        </p:spPr>
        <p:txBody>
          <a:bodyPr wrap="square" lIns="0" rIns="0" tIns="0" bIns="0" anchor="ctr">
            <a:spAutoFit/>
          </a:bodyPr>
          <a:lstStyle/>
          <a:p>
            <a:pPr algn="l">
              <a:lnSpc>
                <a:spcPct val="100000"/>
              </a:lnSpc>
              <a:spcAft>
                <a:spcPts val="0"/>
              </a:spcAft>
              <a:defRPr sz="1050" b="0">
                <a:solidFill>
                  <a:srgbClr val="454B52"/>
                </a:solidFill>
                <a:latin typeface="Meiryo"/>
              </a:defRPr>
            </a:pPr>
            <a:r>
              <a:rPr sz="1050" b="0">
                <a:solidFill>
                  <a:srgbClr val="454B52"/>
                </a:solidFill>
                <a:latin typeface="Meiryo"/>
              </a:rPr>
              <a:t>7月下旬</a:t>
            </a:r>
          </a:p>
        </p:txBody>
      </p:sp>
      <p:sp>
        <p:nvSpPr>
          <p:cNvPr id="14" name="TextBox 13"/>
          <p:cNvSpPr txBox="1"/>
          <p:nvPr/>
        </p:nvSpPr>
        <p:spPr>
          <a:xfrm>
            <a:off x="1956815" y="2487168"/>
            <a:ext cx="4261104" cy="438912"/>
          </a:xfrm>
          <a:prstGeom prst="rect">
            <a:avLst/>
          </a:prstGeom>
          <a:noFill/>
        </p:spPr>
        <p:txBody>
          <a:bodyPr wrap="square" lIns="0" rIns="0" tIns="0" bIns="0" anchor="ctr">
            <a:spAutoFit/>
          </a:bodyPr>
          <a:lstStyle/>
          <a:p>
            <a:pPr algn="l">
              <a:lnSpc>
                <a:spcPct val="100000"/>
              </a:lnSpc>
              <a:spcAft>
                <a:spcPts val="0"/>
              </a:spcAft>
              <a:defRPr sz="1050" b="0">
                <a:solidFill>
                  <a:srgbClr val="454B52"/>
                </a:solidFill>
                <a:latin typeface="Meiryo"/>
              </a:defRPr>
            </a:pPr>
            <a:r>
              <a:rPr sz="1050" b="0">
                <a:solidFill>
                  <a:srgbClr val="454B52"/>
                </a:solidFill>
                <a:latin typeface="Meiryo"/>
              </a:rPr>
              <a:t>配信エリアの設定変更／DV360除外リスト作成／クラブ名検索の除外／コンバージョン計測の接続</a:t>
            </a:r>
          </a:p>
        </p:txBody>
      </p:sp>
      <p:sp>
        <p:nvSpPr>
          <p:cNvPr id="15" name="Rectangle 14"/>
          <p:cNvSpPr/>
          <p:nvPr/>
        </p:nvSpPr>
        <p:spPr>
          <a:xfrm>
            <a:off x="566928" y="2926079"/>
            <a:ext cx="5760720" cy="438912"/>
          </a:xfrm>
          <a:prstGeom prst="rect">
            <a:avLst/>
          </a:prstGeom>
          <a:solidFill>
            <a:srgbClr val="EE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6656" y="2926079"/>
            <a:ext cx="1060703" cy="438912"/>
          </a:xfrm>
          <a:prstGeom prst="rect">
            <a:avLst/>
          </a:prstGeom>
          <a:noFill/>
        </p:spPr>
        <p:txBody>
          <a:bodyPr wrap="square" lIns="0" rIns="0" tIns="0" bIns="0" anchor="ctr">
            <a:spAutoFit/>
          </a:bodyPr>
          <a:lstStyle/>
          <a:p>
            <a:pPr algn="l">
              <a:lnSpc>
                <a:spcPct val="100000"/>
              </a:lnSpc>
              <a:spcAft>
                <a:spcPts val="0"/>
              </a:spcAft>
              <a:defRPr sz="1050" b="0">
                <a:solidFill>
                  <a:srgbClr val="454B52"/>
                </a:solidFill>
                <a:latin typeface="Meiryo"/>
              </a:defRPr>
            </a:pPr>
            <a:r>
              <a:rPr sz="1050" b="0">
                <a:solidFill>
                  <a:srgbClr val="454B52"/>
                </a:solidFill>
                <a:latin typeface="Meiryo"/>
              </a:rPr>
              <a:t>7月末</a:t>
            </a:r>
          </a:p>
        </p:txBody>
      </p:sp>
      <p:sp>
        <p:nvSpPr>
          <p:cNvPr id="17" name="TextBox 16"/>
          <p:cNvSpPr txBox="1"/>
          <p:nvPr/>
        </p:nvSpPr>
        <p:spPr>
          <a:xfrm>
            <a:off x="1956815" y="2926079"/>
            <a:ext cx="4261104" cy="438912"/>
          </a:xfrm>
          <a:prstGeom prst="rect">
            <a:avLst/>
          </a:prstGeom>
          <a:noFill/>
        </p:spPr>
        <p:txBody>
          <a:bodyPr wrap="square" lIns="0" rIns="0" tIns="0" bIns="0" anchor="ctr">
            <a:spAutoFit/>
          </a:bodyPr>
          <a:lstStyle/>
          <a:p>
            <a:pPr algn="l">
              <a:lnSpc>
                <a:spcPct val="100000"/>
              </a:lnSpc>
              <a:spcAft>
                <a:spcPts val="0"/>
              </a:spcAft>
              <a:defRPr sz="1050" b="0">
                <a:solidFill>
                  <a:srgbClr val="454B52"/>
                </a:solidFill>
                <a:latin typeface="Meiryo"/>
              </a:defRPr>
            </a:pPr>
            <a:r>
              <a:rPr sz="1050" b="0">
                <a:solidFill>
                  <a:srgbClr val="454B52"/>
                </a:solidFill>
                <a:latin typeface="Meiryo"/>
              </a:rPr>
              <a:t>クリエイティブを視察プレー訴求へ差し替え／LINEヤフー広告の入稿</a:t>
            </a:r>
          </a:p>
        </p:txBody>
      </p:sp>
      <p:sp>
        <p:nvSpPr>
          <p:cNvPr id="18" name="Rectangle 17"/>
          <p:cNvSpPr/>
          <p:nvPr/>
        </p:nvSpPr>
        <p:spPr>
          <a:xfrm>
            <a:off x="566928" y="3364991"/>
            <a:ext cx="5760720" cy="43891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6656" y="3364991"/>
            <a:ext cx="1060703" cy="438912"/>
          </a:xfrm>
          <a:prstGeom prst="rect">
            <a:avLst/>
          </a:prstGeom>
          <a:noFill/>
        </p:spPr>
        <p:txBody>
          <a:bodyPr wrap="square" lIns="0" rIns="0" tIns="0" bIns="0" anchor="ctr">
            <a:spAutoFit/>
          </a:bodyPr>
          <a:lstStyle/>
          <a:p>
            <a:pPr algn="l">
              <a:lnSpc>
                <a:spcPct val="100000"/>
              </a:lnSpc>
              <a:spcAft>
                <a:spcPts val="0"/>
              </a:spcAft>
              <a:defRPr sz="1050" b="1">
                <a:solidFill>
                  <a:srgbClr val="405D7B"/>
                </a:solidFill>
                <a:latin typeface="Meiryo"/>
              </a:defRPr>
            </a:pPr>
            <a:r>
              <a:rPr sz="1050" b="1">
                <a:solidFill>
                  <a:srgbClr val="405D7B"/>
                </a:solidFill>
                <a:latin typeface="Meiryo"/>
              </a:rPr>
              <a:t>8月1日</a:t>
            </a:r>
          </a:p>
        </p:txBody>
      </p:sp>
      <p:sp>
        <p:nvSpPr>
          <p:cNvPr id="20" name="TextBox 19"/>
          <p:cNvSpPr txBox="1"/>
          <p:nvPr/>
        </p:nvSpPr>
        <p:spPr>
          <a:xfrm>
            <a:off x="1956815" y="3364991"/>
            <a:ext cx="4261104" cy="438912"/>
          </a:xfrm>
          <a:prstGeom prst="rect">
            <a:avLst/>
          </a:prstGeom>
          <a:noFill/>
        </p:spPr>
        <p:txBody>
          <a:bodyPr wrap="square" lIns="0" rIns="0" tIns="0" bIns="0" anchor="ctr">
            <a:spAutoFit/>
          </a:bodyPr>
          <a:lstStyle/>
          <a:p>
            <a:pPr algn="l">
              <a:lnSpc>
                <a:spcPct val="100000"/>
              </a:lnSpc>
              <a:spcAft>
                <a:spcPts val="0"/>
              </a:spcAft>
              <a:defRPr sz="1050" b="1">
                <a:solidFill>
                  <a:srgbClr val="405D7B"/>
                </a:solidFill>
                <a:latin typeface="Meiryo"/>
              </a:defRPr>
            </a:pPr>
            <a:r>
              <a:rPr sz="1050" b="1">
                <a:solidFill>
                  <a:srgbClr val="405D7B"/>
                </a:solidFill>
                <a:latin typeface="Meiryo"/>
              </a:rPr>
              <a:t>配信開始</a:t>
            </a:r>
          </a:p>
        </p:txBody>
      </p:sp>
      <p:sp>
        <p:nvSpPr>
          <p:cNvPr id="21" name="Rectangle 20"/>
          <p:cNvSpPr/>
          <p:nvPr/>
        </p:nvSpPr>
        <p:spPr>
          <a:xfrm>
            <a:off x="566928" y="3803904"/>
            <a:ext cx="5760720" cy="438912"/>
          </a:xfrm>
          <a:prstGeom prst="rect">
            <a:avLst/>
          </a:prstGeom>
          <a:solidFill>
            <a:srgbClr val="EE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76656" y="3803904"/>
            <a:ext cx="1060703" cy="438912"/>
          </a:xfrm>
          <a:prstGeom prst="rect">
            <a:avLst/>
          </a:prstGeom>
          <a:noFill/>
        </p:spPr>
        <p:txBody>
          <a:bodyPr wrap="square" lIns="0" rIns="0" tIns="0" bIns="0" anchor="ctr">
            <a:spAutoFit/>
          </a:bodyPr>
          <a:lstStyle/>
          <a:p>
            <a:pPr algn="l">
              <a:lnSpc>
                <a:spcPct val="100000"/>
              </a:lnSpc>
              <a:spcAft>
                <a:spcPts val="0"/>
              </a:spcAft>
              <a:defRPr sz="1050" b="0">
                <a:solidFill>
                  <a:srgbClr val="454B52"/>
                </a:solidFill>
                <a:latin typeface="Meiryo"/>
              </a:defRPr>
            </a:pPr>
            <a:r>
              <a:rPr sz="1050" b="0">
                <a:solidFill>
                  <a:srgbClr val="454B52"/>
                </a:solidFill>
                <a:latin typeface="Meiryo"/>
              </a:rPr>
              <a:t>8月中旬</a:t>
            </a:r>
          </a:p>
        </p:txBody>
      </p:sp>
      <p:sp>
        <p:nvSpPr>
          <p:cNvPr id="23" name="TextBox 22"/>
          <p:cNvSpPr txBox="1"/>
          <p:nvPr/>
        </p:nvSpPr>
        <p:spPr>
          <a:xfrm>
            <a:off x="1956815" y="3803904"/>
            <a:ext cx="4261104" cy="438912"/>
          </a:xfrm>
          <a:prstGeom prst="rect">
            <a:avLst/>
          </a:prstGeom>
          <a:noFill/>
        </p:spPr>
        <p:txBody>
          <a:bodyPr wrap="square" lIns="0" rIns="0" tIns="0" bIns="0" anchor="ctr">
            <a:spAutoFit/>
          </a:bodyPr>
          <a:lstStyle/>
          <a:p>
            <a:pPr algn="l">
              <a:lnSpc>
                <a:spcPct val="100000"/>
              </a:lnSpc>
              <a:spcAft>
                <a:spcPts val="0"/>
              </a:spcAft>
              <a:defRPr sz="1050" b="0">
                <a:solidFill>
                  <a:srgbClr val="454B52"/>
                </a:solidFill>
                <a:latin typeface="Meiryo"/>
              </a:defRPr>
            </a:pPr>
            <a:r>
              <a:rPr sz="1050" b="0">
                <a:solidFill>
                  <a:srgbClr val="454B52"/>
                </a:solidFill>
                <a:latin typeface="Meiryo"/>
              </a:rPr>
              <a:t>中間レポート・配分の見直し</a:t>
            </a:r>
          </a:p>
        </p:txBody>
      </p:sp>
      <p:sp>
        <p:nvSpPr>
          <p:cNvPr id="24" name="Rectangle 23"/>
          <p:cNvSpPr/>
          <p:nvPr/>
        </p:nvSpPr>
        <p:spPr>
          <a:xfrm>
            <a:off x="566928" y="4242816"/>
            <a:ext cx="5760720" cy="43891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76656" y="4242816"/>
            <a:ext cx="1060703" cy="438912"/>
          </a:xfrm>
          <a:prstGeom prst="rect">
            <a:avLst/>
          </a:prstGeom>
          <a:noFill/>
        </p:spPr>
        <p:txBody>
          <a:bodyPr wrap="square" lIns="0" rIns="0" tIns="0" bIns="0" anchor="ctr">
            <a:spAutoFit/>
          </a:bodyPr>
          <a:lstStyle/>
          <a:p>
            <a:pPr algn="l">
              <a:lnSpc>
                <a:spcPct val="100000"/>
              </a:lnSpc>
              <a:spcAft>
                <a:spcPts val="0"/>
              </a:spcAft>
              <a:defRPr sz="1050" b="1">
                <a:solidFill>
                  <a:srgbClr val="405D7B"/>
                </a:solidFill>
                <a:latin typeface="Meiryo"/>
              </a:defRPr>
            </a:pPr>
            <a:r>
              <a:rPr sz="1050" b="1">
                <a:solidFill>
                  <a:srgbClr val="405D7B"/>
                </a:solidFill>
                <a:latin typeface="Meiryo"/>
              </a:rPr>
              <a:t>8月30日</a:t>
            </a:r>
          </a:p>
        </p:txBody>
      </p:sp>
      <p:sp>
        <p:nvSpPr>
          <p:cNvPr id="26" name="TextBox 25"/>
          <p:cNvSpPr txBox="1"/>
          <p:nvPr/>
        </p:nvSpPr>
        <p:spPr>
          <a:xfrm>
            <a:off x="1956815" y="4242816"/>
            <a:ext cx="4261104" cy="438912"/>
          </a:xfrm>
          <a:prstGeom prst="rect">
            <a:avLst/>
          </a:prstGeom>
          <a:noFill/>
        </p:spPr>
        <p:txBody>
          <a:bodyPr wrap="square" lIns="0" rIns="0" tIns="0" bIns="0" anchor="ctr">
            <a:spAutoFit/>
          </a:bodyPr>
          <a:lstStyle/>
          <a:p>
            <a:pPr algn="l">
              <a:lnSpc>
                <a:spcPct val="100000"/>
              </a:lnSpc>
              <a:spcAft>
                <a:spcPts val="0"/>
              </a:spcAft>
              <a:defRPr sz="1050" b="1">
                <a:solidFill>
                  <a:srgbClr val="405D7B"/>
                </a:solidFill>
                <a:latin typeface="Meiryo"/>
              </a:defRPr>
            </a:pPr>
            <a:r>
              <a:rPr sz="1050" b="1">
                <a:solidFill>
                  <a:srgbClr val="405D7B"/>
                </a:solidFill>
                <a:latin typeface="Meiryo"/>
              </a:rPr>
              <a:t>視察プレー受付終了</a:t>
            </a:r>
          </a:p>
        </p:txBody>
      </p:sp>
      <p:sp>
        <p:nvSpPr>
          <p:cNvPr id="27" name="Rectangle 26"/>
          <p:cNvSpPr/>
          <p:nvPr/>
        </p:nvSpPr>
        <p:spPr>
          <a:xfrm>
            <a:off x="566928" y="4681728"/>
            <a:ext cx="5760720" cy="438912"/>
          </a:xfrm>
          <a:prstGeom prst="rect">
            <a:avLst/>
          </a:prstGeom>
          <a:solidFill>
            <a:srgbClr val="EE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76656" y="4681728"/>
            <a:ext cx="1060703" cy="438912"/>
          </a:xfrm>
          <a:prstGeom prst="rect">
            <a:avLst/>
          </a:prstGeom>
          <a:noFill/>
        </p:spPr>
        <p:txBody>
          <a:bodyPr wrap="square" lIns="0" rIns="0" tIns="0" bIns="0" anchor="ctr">
            <a:spAutoFit/>
          </a:bodyPr>
          <a:lstStyle/>
          <a:p>
            <a:pPr algn="l">
              <a:lnSpc>
                <a:spcPct val="100000"/>
              </a:lnSpc>
              <a:spcAft>
                <a:spcPts val="0"/>
              </a:spcAft>
              <a:defRPr sz="1050" b="0">
                <a:solidFill>
                  <a:srgbClr val="454B52"/>
                </a:solidFill>
                <a:latin typeface="Meiryo"/>
              </a:defRPr>
            </a:pPr>
            <a:r>
              <a:rPr sz="1050" b="0">
                <a:solidFill>
                  <a:srgbClr val="454B52"/>
                </a:solidFill>
                <a:latin typeface="Meiryo"/>
              </a:rPr>
              <a:t>9月上旬</a:t>
            </a:r>
          </a:p>
        </p:txBody>
      </p:sp>
      <p:sp>
        <p:nvSpPr>
          <p:cNvPr id="29" name="TextBox 28"/>
          <p:cNvSpPr txBox="1"/>
          <p:nvPr/>
        </p:nvSpPr>
        <p:spPr>
          <a:xfrm>
            <a:off x="1956815" y="4681728"/>
            <a:ext cx="4261104" cy="438912"/>
          </a:xfrm>
          <a:prstGeom prst="rect">
            <a:avLst/>
          </a:prstGeom>
          <a:noFill/>
        </p:spPr>
        <p:txBody>
          <a:bodyPr wrap="square" lIns="0" rIns="0" tIns="0" bIns="0" anchor="ctr">
            <a:spAutoFit/>
          </a:bodyPr>
          <a:lstStyle/>
          <a:p>
            <a:pPr algn="l">
              <a:lnSpc>
                <a:spcPct val="100000"/>
              </a:lnSpc>
              <a:spcAft>
                <a:spcPts val="0"/>
              </a:spcAft>
              <a:defRPr sz="1050" b="0">
                <a:solidFill>
                  <a:srgbClr val="454B52"/>
                </a:solidFill>
                <a:latin typeface="Meiryo"/>
              </a:defRPr>
            </a:pPr>
            <a:r>
              <a:rPr sz="1050" b="0">
                <a:solidFill>
                  <a:srgbClr val="454B52"/>
                </a:solidFill>
                <a:latin typeface="Meiryo"/>
              </a:rPr>
              <a:t>8月実績のご報告・9月以降のご提案</a:t>
            </a:r>
          </a:p>
        </p:txBody>
      </p:sp>
      <p:sp>
        <p:nvSpPr>
          <p:cNvPr id="30" name="TextBox 29"/>
          <p:cNvSpPr txBox="1"/>
          <p:nvPr/>
        </p:nvSpPr>
        <p:spPr>
          <a:xfrm>
            <a:off x="6510528" y="1737360"/>
            <a:ext cx="5120640" cy="274320"/>
          </a:xfrm>
          <a:prstGeom prst="rect">
            <a:avLst/>
          </a:prstGeom>
          <a:noFill/>
        </p:spPr>
        <p:txBody>
          <a:bodyPr wrap="square" lIns="0" rIns="0" tIns="0" bIns="0" anchor="t">
            <a:spAutoFit/>
          </a:bodyPr>
          <a:lstStyle/>
          <a:p>
            <a:pPr algn="l">
              <a:lnSpc>
                <a:spcPct val="135000"/>
              </a:lnSpc>
              <a:spcAft>
                <a:spcPts val="300"/>
              </a:spcAft>
              <a:defRPr sz="1400" b="1">
                <a:solidFill>
                  <a:srgbClr val="405D7B"/>
                </a:solidFill>
                <a:latin typeface="Meiryo"/>
              </a:defRPr>
            </a:pPr>
            <a:r>
              <a:rPr sz="1400" b="1">
                <a:solidFill>
                  <a:srgbClr val="405D7B"/>
                </a:solidFill>
                <a:latin typeface="Meiryo"/>
              </a:rPr>
              <a:t>ご依頼事項</a:t>
            </a:r>
          </a:p>
        </p:txBody>
      </p:sp>
      <p:sp>
        <p:nvSpPr>
          <p:cNvPr id="31" name="Rectangle 30"/>
          <p:cNvSpPr/>
          <p:nvPr/>
        </p:nvSpPr>
        <p:spPr>
          <a:xfrm>
            <a:off x="6510528" y="2066543"/>
            <a:ext cx="5120640" cy="3310128"/>
          </a:xfrm>
          <a:prstGeom prst="rect">
            <a:avLst/>
          </a:prstGeom>
          <a:solidFill>
            <a:srgbClr val="405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766560" y="2286000"/>
            <a:ext cx="4608575" cy="2926080"/>
          </a:xfrm>
          <a:prstGeom prst="rect">
            <a:avLst/>
          </a:prstGeom>
          <a:noFill/>
        </p:spPr>
        <p:txBody>
          <a:bodyPr wrap="square" lIns="0" rIns="0" tIns="0" bIns="0" anchor="t">
            <a:spAutoFit/>
          </a:bodyPr>
          <a:lstStyle/>
          <a:p>
            <a:pPr algn="l">
              <a:lnSpc>
                <a:spcPct val="155000"/>
              </a:lnSpc>
              <a:spcAft>
                <a:spcPts val="300"/>
              </a:spcAft>
              <a:defRPr sz="1200" b="0">
                <a:solidFill>
                  <a:srgbClr val="FFFFFF"/>
                </a:solidFill>
                <a:latin typeface="Meiryo"/>
              </a:defRPr>
            </a:pPr>
            <a:r>
              <a:rPr sz="1200" b="0">
                <a:solidFill>
                  <a:srgbClr val="FFFFFF"/>
                </a:solidFill>
                <a:latin typeface="Meiryo"/>
              </a:rPr>
              <a:t>公式サイト経由のお問い合わせ実績を、</a:t>
            </a:r>
          </a:p>
          <a:p>
            <a:pPr algn="l">
              <a:lnSpc>
                <a:spcPct val="155000"/>
              </a:lnSpc>
              <a:spcAft>
                <a:spcPts val="300"/>
              </a:spcAft>
              <a:defRPr sz="1200" b="0">
                <a:solidFill>
                  <a:srgbClr val="FFFFFF"/>
                </a:solidFill>
                <a:latin typeface="Meiryo"/>
              </a:defRPr>
            </a:pPr>
            <a:r>
              <a:rPr sz="1200" b="0">
                <a:solidFill>
                  <a:srgbClr val="FFFFFF"/>
                </a:solidFill>
                <a:latin typeface="Meiryo"/>
              </a:rPr>
              <a:t>月別・「知ったきっかけ」別でご共有ください。</a:t>
            </a:r>
          </a:p>
          <a:p>
            <a:pPr algn="l">
              <a:lnSpc>
                <a:spcPct val="155000"/>
              </a:lnSpc>
              <a:spcAft>
                <a:spcPts val="300"/>
              </a:spcAft>
              <a:defRPr sz="1200" b="0">
                <a:solidFill>
                  <a:srgbClr val="FFFFFF"/>
                </a:solidFill>
                <a:latin typeface="Meiryo"/>
              </a:defRPr>
            </a:pPr>
          </a:p>
          <a:p>
            <a:pPr algn="l">
              <a:lnSpc>
                <a:spcPct val="155000"/>
              </a:lnSpc>
              <a:spcAft>
                <a:spcPts val="300"/>
              </a:spcAft>
              <a:defRPr sz="1200" b="0">
                <a:solidFill>
                  <a:srgbClr val="FFFFFF"/>
                </a:solidFill>
                <a:latin typeface="Meiryo"/>
              </a:defRPr>
            </a:pPr>
            <a:r>
              <a:rPr sz="1200" b="0">
                <a:solidFill>
                  <a:srgbClr val="FFFFFF"/>
                </a:solidFill>
                <a:latin typeface="Meiryo"/>
              </a:rPr>
              <a:t>･  公式サイトのフォームには「知ったきっかけ」が必須項目としてあり、「Googleの広告」「Facebook/Instagram等の広告」が選択肢に含まれています</a:t>
            </a:r>
          </a:p>
          <a:p>
            <a:pPr algn="l">
              <a:lnSpc>
                <a:spcPct val="155000"/>
              </a:lnSpc>
              <a:spcAft>
                <a:spcPts val="300"/>
              </a:spcAft>
              <a:defRPr sz="1200" b="0">
                <a:solidFill>
                  <a:srgbClr val="FFFFFF"/>
                </a:solidFill>
                <a:latin typeface="Meiryo"/>
              </a:defRPr>
            </a:pPr>
            <a:r>
              <a:rPr sz="1200" b="0">
                <a:solidFill>
                  <a:srgbClr val="FFFFFF"/>
                </a:solidFill>
                <a:latin typeface="Meiryo"/>
              </a:rPr>
              <a:t>･  LPから公式サイトへ1,430件の遷移が発生しており、広告経由のお問い合わせが公式サイト側で受け付けられている可能性があります</a:t>
            </a:r>
          </a:p>
          <a:p>
            <a:pPr algn="l">
              <a:lnSpc>
                <a:spcPct val="155000"/>
              </a:lnSpc>
              <a:spcAft>
                <a:spcPts val="300"/>
              </a:spcAft>
              <a:defRPr sz="1200" b="0">
                <a:solidFill>
                  <a:srgbClr val="FFFFFF"/>
                </a:solidFill>
                <a:latin typeface="Meiryo"/>
              </a:defRPr>
            </a:pPr>
            <a:r>
              <a:rPr sz="1200" b="0">
                <a:solidFill>
                  <a:srgbClr val="FFFFFF"/>
                </a:solidFill>
                <a:latin typeface="Meiryo"/>
              </a:rPr>
              <a:t>･  現時点の集計はLP経由のみです。実際の成果を過小評価している可能性があります</a:t>
            </a:r>
          </a:p>
        </p:txBody>
      </p:sp>
      <p:sp>
        <p:nvSpPr>
          <p:cNvPr id="33" name="TextBox 32"/>
          <p:cNvSpPr txBox="1"/>
          <p:nvPr/>
        </p:nvSpPr>
        <p:spPr>
          <a:xfrm>
            <a:off x="566928" y="5742432"/>
            <a:ext cx="11064240" cy="365760"/>
          </a:xfrm>
          <a:prstGeom prst="rect">
            <a:avLst/>
          </a:prstGeom>
          <a:noFill/>
        </p:spPr>
        <p:txBody>
          <a:bodyPr wrap="square" lIns="0" rIns="0" tIns="0" bIns="0" anchor="t">
            <a:spAutoFit/>
          </a:bodyPr>
          <a:lstStyle/>
          <a:p>
            <a:pPr algn="l">
              <a:lnSpc>
                <a:spcPct val="135000"/>
              </a:lnSpc>
              <a:spcAft>
                <a:spcPts val="300"/>
              </a:spcAft>
              <a:defRPr sz="950" b="0">
                <a:solidFill>
                  <a:srgbClr val="8A929C"/>
                </a:solidFill>
                <a:latin typeface="Meiryo"/>
              </a:defRPr>
            </a:pPr>
            <a:r>
              <a:rPr sz="950" b="0">
                <a:solidFill>
                  <a:srgbClr val="8A929C"/>
                </a:solidFill>
                <a:latin typeface="Meiryo"/>
              </a:rPr>
              <a:t>本レポートの出典：お問い合わせ通知メールの実データ／Google Analytics 4／Google Ads API／Meta Marketing API／DV360 Bid Manager API／LINEヤフー広告API／弊社基幹システム</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